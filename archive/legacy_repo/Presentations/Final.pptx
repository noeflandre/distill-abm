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2" r:id="rId2"/>
    <p:sldId id="322" r:id="rId3"/>
    <p:sldId id="325" r:id="rId4"/>
    <p:sldId id="324" r:id="rId5"/>
    <p:sldId id="290" r:id="rId6"/>
    <p:sldId id="326" r:id="rId7"/>
    <p:sldId id="327" r:id="rId8"/>
    <p:sldId id="328" r:id="rId9"/>
    <p:sldId id="329" r:id="rId10"/>
    <p:sldId id="335" r:id="rId11"/>
    <p:sldId id="330" r:id="rId12"/>
    <p:sldId id="331" r:id="rId13"/>
    <p:sldId id="332" r:id="rId14"/>
    <p:sldId id="333" r:id="rId15"/>
    <p:sldId id="334" r:id="rId16"/>
    <p:sldId id="346" r:id="rId17"/>
    <p:sldId id="336" r:id="rId18"/>
    <p:sldId id="337" r:id="rId19"/>
    <p:sldId id="338" r:id="rId20"/>
    <p:sldId id="339" r:id="rId21"/>
    <p:sldId id="340" r:id="rId22"/>
    <p:sldId id="341" r:id="rId23"/>
    <p:sldId id="344" r:id="rId24"/>
    <p:sldId id="34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286" autoAdjust="0"/>
  </p:normalViewPr>
  <p:slideViewPr>
    <p:cSldViewPr>
      <p:cViewPr varScale="1">
        <p:scale>
          <a:sx n="120" d="100"/>
          <a:sy n="120" d="100"/>
        </p:scale>
        <p:origin x="1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03963-EF3F-4F6A-89A0-5116EF20C9F9}" type="datetimeFigureOut">
              <a:rPr lang="fr-CA" smtClean="0"/>
              <a:pPr/>
              <a:t>2024-05-17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491CB-AF1A-4511-B35A-4BF12ADBFBD9}" type="slidenum">
              <a:rPr lang="fr-CA" smtClean="0"/>
              <a:pPr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</a:t>
            </a:fld>
            <a:endParaRPr lang="fr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01876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4</a:t>
            </a:fld>
            <a:endParaRPr lang="fr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5</a:t>
            </a:fld>
            <a:endParaRPr lang="fr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84325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6698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0420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9226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196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722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3331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7015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8226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0459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3030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1987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5304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858909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007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3641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59398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279336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0416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2228850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effectLst/>
                <a:latin typeface="Helvetica Neue" panose="02000503000000020004" pitchFamily="2" charset="0"/>
              </a:rPr>
              <a:t>Transforming Simulation Outcomes for Enhanced Decision-Making Accessibility</a:t>
            </a:r>
          </a:p>
          <a:p>
            <a:pPr algn="ctr"/>
            <a:endParaRPr lang="en-GB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219200" y="3443585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Noé Flandre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4102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Project Presentation – Friday 17</a:t>
            </a:r>
            <a:r>
              <a:rPr lang="en-GB" sz="2800" i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2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May</a:t>
            </a: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5D8D785C-098B-D094-45DD-216BEF1E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4100" y="185017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21D2DBB8-600C-DEAB-89CC-95E63D22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4100" y="390525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bottom">
            <a:extLst>
              <a:ext uri="{FF2B5EF4-FFF2-40B4-BE49-F238E27FC236}">
                <a16:creationId xmlns:a16="http://schemas.microsoft.com/office/drawing/2014/main" id="{5C3B5044-5648-5E9A-85A7-2E5857B75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C5F93D86-DC59-D4BA-0147-34F462107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DECF7C95-FFF1-B812-86D6-CBA89E308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7ED8D37-C322-A490-16B8-E5C770EB5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Question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2479714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How to transform simulation outcomes into clear, unbiased explanations that support decision-making activities among non-experts?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Organization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676749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357795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Methodological</a:t>
            </a:r>
            <a:r>
              <a:rPr lang="fr-CA" sz="3200" dirty="0"/>
              <a:t> </a:t>
            </a:r>
            <a:r>
              <a:rPr lang="fr-CA" sz="3200" dirty="0" err="1"/>
              <a:t>Approach</a:t>
            </a:r>
            <a:r>
              <a:rPr lang="fr-CA" sz="3200" dirty="0"/>
              <a:t> for Transformation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10974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Evaluation</a:t>
            </a:r>
            <a:endParaRPr lang="fr-CA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45A2E-B7EC-6434-2882-3844193AA3DE}"/>
              </a:ext>
            </a:extLst>
          </p:cNvPr>
          <p:cNvSpPr txBox="1"/>
          <p:nvPr/>
        </p:nvSpPr>
        <p:spPr>
          <a:xfrm>
            <a:off x="228600" y="1676749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9E2F1-81A3-8655-CAAC-81515D863EBA}"/>
              </a:ext>
            </a:extLst>
          </p:cNvPr>
          <p:cNvSpPr txBox="1"/>
          <p:nvPr/>
        </p:nvSpPr>
        <p:spPr>
          <a:xfrm>
            <a:off x="228600" y="3577950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5048D-C089-F831-4A9D-1CF48D1096BB}"/>
              </a:ext>
            </a:extLst>
          </p:cNvPr>
          <p:cNvSpPr txBox="1"/>
          <p:nvPr/>
        </p:nvSpPr>
        <p:spPr>
          <a:xfrm>
            <a:off x="228600" y="5010974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3</a:t>
            </a:r>
          </a:p>
        </p:txBody>
      </p:sp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75D45FF1-B536-0B6D-B28A-CF175EAE0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1" descr="top">
            <a:extLst>
              <a:ext uri="{FF2B5EF4-FFF2-40B4-BE49-F238E27FC236}">
                <a16:creationId xmlns:a16="http://schemas.microsoft.com/office/drawing/2014/main" id="{F04C6C4B-2655-7A66-3755-9564C03FA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834633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 descr="bottom">
            <a:extLst>
              <a:ext uri="{FF2B5EF4-FFF2-40B4-BE49-F238E27FC236}">
                <a16:creationId xmlns:a16="http://schemas.microsoft.com/office/drawing/2014/main" id="{AD903EE8-CF8A-5F4B-9718-91B9E5D7B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14" name="Text Box 6">
            <a:extLst>
              <a:ext uri="{FF2B5EF4-FFF2-40B4-BE49-F238E27FC236}">
                <a16:creationId xmlns:a16="http://schemas.microsoft.com/office/drawing/2014/main" id="{0B708CB4-C24B-6B24-BC64-98F84282E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6" y="643890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B722D744-45AA-0FBE-3B42-141EA106A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4" y="6422509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670B04C9-6294-8348-54CC-62E8F3AC1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9194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1744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2768025"/>
            <a:ext cx="85344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152400" y="2796378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4CE25EBA-F320-EA93-EB4A-25D76E40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1100" y="256165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578ABCEE-802B-BA84-2F61-F1C6A303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3809284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0F9098F2-0A8B-7967-B9F9-EFADD235A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A67B0487-94CB-C5E5-F88C-42F2FC6CD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" y="6422509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D11CD6-8C0D-4A57-F874-2C4F507B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4" y="638943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D6FB8CA5-5DCC-9948-DE72-1E88BED21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8943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89E60F-5AB6-D89A-9845-04449CF1E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48" y="2343298"/>
            <a:ext cx="8735704" cy="2073054"/>
          </a:xfrm>
          <a:prstGeom prst="rect">
            <a:avLst/>
          </a:prstGeom>
        </p:spPr>
      </p:pic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85642685-7F42-8827-7B77-329A15E6B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082F875B-04BB-1128-597D-C87B8D126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34343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96AF799C-449F-0CBB-CC66-005CD3CF8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379D48E-1E41-0C83-9561-D837B760E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6" y="6399881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B5463D70-04B4-56E6-44A3-F90BAEECE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6378116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10DEC827-4873-742A-998B-35F4B8D66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2764" y="6399881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1026" name="Picture 2" descr="Csv Logos Vector Images (over 170)">
            <a:extLst>
              <a:ext uri="{FF2B5EF4-FFF2-40B4-BE49-F238E27FC236}">
                <a16:creationId xmlns:a16="http://schemas.microsoft.com/office/drawing/2014/main" id="{66F2C436-1726-8006-403D-263487D76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225" y="4649558"/>
            <a:ext cx="1479550" cy="147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C6F6F-9650-447B-1491-F07AB71D6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713203"/>
            <a:ext cx="7239000" cy="436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7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02" y="361683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Complexity</a:t>
            </a:r>
            <a:r>
              <a:rPr lang="fr-CA" sz="3200" dirty="0"/>
              <a:t> for Non-Experts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265DBE88-A86B-9C08-328C-439DF54A7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27" y="420160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Risk of </a:t>
            </a:r>
            <a:r>
              <a:rPr lang="fr-CA" sz="3200" dirty="0" err="1"/>
              <a:t>Misinterpretation</a:t>
            </a:r>
            <a:endParaRPr lang="fr-CA" sz="3200" dirty="0"/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54BE0C53-7E0E-6303-E755-290A429E5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02" y="4834126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Cognitive </a:t>
            </a:r>
            <a:r>
              <a:rPr lang="fr-CA" sz="3200" dirty="0" err="1"/>
              <a:t>Overload</a:t>
            </a:r>
            <a:endParaRPr lang="fr-CA" sz="3200" dirty="0"/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0361CB0E-151B-979E-92A4-ABC8AE26D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367" y="5506219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Analysis</a:t>
            </a:r>
            <a:r>
              <a:rPr lang="fr-CA" sz="3200" dirty="0"/>
              <a:t> </a:t>
            </a:r>
            <a:r>
              <a:rPr lang="fr-CA" sz="3200" dirty="0" err="1"/>
              <a:t>Required</a:t>
            </a:r>
            <a:endParaRPr lang="fr-CA" sz="3200" dirty="0"/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80B6CDAE-BE26-8AC0-2647-EF7F1276E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407" y="2324171"/>
            <a:ext cx="72390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4000" b="1" dirty="0" err="1"/>
              <a:t>Classic</a:t>
            </a:r>
            <a:r>
              <a:rPr lang="fr-CA" sz="4000" b="1" dirty="0"/>
              <a:t> Plots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7D9A7E-605B-262F-4EEE-58D135D67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06099"/>
            <a:ext cx="16256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00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786" y="347853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Contextual</a:t>
            </a:r>
            <a:r>
              <a:rPr lang="fr-CA" sz="3200" dirty="0"/>
              <a:t> and Clear </a:t>
            </a:r>
            <a:r>
              <a:rPr lang="fr-CA" sz="3200" dirty="0" err="1"/>
              <a:t>Explanations</a:t>
            </a:r>
            <a:endParaRPr lang="fr-CA" sz="3200" dirty="0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265DBE88-A86B-9C08-328C-439DF54A7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786" y="4079303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Reduction of </a:t>
            </a:r>
            <a:r>
              <a:rPr lang="fr-CA" sz="3200" dirty="0" err="1"/>
              <a:t>Bias</a:t>
            </a:r>
            <a:r>
              <a:rPr lang="fr-CA" sz="3200" dirty="0"/>
              <a:t> and </a:t>
            </a:r>
            <a:r>
              <a:rPr lang="fr-CA" sz="3200" dirty="0" err="1"/>
              <a:t>Error</a:t>
            </a:r>
            <a:endParaRPr lang="fr-CA" sz="3200" dirty="0"/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54BE0C53-7E0E-6303-E755-290A429E5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693554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Interaction and Adaptative Learning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0361CB0E-151B-979E-92A4-ABC8AE26D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455" y="5264845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Comprehensive</a:t>
            </a:r>
            <a:r>
              <a:rPr lang="fr-CA" sz="3200" dirty="0"/>
              <a:t> Insights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020D4A6E-CC5A-5906-5A83-DE4E0A651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44" y="2238663"/>
            <a:ext cx="72390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4000" b="1" dirty="0"/>
              <a:t>Use of </a:t>
            </a:r>
            <a:r>
              <a:rPr lang="fr-CA" sz="4000" b="1" dirty="0" err="1"/>
              <a:t>LLMs</a:t>
            </a:r>
            <a:endParaRPr lang="fr-CA" sz="4000" b="1" dirty="0"/>
          </a:p>
        </p:txBody>
      </p:sp>
      <p:pic>
        <p:nvPicPr>
          <p:cNvPr id="2050" name="Picture 2" descr="ChatGPT Logo - Chat gpt Icon on White ...">
            <a:extLst>
              <a:ext uri="{FF2B5EF4-FFF2-40B4-BE49-F238E27FC236}">
                <a16:creationId xmlns:a16="http://schemas.microsoft.com/office/drawing/2014/main" id="{2BE6768D-5F9D-8D9F-ABD0-E635F4A8F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73568"/>
            <a:ext cx="1273939" cy="127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89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Understanding</a:t>
            </a:r>
            <a:r>
              <a:rPr lang="fr-CA" sz="3200" dirty="0"/>
              <a:t> the </a:t>
            </a:r>
            <a:r>
              <a:rPr lang="fr-CA" sz="3200" dirty="0" err="1"/>
              <a:t>need</a:t>
            </a:r>
            <a:r>
              <a:rPr lang="fr-CA" sz="3200" dirty="0"/>
              <a:t> for Transformation of Simulation </a:t>
            </a:r>
            <a:r>
              <a:rPr lang="fr-CA" sz="3200" dirty="0" err="1"/>
              <a:t>Outcomes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786" y="347853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Improved</a:t>
            </a:r>
            <a:r>
              <a:rPr lang="fr-CA" sz="3200" dirty="0"/>
              <a:t> Policy </a:t>
            </a:r>
            <a:r>
              <a:rPr lang="fr-CA" sz="3200" dirty="0" err="1"/>
              <a:t>Decisions</a:t>
            </a:r>
            <a:endParaRPr lang="fr-CA" sz="3200" dirty="0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265DBE88-A86B-9C08-328C-439DF54A7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786" y="4079303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Responsiveness</a:t>
            </a:r>
            <a:endParaRPr lang="fr-CA" sz="3200" dirty="0"/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54BE0C53-7E0E-6303-E755-290A429E5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693554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Broader</a:t>
            </a:r>
            <a:r>
              <a:rPr lang="fr-CA" sz="3200" dirty="0"/>
              <a:t> Participation and Collaboration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020D4A6E-CC5A-5906-5A83-DE4E0A651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44" y="2238663"/>
            <a:ext cx="72390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4000" b="1" dirty="0"/>
              <a:t>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E3E3C-3B17-F825-5570-95B9DF71F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620198"/>
            <a:ext cx="1692215" cy="169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0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33450" y="2864255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Questions break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9106" y="2550666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9106" y="351497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1F3136-DD85-9127-3E7F-3D4F14178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09876"/>
            <a:ext cx="1831606" cy="1831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BB085A-3670-9B1C-8E11-F59E4D14B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142999"/>
            <a:ext cx="886767" cy="886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006AE-3AC7-9325-79AC-55DD343A8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162" y="762000"/>
            <a:ext cx="1273529" cy="1273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6C702-9FC8-58C8-2D42-44624239C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115079"/>
            <a:ext cx="3432544" cy="343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0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2768025"/>
            <a:ext cx="8534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Methodological</a:t>
            </a:r>
            <a:r>
              <a:rPr lang="fr-CA" sz="3200" dirty="0"/>
              <a:t> </a:t>
            </a:r>
            <a:r>
              <a:rPr lang="fr-CA" sz="3200" dirty="0" err="1"/>
              <a:t>Approach</a:t>
            </a:r>
            <a:r>
              <a:rPr lang="fr-CA" sz="3200" dirty="0"/>
              <a:t> for Transformation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3622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355772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152400" y="2796378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3757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Methodological</a:t>
            </a:r>
            <a:r>
              <a:rPr lang="fr-CA" sz="3200" dirty="0"/>
              <a:t> </a:t>
            </a:r>
            <a:r>
              <a:rPr lang="fr-CA" sz="3200" dirty="0" err="1"/>
              <a:t>Approach</a:t>
            </a:r>
            <a:r>
              <a:rPr lang="fr-CA" sz="3200" dirty="0"/>
              <a:t> for Transformation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4377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Data Extraction and Pre-</a:t>
            </a:r>
            <a:r>
              <a:rPr lang="fr-CA" sz="3200" dirty="0" err="1"/>
              <a:t>processing</a:t>
            </a:r>
            <a:endParaRPr lang="fr-CA" sz="3200" dirty="0"/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BF6B3E7C-F6F3-0F8C-5BD5-45D21F4BC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69818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Narrative </a:t>
            </a:r>
            <a:r>
              <a:rPr lang="fr-CA" sz="3200" dirty="0" err="1"/>
              <a:t>Generation</a:t>
            </a:r>
            <a:r>
              <a:rPr lang="fr-CA" sz="3200" dirty="0"/>
              <a:t> </a:t>
            </a:r>
            <a:r>
              <a:rPr lang="fr-CA" sz="3200" dirty="0" err="1"/>
              <a:t>using</a:t>
            </a:r>
            <a:r>
              <a:rPr lang="fr-CA" sz="3200" dirty="0"/>
              <a:t> </a:t>
            </a:r>
            <a:r>
              <a:rPr lang="fr-CA" sz="3200" dirty="0" err="1"/>
              <a:t>LLMs</a:t>
            </a:r>
            <a:endParaRPr lang="fr-CA" sz="3200" dirty="0"/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1E78B39E-3E94-A7B9-B76B-E18374154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1000" y="4694688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Empathy</a:t>
            </a:r>
            <a:r>
              <a:rPr lang="fr-CA" sz="3200" dirty="0"/>
              <a:t> and </a:t>
            </a:r>
            <a:r>
              <a:rPr lang="fr-CA" sz="3200" dirty="0" err="1"/>
              <a:t>Relatability</a:t>
            </a:r>
            <a:endParaRPr lang="fr-CA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B83283-E637-82BE-E6BB-417843C9329F}"/>
              </a:ext>
            </a:extLst>
          </p:cNvPr>
          <p:cNvSpPr txBox="1"/>
          <p:nvPr/>
        </p:nvSpPr>
        <p:spPr>
          <a:xfrm>
            <a:off x="492642" y="3549015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79C49F-22AC-B862-4832-4CEC93D05EDA}"/>
              </a:ext>
            </a:extLst>
          </p:cNvPr>
          <p:cNvSpPr txBox="1"/>
          <p:nvPr/>
        </p:nvSpPr>
        <p:spPr>
          <a:xfrm>
            <a:off x="492642" y="2242494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BDCDE9-34E4-30E2-ED54-EFC2AD7F6DCA}"/>
              </a:ext>
            </a:extLst>
          </p:cNvPr>
          <p:cNvSpPr txBox="1"/>
          <p:nvPr/>
        </p:nvSpPr>
        <p:spPr>
          <a:xfrm>
            <a:off x="492642" y="4678249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236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Methodological</a:t>
            </a:r>
            <a:r>
              <a:rPr lang="fr-CA" sz="3200" dirty="0"/>
              <a:t> </a:t>
            </a:r>
            <a:r>
              <a:rPr lang="fr-CA" sz="3200" dirty="0" err="1"/>
              <a:t>Approach</a:t>
            </a:r>
            <a:r>
              <a:rPr lang="fr-CA" sz="3200" dirty="0"/>
              <a:t> for Transformation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30183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/>
              <a:t>Data Extraction and Pre-</a:t>
            </a:r>
            <a:r>
              <a:rPr lang="fr-CA" sz="3200" b="1" dirty="0" err="1"/>
              <a:t>processing</a:t>
            </a:r>
            <a:endParaRPr lang="fr-CA" sz="3200" b="1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A6863290-38F3-18E6-3C5B-440D96C10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1000" y="2928152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Extract</a:t>
            </a:r>
            <a:r>
              <a:rPr lang="fr-CA" sz="3200" dirty="0"/>
              <a:t> key data and </a:t>
            </a:r>
            <a:r>
              <a:rPr lang="fr-CA" sz="3200" dirty="0" err="1"/>
              <a:t>parameters</a:t>
            </a:r>
            <a:endParaRPr lang="fr-CA" sz="3200" dirty="0"/>
          </a:p>
          <a:p>
            <a:pPr algn="ctr"/>
            <a:endParaRPr lang="fr-CA" sz="3200" dirty="0"/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6181A3CD-FE69-BBF1-C7C0-D5429458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14400" y="5352618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Explanations</a:t>
            </a:r>
            <a:r>
              <a:rPr lang="fr-CA" sz="3200" dirty="0"/>
              <a:t> </a:t>
            </a:r>
            <a:r>
              <a:rPr lang="fr-CA" sz="3200" dirty="0" err="1"/>
              <a:t>with</a:t>
            </a:r>
            <a:r>
              <a:rPr lang="fr-CA" sz="3200" dirty="0"/>
              <a:t> </a:t>
            </a:r>
            <a:r>
              <a:rPr lang="fr-CA" sz="3200" dirty="0" err="1"/>
              <a:t>LLMs</a:t>
            </a:r>
            <a:endParaRPr lang="fr-CA" sz="3200" dirty="0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7DC88D38-F484-5A7B-6E56-56A261D6A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3350" y="4049389"/>
            <a:ext cx="37719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Describe</a:t>
            </a:r>
            <a:r>
              <a:rPr lang="fr-CA" sz="3200" dirty="0"/>
              <a:t> data  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1B0F020-969F-1F83-3CC1-E4D833D840E9}"/>
              </a:ext>
            </a:extLst>
          </p:cNvPr>
          <p:cNvSpPr/>
          <p:nvPr/>
        </p:nvSpPr>
        <p:spPr>
          <a:xfrm>
            <a:off x="6019800" y="3152413"/>
            <a:ext cx="685800" cy="20038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0D1687C4-948D-B180-245E-8172663A3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904939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pynetlogo</a:t>
            </a:r>
            <a:endParaRPr lang="fr-CA" sz="3200" dirty="0"/>
          </a:p>
          <a:p>
            <a:pPr algn="ctr"/>
            <a:endParaRPr lang="fr-CA" sz="3200" dirty="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5A28E89-53C5-907B-FAA2-0C2785B17C44}"/>
              </a:ext>
            </a:extLst>
          </p:cNvPr>
          <p:cNvSpPr/>
          <p:nvPr/>
        </p:nvSpPr>
        <p:spPr>
          <a:xfrm>
            <a:off x="3212805" y="3516773"/>
            <a:ext cx="457200" cy="183584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874B854A-0C5B-93BE-42AC-54AD122C2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951" y="3463107"/>
            <a:ext cx="223549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pandas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7CC8D409-E78E-25BB-1BEE-12BDA866D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9747" y="4049389"/>
            <a:ext cx="223549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statsmodels</a:t>
            </a:r>
            <a:endParaRPr lang="fr-CA" sz="3200" dirty="0"/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071A3238-D842-A208-3682-75A403A4D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317" y="4612447"/>
            <a:ext cx="223549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prophet</a:t>
            </a:r>
            <a:endParaRPr lang="fr-CA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3E13773-AE5D-3AFE-2D00-382524D30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021" y="3677435"/>
            <a:ext cx="1144545" cy="107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GPT Logo - Chat gpt Icon on White ...">
            <a:extLst>
              <a:ext uri="{FF2B5EF4-FFF2-40B4-BE49-F238E27FC236}">
                <a16:creationId xmlns:a16="http://schemas.microsoft.com/office/drawing/2014/main" id="{A5E86EA4-3A0B-D309-BE7B-DC3E36DB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683" y="4950093"/>
            <a:ext cx="1273939" cy="127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807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Methodological</a:t>
            </a:r>
            <a:r>
              <a:rPr lang="fr-CA" sz="3200" dirty="0"/>
              <a:t> </a:t>
            </a:r>
            <a:r>
              <a:rPr lang="fr-CA" sz="3200" dirty="0" err="1"/>
              <a:t>Approach</a:t>
            </a:r>
            <a:r>
              <a:rPr lang="fr-CA" sz="3200" dirty="0"/>
              <a:t> for Transformation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30183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/>
              <a:t>Narrative </a:t>
            </a:r>
            <a:r>
              <a:rPr lang="fr-CA" sz="3200" b="1" dirty="0" err="1"/>
              <a:t>Integration</a:t>
            </a:r>
            <a:r>
              <a:rPr lang="fr-CA" sz="3200" b="1" dirty="0"/>
              <a:t> </a:t>
            </a:r>
            <a:r>
              <a:rPr lang="fr-CA" sz="3200" b="1" dirty="0" err="1"/>
              <a:t>using</a:t>
            </a:r>
            <a:r>
              <a:rPr lang="fr-CA" sz="3200" b="1" dirty="0"/>
              <a:t> </a:t>
            </a:r>
            <a:r>
              <a:rPr lang="fr-CA" sz="3200" b="1" dirty="0" err="1"/>
              <a:t>LLMs</a:t>
            </a:r>
            <a:endParaRPr lang="fr-CA" sz="3200" b="1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A6863290-38F3-18E6-3C5B-440D96C10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1000" y="346171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Contextualization</a:t>
            </a:r>
            <a:endParaRPr lang="fr-CA" sz="3200" dirty="0"/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6181A3CD-FE69-BBF1-C7C0-D5429458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336044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Narrative </a:t>
            </a:r>
            <a:r>
              <a:rPr lang="fr-CA" sz="3200" dirty="0" err="1"/>
              <a:t>Interpretation</a:t>
            </a:r>
            <a:endParaRPr lang="fr-CA" sz="3200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86AAA7C-8359-ACA8-867A-A6E006D4D412}"/>
              </a:ext>
            </a:extLst>
          </p:cNvPr>
          <p:cNvSpPr/>
          <p:nvPr/>
        </p:nvSpPr>
        <p:spPr>
          <a:xfrm>
            <a:off x="4838700" y="2928138"/>
            <a:ext cx="457200" cy="183584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84A2A345-C655-5D09-2319-286182D14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844225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Documentation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CDB8C7B2-B492-681D-ADF9-561FBBC3B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46171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Comments</a:t>
            </a:r>
            <a:endParaRPr lang="fr-CA" sz="3200" dirty="0"/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794D3EAB-4979-CAA0-5C15-407144D14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1612" y="4061358"/>
            <a:ext cx="3810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LLM </a:t>
            </a:r>
            <a:r>
              <a:rPr lang="fr-CA" sz="3200" dirty="0" err="1"/>
              <a:t>knowledge</a:t>
            </a:r>
            <a:endParaRPr lang="fr-CA" sz="3200" dirty="0"/>
          </a:p>
        </p:txBody>
      </p:sp>
      <p:pic>
        <p:nvPicPr>
          <p:cNvPr id="15" name="Picture 2" descr="ChatGPT Logo - Chat gpt Icon on White ...">
            <a:extLst>
              <a:ext uri="{FF2B5EF4-FFF2-40B4-BE49-F238E27FC236}">
                <a16:creationId xmlns:a16="http://schemas.microsoft.com/office/drawing/2014/main" id="{62F75B9A-0544-BE85-F1BB-11D2B63A6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462" y="4691559"/>
            <a:ext cx="1597422" cy="159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542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Methodological</a:t>
            </a:r>
            <a:r>
              <a:rPr lang="fr-CA" sz="3200" dirty="0"/>
              <a:t> </a:t>
            </a:r>
            <a:r>
              <a:rPr lang="fr-CA" sz="3200" dirty="0" err="1"/>
              <a:t>Approach</a:t>
            </a:r>
            <a:r>
              <a:rPr lang="fr-CA" sz="3200" dirty="0"/>
              <a:t> for Transformation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326" y="1860506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 err="1"/>
              <a:t>Empathy</a:t>
            </a:r>
            <a:r>
              <a:rPr lang="fr-CA" sz="3200" b="1" dirty="0"/>
              <a:t> and </a:t>
            </a:r>
            <a:r>
              <a:rPr lang="fr-CA" sz="3200" b="1" dirty="0" err="1"/>
              <a:t>Relatability</a:t>
            </a:r>
            <a:endParaRPr lang="fr-CA" sz="3200" b="1" dirty="0"/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6181A3CD-FE69-BBF1-C7C0-D5429458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57200" y="402922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Embedding</a:t>
            </a:r>
            <a:r>
              <a:rPr lang="fr-CA" sz="3200" dirty="0"/>
              <a:t> </a:t>
            </a:r>
            <a:r>
              <a:rPr lang="fr-CA" sz="3200" dirty="0" err="1"/>
              <a:t>empathy</a:t>
            </a:r>
            <a:r>
              <a:rPr lang="fr-CA" sz="3200" dirty="0"/>
              <a:t> &amp; insights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D10FD01D-E552-BA73-014F-280521665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2" y="3029718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Defining</a:t>
            </a:r>
            <a:r>
              <a:rPr lang="fr-CA" sz="3200" dirty="0"/>
              <a:t> </a:t>
            </a:r>
            <a:r>
              <a:rPr lang="fr-CA" sz="3200" dirty="0" err="1"/>
              <a:t>user’s</a:t>
            </a:r>
            <a:r>
              <a:rPr lang="fr-CA" sz="3200" dirty="0"/>
              <a:t> persona and scenario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D02BA791-44BD-02E2-0842-EC0137422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151511"/>
            <a:ext cx="83629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Allowing</a:t>
            </a:r>
            <a:r>
              <a:rPr lang="fr-CA" sz="3200" dirty="0"/>
              <a:t> interaction </a:t>
            </a:r>
            <a:r>
              <a:rPr lang="fr-CA" sz="3200" dirty="0" err="1"/>
              <a:t>with</a:t>
            </a:r>
            <a:r>
              <a:rPr lang="fr-CA" sz="3200" dirty="0"/>
              <a:t> the LLM (UI : </a:t>
            </a:r>
            <a:r>
              <a:rPr lang="fr-CA" sz="3200" dirty="0" err="1"/>
              <a:t>Streamlit</a:t>
            </a:r>
            <a:r>
              <a:rPr lang="fr-CA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0279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33450" y="2864255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Questions break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9106" y="2550666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9106" y="351497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1F3136-DD85-9127-3E7F-3D4F14178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09876"/>
            <a:ext cx="1831606" cy="1831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BB085A-3670-9B1C-8E11-F59E4D14B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142999"/>
            <a:ext cx="886767" cy="886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006AE-3AC7-9325-79AC-55DD343A8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162" y="762000"/>
            <a:ext cx="1273529" cy="1273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6C702-9FC8-58C8-2D42-44624239C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115079"/>
            <a:ext cx="3432544" cy="343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86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2768025"/>
            <a:ext cx="8534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Evaluation</a:t>
            </a:r>
            <a:r>
              <a:rPr lang="fr-CA" sz="3200" dirty="0"/>
              <a:t> 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3622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355772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2977117" y="2768025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198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028700" y="522465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Evaluation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36773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30183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 err="1"/>
              <a:t>Criteria</a:t>
            </a:r>
            <a:endParaRPr lang="fr-CA" sz="3200" b="1" dirty="0"/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6181A3CD-FE69-BBF1-C7C0-D5429458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66900" y="2981410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Accuracy</a:t>
            </a:r>
            <a:endParaRPr lang="fr-CA" sz="3200" dirty="0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385BA5C7-7183-00CD-EB19-023D7148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017744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Bias</a:t>
            </a:r>
            <a:endParaRPr lang="fr-CA" sz="3200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A34C262A-D361-3FA8-CF78-74CEB6366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937" y="4987659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Relevance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657C99EA-844A-B2C8-050B-7FE7C5AC0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61357" y="481260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Clarity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1E0344-C404-554F-B808-F80F093A6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168" y="3352321"/>
            <a:ext cx="1666063" cy="166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1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028700" y="324720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Evaluation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6822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06228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/>
              <a:t>Method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B919DA13-ABDD-78A9-35E0-0B9D8B24A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66800" y="2209800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1. Qualitative : </a:t>
            </a:r>
            <a:r>
              <a:rPr lang="fr-CA" sz="3200" dirty="0" err="1"/>
              <a:t>Lab</a:t>
            </a:r>
            <a:endParaRPr lang="fr-CA" sz="3200" dirty="0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9D45DE24-7AAA-6A12-AC88-4CD9B3842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66700" y="454150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2. Quantitative : </a:t>
            </a:r>
            <a:r>
              <a:rPr lang="fr-CA" sz="3200" dirty="0" err="1"/>
              <a:t>Automated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817512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028700" y="324720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Evaluation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6822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06228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/>
              <a:t>Qualitative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B919DA13-ABDD-78A9-35E0-0B9D8B24A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71600" y="2128646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User Feedback :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4074C6CF-0405-4119-26E0-A3361751E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156" y="2987857"/>
            <a:ext cx="78867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- Interviews (</a:t>
            </a:r>
            <a:r>
              <a:rPr lang="fr-CA" sz="3200" dirty="0" err="1"/>
              <a:t>clarity</a:t>
            </a:r>
            <a:r>
              <a:rPr lang="fr-CA" sz="3200" dirty="0"/>
              <a:t>, </a:t>
            </a:r>
            <a:r>
              <a:rPr lang="fr-CA" sz="3200" dirty="0" err="1"/>
              <a:t>usefulness</a:t>
            </a:r>
            <a:r>
              <a:rPr lang="fr-CA" sz="3200" dirty="0"/>
              <a:t>, </a:t>
            </a:r>
            <a:r>
              <a:rPr lang="fr-CA" sz="3200" dirty="0" err="1"/>
              <a:t>bias</a:t>
            </a:r>
            <a:r>
              <a:rPr lang="fr-CA" sz="3200" dirty="0"/>
              <a:t>)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33CB5279-A011-93D6-91FE-94463DA8F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870143"/>
            <a:ext cx="78867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     - </a:t>
            </a:r>
            <a:r>
              <a:rPr lang="fr-CA" sz="3200" dirty="0" err="1"/>
              <a:t>Surveys</a:t>
            </a:r>
            <a:r>
              <a:rPr lang="fr-CA" sz="3200" dirty="0"/>
              <a:t> (</a:t>
            </a:r>
            <a:r>
              <a:rPr lang="fr-CA" sz="3200" dirty="0" err="1"/>
              <a:t>reading</a:t>
            </a:r>
            <a:r>
              <a:rPr lang="fr-CA" sz="3200" dirty="0"/>
              <a:t> </a:t>
            </a:r>
            <a:r>
              <a:rPr lang="fr-CA" sz="3200" dirty="0" err="1"/>
              <a:t>ease</a:t>
            </a:r>
            <a:r>
              <a:rPr lang="fr-CA" sz="3200" dirty="0"/>
              <a:t>, flow, </a:t>
            </a:r>
            <a:r>
              <a:rPr lang="fr-CA" sz="3200" dirty="0" err="1"/>
              <a:t>grammar</a:t>
            </a:r>
            <a:r>
              <a:rPr lang="fr-CA" sz="3200" dirty="0"/>
              <a:t>)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937DD85-ED7F-B675-D5E6-2F50FFBE5458}"/>
              </a:ext>
            </a:extLst>
          </p:cNvPr>
          <p:cNvSpPr/>
          <p:nvPr/>
        </p:nvSpPr>
        <p:spPr>
          <a:xfrm>
            <a:off x="533400" y="5105400"/>
            <a:ext cx="1124743" cy="5334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81A9D445-5FD4-F023-ADC2-15B91BA92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0" y="506121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Likert </a:t>
            </a:r>
            <a:r>
              <a:rPr lang="fr-CA" sz="3200" dirty="0" err="1"/>
              <a:t>Scale</a:t>
            </a:r>
            <a:endParaRPr lang="fr-CA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A2339C-0EE7-B1A9-6B62-5690F35DD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168" y="916894"/>
            <a:ext cx="2029688" cy="202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5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028700" y="324720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Evaluation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6822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06228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/>
              <a:t>Quantitative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B919DA13-ABDD-78A9-35E0-0B9D8B24A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067" y="2883210"/>
            <a:ext cx="72390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  </a:t>
            </a:r>
            <a:r>
              <a:rPr lang="fr-CA" sz="3200" dirty="0" err="1"/>
              <a:t>Comparing</a:t>
            </a:r>
            <a:r>
              <a:rPr lang="fr-CA" sz="3200" dirty="0"/>
              <a:t> </a:t>
            </a:r>
            <a:r>
              <a:rPr lang="fr-CA" sz="3200" dirty="0" err="1"/>
              <a:t>LLMs</a:t>
            </a:r>
            <a:r>
              <a:rPr lang="fr-CA" sz="3200" dirty="0"/>
              <a:t> </a:t>
            </a:r>
            <a:r>
              <a:rPr lang="fr-CA" sz="3200" dirty="0" err="1"/>
              <a:t>Models</a:t>
            </a:r>
            <a:r>
              <a:rPr lang="fr-CA" sz="3200" dirty="0"/>
              <a:t> : </a:t>
            </a:r>
            <a:r>
              <a:rPr lang="fr-CA" sz="3200" dirty="0" err="1"/>
              <a:t>Prometheus</a:t>
            </a:r>
            <a:r>
              <a:rPr lang="fr-CA" sz="3200" dirty="0"/>
              <a:t> 2 (</a:t>
            </a:r>
            <a:r>
              <a:rPr lang="fr-CA" sz="3200" dirty="0" err="1"/>
              <a:t>Pairwise</a:t>
            </a:r>
            <a:r>
              <a:rPr lang="fr-CA" sz="3200" dirty="0"/>
              <a:t> </a:t>
            </a:r>
            <a:r>
              <a:rPr lang="fr-CA" sz="3200" dirty="0" err="1"/>
              <a:t>ranking</a:t>
            </a:r>
            <a:r>
              <a:rPr lang="fr-CA" sz="3200" dirty="0"/>
              <a:t>) 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E1CC3795-24D6-1DDD-96D5-B73A2F900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067" y="1560873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Models</a:t>
            </a:r>
            <a:endParaRPr lang="fr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E16D77-917D-D9F3-126B-897FC5319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90" y="3886199"/>
            <a:ext cx="2352009" cy="235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77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028700" y="324720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Evaluation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6822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06228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/>
              <a:t>Quantitative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7B13D-5F2F-7B38-B1B1-D56D882CD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14275"/>
            <a:ext cx="7772400" cy="45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74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028700" y="324720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Evaluation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6822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5A404CB-5326-E6D9-223C-A3AB17C9F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062282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b="1" dirty="0"/>
              <a:t>Quantitative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8A16B3-870C-0469-0881-7F2BB9BC0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1613317"/>
            <a:ext cx="5257800" cy="465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39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028700" y="3171249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Thank</a:t>
            </a:r>
            <a:r>
              <a:rPr lang="fr-CA" sz="3200" dirty="0"/>
              <a:t> </a:t>
            </a:r>
            <a:r>
              <a:rPr lang="fr-CA" sz="3200" dirty="0" err="1"/>
              <a:t>you</a:t>
            </a:r>
            <a:r>
              <a:rPr lang="fr-CA" sz="3200" dirty="0"/>
              <a:t> for </a:t>
            </a:r>
            <a:r>
              <a:rPr lang="fr-CA" sz="3200" dirty="0" err="1"/>
              <a:t>listening</a:t>
            </a:r>
            <a:r>
              <a:rPr lang="fr-CA" sz="3200" dirty="0"/>
              <a:t>!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25908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419100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07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8172</TotalTime>
  <Words>546</Words>
  <Application>Microsoft Macintosh PowerPoint</Application>
  <PresentationFormat>On-screen Show (4:3)</PresentationFormat>
  <Paragraphs>199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Aqualonne</dc:creator>
  <cp:lastModifiedBy>Noe FLANDRE</cp:lastModifiedBy>
  <cp:revision>1657</cp:revision>
  <dcterms:created xsi:type="dcterms:W3CDTF">2006-08-16T00:00:00Z</dcterms:created>
  <dcterms:modified xsi:type="dcterms:W3CDTF">2024-05-17T19:42:08Z</dcterms:modified>
</cp:coreProperties>
</file>