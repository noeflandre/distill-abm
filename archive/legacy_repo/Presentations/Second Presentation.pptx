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2" r:id="rId2"/>
    <p:sldId id="322" r:id="rId3"/>
    <p:sldId id="325" r:id="rId4"/>
    <p:sldId id="324" r:id="rId5"/>
    <p:sldId id="290" r:id="rId6"/>
    <p:sldId id="327" r:id="rId7"/>
    <p:sldId id="329" r:id="rId8"/>
    <p:sldId id="328" r:id="rId9"/>
    <p:sldId id="331" r:id="rId10"/>
    <p:sldId id="330" r:id="rId11"/>
    <p:sldId id="326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40" r:id="rId20"/>
    <p:sldId id="339" r:id="rId21"/>
    <p:sldId id="34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286" autoAdjust="0"/>
  </p:normalViewPr>
  <p:slideViewPr>
    <p:cSldViewPr>
      <p:cViewPr varScale="1">
        <p:scale>
          <a:sx n="120" d="100"/>
          <a:sy n="120" d="100"/>
        </p:scale>
        <p:origin x="15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03963-EF3F-4F6A-89A0-5116EF20C9F9}" type="datetimeFigureOut">
              <a:rPr lang="fr-CA" smtClean="0"/>
              <a:pPr/>
              <a:t>2024-06-17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491CB-AF1A-4511-B35A-4BF12ADBFBD9}" type="slidenum">
              <a:rPr lang="fr-CA" smtClean="0"/>
              <a:pPr/>
              <a:t>‹#›</a:t>
            </a:fld>
            <a:endParaRPr lang="fr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</a:t>
            </a:fld>
            <a:endParaRPr lang="fr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01876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4</a:t>
            </a:fld>
            <a:endParaRPr lang="fr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5</a:t>
            </a:fld>
            <a:endParaRPr lang="fr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55662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35422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54454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38453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40020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64187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951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9027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58663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74381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118843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107670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59946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881199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240387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3491CB-AF1A-4511-B35A-4BF12ADBFBD9}" type="slidenum">
              <a:rPr lang="fr-CA" smtClean="0"/>
              <a:pPr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2655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fram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81125" y="1847850"/>
            <a:ext cx="6381750" cy="241935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838200" y="2228850"/>
            <a:ext cx="739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effectLst/>
                <a:latin typeface="Helvetica Neue" panose="02000503000000020004" pitchFamily="2" charset="0"/>
              </a:rPr>
              <a:t>Transforming Simulation Outcomes for Enhanced Decision-Making Accessibility</a:t>
            </a:r>
          </a:p>
          <a:p>
            <a:pPr algn="ctr"/>
            <a:endParaRPr lang="en-GB" sz="2400" b="1" i="1" dirty="0"/>
          </a:p>
        </p:txBody>
      </p:sp>
      <p:sp>
        <p:nvSpPr>
          <p:cNvPr id="9" name="TextBox 8"/>
          <p:cNvSpPr txBox="1"/>
          <p:nvPr/>
        </p:nvSpPr>
        <p:spPr>
          <a:xfrm>
            <a:off x="1219200" y="3443585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Noé Flandre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4102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Research Project Presentation – Friday 11</a:t>
            </a:r>
            <a:r>
              <a:rPr lang="en-GB" sz="2800" i="1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28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June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Question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89535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2479714"/>
            <a:ext cx="8229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effectLst/>
                <a:latin typeface="Helvetica Neue" panose="02000503000000020004" pitchFamily="2" charset="0"/>
              </a:rPr>
              <a:t>How to transform simulation outcomes into clear, unbiased explanations that support decision-making activities among non-experts?</a:t>
            </a:r>
          </a:p>
          <a:p>
            <a:endParaRPr lang="fr-CA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/>
              <a:t>Table of content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89535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586" y="2301655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What</a:t>
            </a:r>
            <a:r>
              <a:rPr lang="fr-CA" sz="3200" dirty="0"/>
              <a:t> I have </a:t>
            </a:r>
            <a:r>
              <a:rPr lang="fr-CA" sz="3200" dirty="0" err="1"/>
              <a:t>done</a:t>
            </a:r>
            <a:r>
              <a:rPr lang="fr-CA" sz="3200" dirty="0"/>
              <a:t> </a:t>
            </a:r>
            <a:r>
              <a:rPr lang="fr-CA" sz="3200" dirty="0" err="1"/>
              <a:t>so</a:t>
            </a:r>
            <a:r>
              <a:rPr lang="fr-CA" sz="3200" dirty="0"/>
              <a:t> far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020" y="4303932"/>
            <a:ext cx="792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dirty="0" err="1"/>
              <a:t>What</a:t>
            </a:r>
            <a:r>
              <a:rPr lang="fr-CA" sz="3200" dirty="0"/>
              <a:t> I plan to do </a:t>
            </a:r>
            <a:r>
              <a:rPr lang="fr-CA" sz="3200" dirty="0" err="1"/>
              <a:t>next</a:t>
            </a:r>
            <a:endParaRPr lang="fr-CA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A45A2E-B7EC-6434-2882-3844193AA3DE}"/>
              </a:ext>
            </a:extLst>
          </p:cNvPr>
          <p:cNvSpPr txBox="1"/>
          <p:nvPr/>
        </p:nvSpPr>
        <p:spPr>
          <a:xfrm>
            <a:off x="225814" y="2307709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9E2F1-81A3-8655-CAAC-81515D863EBA}"/>
              </a:ext>
            </a:extLst>
          </p:cNvPr>
          <p:cNvSpPr txBox="1"/>
          <p:nvPr/>
        </p:nvSpPr>
        <p:spPr>
          <a:xfrm>
            <a:off x="291859" y="4267200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17448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52400" y="2768025"/>
            <a:ext cx="85344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have </a:t>
            </a:r>
            <a:r>
              <a:rPr lang="fr-CA" sz="3200" dirty="0" err="1"/>
              <a:t>done</a:t>
            </a:r>
            <a:r>
              <a:rPr lang="fr-CA" sz="3200" dirty="0"/>
              <a:t> </a:t>
            </a:r>
            <a:r>
              <a:rPr lang="fr-CA" sz="3200" dirty="0" err="1"/>
              <a:t>so</a:t>
            </a:r>
            <a:r>
              <a:rPr lang="fr-CA" sz="3200" dirty="0"/>
              <a:t> far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23622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81400" y="358140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33F6D9-1232-B347-9B20-057E36BDEE35}"/>
              </a:ext>
            </a:extLst>
          </p:cNvPr>
          <p:cNvSpPr txBox="1"/>
          <p:nvPr/>
        </p:nvSpPr>
        <p:spPr>
          <a:xfrm>
            <a:off x="1828800" y="2768025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have </a:t>
            </a:r>
            <a:r>
              <a:rPr lang="fr-CA" sz="3200" dirty="0" err="1"/>
              <a:t>done</a:t>
            </a:r>
            <a:r>
              <a:rPr lang="fr-CA" sz="3200" dirty="0"/>
              <a:t> </a:t>
            </a:r>
            <a:r>
              <a:rPr lang="fr-CA" sz="3200" dirty="0" err="1"/>
              <a:t>so</a:t>
            </a:r>
            <a:r>
              <a:rPr lang="fr-CA" sz="3200" dirty="0"/>
              <a:t> far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91656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NetLogo Home Page">
            <a:extLst>
              <a:ext uri="{FF2B5EF4-FFF2-40B4-BE49-F238E27FC236}">
                <a16:creationId xmlns:a16="http://schemas.microsoft.com/office/drawing/2014/main" id="{9B75DC92-9F49-9C54-59C8-0D533B811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416" y="1850940"/>
            <a:ext cx="1077625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9FCD8B-F12E-A717-F12F-A761B0C0D88D}"/>
              </a:ext>
            </a:extLst>
          </p:cNvPr>
          <p:cNvSpPr txBox="1"/>
          <p:nvPr/>
        </p:nvSpPr>
        <p:spPr>
          <a:xfrm>
            <a:off x="2117208" y="5622578"/>
            <a:ext cx="4454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Website : </a:t>
            </a:r>
            <a:r>
              <a:rPr lang="en-US" sz="2400" b="1" dirty="0" err="1"/>
              <a:t>Comses.net</a:t>
            </a:r>
            <a:endParaRPr lang="en-US" sz="2400" b="1" dirty="0"/>
          </a:p>
        </p:txBody>
      </p:sp>
      <p:pic>
        <p:nvPicPr>
          <p:cNvPr id="19" name="Picture 2" descr="NetLogo Home Page">
            <a:extLst>
              <a:ext uri="{FF2B5EF4-FFF2-40B4-BE49-F238E27FC236}">
                <a16:creationId xmlns:a16="http://schemas.microsoft.com/office/drawing/2014/main" id="{80041317-FEF7-4CEA-7A11-C7AD5AF05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718" y="1857984"/>
            <a:ext cx="1077625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NetLogo Home Page">
            <a:extLst>
              <a:ext uri="{FF2B5EF4-FFF2-40B4-BE49-F238E27FC236}">
                <a16:creationId xmlns:a16="http://schemas.microsoft.com/office/drawing/2014/main" id="{14465BD7-DCAF-8245-E35C-375C463CD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143" y="1857984"/>
            <a:ext cx="1077625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2EFF06E-DB46-965A-A989-305C5D3BB02B}"/>
              </a:ext>
            </a:extLst>
          </p:cNvPr>
          <p:cNvSpPr txBox="1"/>
          <p:nvPr/>
        </p:nvSpPr>
        <p:spPr>
          <a:xfrm>
            <a:off x="1807292" y="2561565"/>
            <a:ext cx="1077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A877B2-BAD3-D678-2F21-D37F1F070100}"/>
              </a:ext>
            </a:extLst>
          </p:cNvPr>
          <p:cNvSpPr txBox="1"/>
          <p:nvPr/>
        </p:nvSpPr>
        <p:spPr>
          <a:xfrm>
            <a:off x="4478594" y="2568609"/>
            <a:ext cx="1077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48C03C-589F-C1FE-F5BE-A6FBF7426A00}"/>
              </a:ext>
            </a:extLst>
          </p:cNvPr>
          <p:cNvSpPr txBox="1"/>
          <p:nvPr/>
        </p:nvSpPr>
        <p:spPr>
          <a:xfrm>
            <a:off x="7149896" y="2512437"/>
            <a:ext cx="1077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BDE3B5-8DC0-4188-2865-DAA9DB6E6094}"/>
              </a:ext>
            </a:extLst>
          </p:cNvPr>
          <p:cNvSpPr txBox="1"/>
          <p:nvPr/>
        </p:nvSpPr>
        <p:spPr>
          <a:xfrm>
            <a:off x="689485" y="3078199"/>
            <a:ext cx="2194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Milk Consumption </a:t>
            </a:r>
            <a:r>
              <a:rPr lang="en-US" sz="2400" dirty="0" err="1"/>
              <a:t>Behaviours</a:t>
            </a:r>
            <a:endParaRPr lang="en-US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63D741-0423-CD67-D5F1-869E584665C8}"/>
              </a:ext>
            </a:extLst>
          </p:cNvPr>
          <p:cNvSpPr txBox="1"/>
          <p:nvPr/>
        </p:nvSpPr>
        <p:spPr>
          <a:xfrm>
            <a:off x="3268918" y="3153384"/>
            <a:ext cx="2194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Megafaunal </a:t>
            </a:r>
          </a:p>
          <a:p>
            <a:pPr algn="ctr"/>
            <a:r>
              <a:rPr lang="en-US" sz="2400" dirty="0"/>
              <a:t>Hunting</a:t>
            </a:r>
          </a:p>
          <a:p>
            <a:pPr algn="ctr"/>
            <a:r>
              <a:rPr lang="en-US" sz="2400" dirty="0"/>
              <a:t>Pressure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A607AB-4A95-C2BF-3188-75963E6E670C}"/>
              </a:ext>
            </a:extLst>
          </p:cNvPr>
          <p:cNvSpPr txBox="1"/>
          <p:nvPr/>
        </p:nvSpPr>
        <p:spPr>
          <a:xfrm>
            <a:off x="6035162" y="3138692"/>
            <a:ext cx="24193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Household</a:t>
            </a:r>
          </a:p>
          <a:p>
            <a:pPr algn="ctr"/>
            <a:r>
              <a:rPr lang="en-US" sz="2400" dirty="0" err="1"/>
              <a:t>Behaviour</a:t>
            </a:r>
            <a:r>
              <a:rPr lang="en-US" sz="2400" dirty="0"/>
              <a:t> Impact on Grazing and Livestock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have </a:t>
            </a:r>
            <a:r>
              <a:rPr lang="fr-CA" sz="3200" dirty="0" err="1"/>
              <a:t>done</a:t>
            </a:r>
            <a:r>
              <a:rPr lang="fr-CA" sz="3200" dirty="0"/>
              <a:t> </a:t>
            </a:r>
            <a:r>
              <a:rPr lang="fr-CA" sz="3200" dirty="0" err="1"/>
              <a:t>so</a:t>
            </a:r>
            <a:r>
              <a:rPr lang="fr-CA" sz="3200" dirty="0"/>
              <a:t> far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91656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NetLogo Home Page">
            <a:extLst>
              <a:ext uri="{FF2B5EF4-FFF2-40B4-BE49-F238E27FC236}">
                <a16:creationId xmlns:a16="http://schemas.microsoft.com/office/drawing/2014/main" id="{9B75DC92-9F49-9C54-59C8-0D533B811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974" y="2962916"/>
            <a:ext cx="104775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0486AD8A-5E4E-5017-038F-C64D4CAE83A8}"/>
              </a:ext>
            </a:extLst>
          </p:cNvPr>
          <p:cNvSpPr/>
          <p:nvPr/>
        </p:nvSpPr>
        <p:spPr>
          <a:xfrm rot="19139428">
            <a:off x="2690345" y="2228178"/>
            <a:ext cx="177165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EF1C87-C260-79FD-AEF5-C3AC834982FE}"/>
              </a:ext>
            </a:extLst>
          </p:cNvPr>
          <p:cNvSpPr txBox="1"/>
          <p:nvPr/>
        </p:nvSpPr>
        <p:spPr>
          <a:xfrm>
            <a:off x="4371656" y="1431583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GUI parameters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66D09433-DB2A-DC68-6C3A-45EDF1539BD0}"/>
              </a:ext>
            </a:extLst>
          </p:cNvPr>
          <p:cNvSpPr/>
          <p:nvPr/>
        </p:nvSpPr>
        <p:spPr>
          <a:xfrm>
            <a:off x="3044491" y="3276600"/>
            <a:ext cx="177165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42AD2F-AF6E-F748-61F2-72871BF7D407}"/>
              </a:ext>
            </a:extLst>
          </p:cNvPr>
          <p:cNvSpPr txBox="1"/>
          <p:nvPr/>
        </p:nvSpPr>
        <p:spPr>
          <a:xfrm>
            <a:off x="4884174" y="3198167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Documentation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2B0432-25DB-730E-5828-C7203C56038E}"/>
              </a:ext>
            </a:extLst>
          </p:cNvPr>
          <p:cNvSpPr txBox="1"/>
          <p:nvPr/>
        </p:nvSpPr>
        <p:spPr>
          <a:xfrm>
            <a:off x="3903406" y="4812351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Code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A37D6257-4A9D-38AD-0989-CF6044CEEA5F}"/>
              </a:ext>
            </a:extLst>
          </p:cNvPr>
          <p:cNvSpPr/>
          <p:nvPr/>
        </p:nvSpPr>
        <p:spPr>
          <a:xfrm rot="2191698">
            <a:off x="2819676" y="4263822"/>
            <a:ext cx="177165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9FCD8B-F12E-A717-F12F-A761B0C0D88D}"/>
              </a:ext>
            </a:extLst>
          </p:cNvPr>
          <p:cNvSpPr txBox="1"/>
          <p:nvPr/>
        </p:nvSpPr>
        <p:spPr>
          <a:xfrm>
            <a:off x="2117208" y="5622578"/>
            <a:ext cx="4454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Method : Regular Expressions</a:t>
            </a:r>
          </a:p>
        </p:txBody>
      </p:sp>
    </p:spTree>
    <p:extLst>
      <p:ext uri="{BB962C8B-B14F-4D97-AF65-F5344CB8AC3E}">
        <p14:creationId xmlns:p14="http://schemas.microsoft.com/office/powerpoint/2010/main" val="2654303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have </a:t>
            </a:r>
            <a:r>
              <a:rPr lang="fr-CA" sz="3200" dirty="0" err="1"/>
              <a:t>done</a:t>
            </a:r>
            <a:r>
              <a:rPr lang="fr-CA" sz="3200" dirty="0"/>
              <a:t> </a:t>
            </a:r>
            <a:r>
              <a:rPr lang="fr-CA" sz="3200" dirty="0" err="1"/>
              <a:t>so</a:t>
            </a:r>
            <a:r>
              <a:rPr lang="fr-CA" sz="3200" dirty="0"/>
              <a:t> far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91656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NetLogo Home Page">
            <a:extLst>
              <a:ext uri="{FF2B5EF4-FFF2-40B4-BE49-F238E27FC236}">
                <a16:creationId xmlns:a16="http://schemas.microsoft.com/office/drawing/2014/main" id="{9B75DC92-9F49-9C54-59C8-0D533B811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245546"/>
            <a:ext cx="104775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0486AD8A-5E4E-5017-038F-C64D4CAE83A8}"/>
              </a:ext>
            </a:extLst>
          </p:cNvPr>
          <p:cNvSpPr/>
          <p:nvPr/>
        </p:nvSpPr>
        <p:spPr>
          <a:xfrm rot="1977157">
            <a:off x="2313015" y="2434644"/>
            <a:ext cx="1491321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EF1C87-C260-79FD-AEF5-C3AC834982FE}"/>
              </a:ext>
            </a:extLst>
          </p:cNvPr>
          <p:cNvSpPr txBox="1"/>
          <p:nvPr/>
        </p:nvSpPr>
        <p:spPr>
          <a:xfrm>
            <a:off x="-152400" y="478883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Parameters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66D09433-DB2A-DC68-6C3A-45EDF1539BD0}"/>
              </a:ext>
            </a:extLst>
          </p:cNvPr>
          <p:cNvSpPr/>
          <p:nvPr/>
        </p:nvSpPr>
        <p:spPr>
          <a:xfrm>
            <a:off x="2423285" y="3507241"/>
            <a:ext cx="1270782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42AD2F-AF6E-F748-61F2-72871BF7D407}"/>
              </a:ext>
            </a:extLst>
          </p:cNvPr>
          <p:cNvSpPr txBox="1"/>
          <p:nvPr/>
        </p:nvSpPr>
        <p:spPr>
          <a:xfrm>
            <a:off x="138501" y="1767734"/>
            <a:ext cx="228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Metrics to follow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2B0432-25DB-730E-5828-C7203C56038E}"/>
              </a:ext>
            </a:extLst>
          </p:cNvPr>
          <p:cNvSpPr txBox="1"/>
          <p:nvPr/>
        </p:nvSpPr>
        <p:spPr>
          <a:xfrm>
            <a:off x="18435" y="3390554"/>
            <a:ext cx="228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Number of runs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A37D6257-4A9D-38AD-0989-CF6044CEEA5F}"/>
              </a:ext>
            </a:extLst>
          </p:cNvPr>
          <p:cNvSpPr/>
          <p:nvPr/>
        </p:nvSpPr>
        <p:spPr>
          <a:xfrm rot="20677678">
            <a:off x="1701050" y="4631331"/>
            <a:ext cx="1988182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9FCD8B-F12E-A717-F12F-A761B0C0D88D}"/>
              </a:ext>
            </a:extLst>
          </p:cNvPr>
          <p:cNvSpPr txBox="1"/>
          <p:nvPr/>
        </p:nvSpPr>
        <p:spPr>
          <a:xfrm>
            <a:off x="2126192" y="5725734"/>
            <a:ext cx="4454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Method : </a:t>
            </a:r>
            <a:r>
              <a:rPr lang="en-US" sz="2400" b="1" dirty="0" err="1"/>
              <a:t>pynetlogo</a:t>
            </a:r>
            <a:endParaRPr lang="en-US" sz="2400" b="1" dirty="0"/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6D96C49A-E3CC-928A-EBE4-3BC07C9A90C9}"/>
              </a:ext>
            </a:extLst>
          </p:cNvPr>
          <p:cNvSpPr/>
          <p:nvPr/>
        </p:nvSpPr>
        <p:spPr>
          <a:xfrm>
            <a:off x="5067300" y="3615220"/>
            <a:ext cx="1270782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3074" name="Picture 2" descr="Csv - Free interface icons">
            <a:extLst>
              <a:ext uri="{FF2B5EF4-FFF2-40B4-BE49-F238E27FC236}">
                <a16:creationId xmlns:a16="http://schemas.microsoft.com/office/drawing/2014/main" id="{BB1574A9-2E3F-E2E2-FC54-BAB7966D3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127968"/>
            <a:ext cx="1245296" cy="124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6740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have </a:t>
            </a:r>
            <a:r>
              <a:rPr lang="fr-CA" sz="3200" dirty="0" err="1"/>
              <a:t>done</a:t>
            </a:r>
            <a:r>
              <a:rPr lang="fr-CA" sz="3200" dirty="0"/>
              <a:t> </a:t>
            </a:r>
            <a:r>
              <a:rPr lang="fr-CA" sz="3200" dirty="0" err="1"/>
              <a:t>so</a:t>
            </a:r>
            <a:r>
              <a:rPr lang="fr-CA" sz="3200" dirty="0"/>
              <a:t> far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91656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9FCD8B-F12E-A717-F12F-A761B0C0D88D}"/>
              </a:ext>
            </a:extLst>
          </p:cNvPr>
          <p:cNvSpPr txBox="1"/>
          <p:nvPr/>
        </p:nvSpPr>
        <p:spPr>
          <a:xfrm>
            <a:off x="2126192" y="5725734"/>
            <a:ext cx="4454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Method : pandas, matplotlib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6D96C49A-E3CC-928A-EBE4-3BC07C9A90C9}"/>
              </a:ext>
            </a:extLst>
          </p:cNvPr>
          <p:cNvSpPr/>
          <p:nvPr/>
        </p:nvSpPr>
        <p:spPr>
          <a:xfrm>
            <a:off x="3352800" y="3566606"/>
            <a:ext cx="198120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3074" name="Picture 2" descr="Csv - Free interface icons">
            <a:extLst>
              <a:ext uri="{FF2B5EF4-FFF2-40B4-BE49-F238E27FC236}">
                <a16:creationId xmlns:a16="http://schemas.microsoft.com/office/drawing/2014/main" id="{BB1574A9-2E3F-E2E2-FC54-BAB7966D3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096358"/>
            <a:ext cx="1245296" cy="124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rowth graph - Free business and ...">
            <a:extLst>
              <a:ext uri="{FF2B5EF4-FFF2-40B4-BE49-F238E27FC236}">
                <a16:creationId xmlns:a16="http://schemas.microsoft.com/office/drawing/2014/main" id="{54C33C0F-5290-1963-3FFE-ABEA154C3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7832" y="2935828"/>
            <a:ext cx="1566356" cy="156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370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have </a:t>
            </a:r>
            <a:r>
              <a:rPr lang="fr-CA" sz="3200" dirty="0" err="1"/>
              <a:t>done</a:t>
            </a:r>
            <a:r>
              <a:rPr lang="fr-CA" sz="3200" dirty="0"/>
              <a:t> </a:t>
            </a:r>
            <a:r>
              <a:rPr lang="fr-CA" sz="3200" dirty="0" err="1"/>
              <a:t>so</a:t>
            </a:r>
            <a:r>
              <a:rPr lang="fr-CA" sz="3200" dirty="0"/>
              <a:t> far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91656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9FCD8B-F12E-A717-F12F-A761B0C0D88D}"/>
              </a:ext>
            </a:extLst>
          </p:cNvPr>
          <p:cNvSpPr txBox="1"/>
          <p:nvPr/>
        </p:nvSpPr>
        <p:spPr>
          <a:xfrm>
            <a:off x="4203407" y="4447851"/>
            <a:ext cx="4454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Ground Truth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6D96C49A-E3CC-928A-EBE4-3BC07C9A90C9}"/>
              </a:ext>
            </a:extLst>
          </p:cNvPr>
          <p:cNvSpPr/>
          <p:nvPr/>
        </p:nvSpPr>
        <p:spPr>
          <a:xfrm>
            <a:off x="3352800" y="3566606"/>
            <a:ext cx="198120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3076" name="Picture 4" descr="Growth graph - Free business and ...">
            <a:extLst>
              <a:ext uri="{FF2B5EF4-FFF2-40B4-BE49-F238E27FC236}">
                <a16:creationId xmlns:a16="http://schemas.microsoft.com/office/drawing/2014/main" id="{54C33C0F-5290-1963-3FFE-ABEA154C3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14" y="2783428"/>
            <a:ext cx="1566356" cy="156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Text Icon Vector Symbol Design ...">
            <a:extLst>
              <a:ext uri="{FF2B5EF4-FFF2-40B4-BE49-F238E27FC236}">
                <a16:creationId xmlns:a16="http://schemas.microsoft.com/office/drawing/2014/main" id="{5EFB653F-BEAD-A567-BE66-7B3692067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847" y="2865238"/>
            <a:ext cx="1712372" cy="171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5334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have </a:t>
            </a:r>
            <a:r>
              <a:rPr lang="fr-CA" sz="3200" dirty="0" err="1"/>
              <a:t>done</a:t>
            </a:r>
            <a:r>
              <a:rPr lang="fr-CA" sz="3200" dirty="0"/>
              <a:t> </a:t>
            </a:r>
            <a:r>
              <a:rPr lang="fr-CA" sz="3200" dirty="0" err="1"/>
              <a:t>so</a:t>
            </a:r>
            <a:r>
              <a:rPr lang="fr-CA" sz="3200" dirty="0"/>
              <a:t> far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91656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9FCD8B-F12E-A717-F12F-A761B0C0D88D}"/>
              </a:ext>
            </a:extLst>
          </p:cNvPr>
          <p:cNvSpPr txBox="1"/>
          <p:nvPr/>
        </p:nvSpPr>
        <p:spPr>
          <a:xfrm>
            <a:off x="2126192" y="5725734"/>
            <a:ext cx="4454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Method : base64</a:t>
            </a: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6D96C49A-E3CC-928A-EBE4-3BC07C9A90C9}"/>
              </a:ext>
            </a:extLst>
          </p:cNvPr>
          <p:cNvSpPr/>
          <p:nvPr/>
        </p:nvSpPr>
        <p:spPr>
          <a:xfrm>
            <a:off x="3352800" y="3566606"/>
            <a:ext cx="198120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3076" name="Picture 4" descr="Growth graph - Free business and ...">
            <a:extLst>
              <a:ext uri="{FF2B5EF4-FFF2-40B4-BE49-F238E27FC236}">
                <a16:creationId xmlns:a16="http://schemas.microsoft.com/office/drawing/2014/main" id="{54C33C0F-5290-1963-3FFE-ABEA154C3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22" y="2812003"/>
            <a:ext cx="1566356" cy="156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Base64 Encoder/Decoder - Apps on Google ...">
            <a:extLst>
              <a:ext uri="{FF2B5EF4-FFF2-40B4-BE49-F238E27FC236}">
                <a16:creationId xmlns:a16="http://schemas.microsoft.com/office/drawing/2014/main" id="{C1ACD0A0-CF79-4AAA-A9CB-5FAC6CABD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825" y="3018540"/>
            <a:ext cx="1483644" cy="148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7089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have </a:t>
            </a:r>
            <a:r>
              <a:rPr lang="fr-CA" sz="3200" dirty="0" err="1"/>
              <a:t>done</a:t>
            </a:r>
            <a:r>
              <a:rPr lang="fr-CA" sz="3200" dirty="0"/>
              <a:t> </a:t>
            </a:r>
            <a:r>
              <a:rPr lang="fr-CA" sz="3200" dirty="0" err="1"/>
              <a:t>so</a:t>
            </a:r>
            <a:r>
              <a:rPr lang="fr-CA" sz="3200" dirty="0"/>
              <a:t> far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91656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123" y="206970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Use of the API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1CBFA7-18E5-3E39-0D0C-FB72B4E024EE}"/>
              </a:ext>
            </a:extLst>
          </p:cNvPr>
          <p:cNvSpPr txBox="1"/>
          <p:nvPr/>
        </p:nvSpPr>
        <p:spPr>
          <a:xfrm>
            <a:off x="-73385" y="3664594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1</a:t>
            </a:r>
            <a:r>
              <a:rPr lang="en-US" sz="4000" b="1" baseline="30000" dirty="0"/>
              <a:t>st</a:t>
            </a:r>
            <a:r>
              <a:rPr lang="en-US" sz="4000" b="1" dirty="0"/>
              <a:t> Method : The ”one big prompt”</a:t>
            </a:r>
          </a:p>
        </p:txBody>
      </p:sp>
    </p:spTree>
    <p:extLst>
      <p:ext uri="{BB962C8B-B14F-4D97-AF65-F5344CB8AC3E}">
        <p14:creationId xmlns:p14="http://schemas.microsoft.com/office/powerpoint/2010/main" val="3340738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have </a:t>
            </a:r>
            <a:r>
              <a:rPr lang="fr-CA" sz="3200" dirty="0" err="1"/>
              <a:t>done</a:t>
            </a:r>
            <a:r>
              <a:rPr lang="fr-CA" sz="3200" dirty="0"/>
              <a:t> </a:t>
            </a:r>
            <a:r>
              <a:rPr lang="fr-CA" sz="3200" dirty="0" err="1"/>
              <a:t>so</a:t>
            </a:r>
            <a:r>
              <a:rPr lang="fr-CA" sz="3200" dirty="0"/>
              <a:t> far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91656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1CBFA7-18E5-3E39-0D0C-FB72B4E024EE}"/>
              </a:ext>
            </a:extLst>
          </p:cNvPr>
          <p:cNvSpPr txBox="1"/>
          <p:nvPr/>
        </p:nvSpPr>
        <p:spPr>
          <a:xfrm>
            <a:off x="2476500" y="1164212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1</a:t>
            </a:r>
            <a:r>
              <a:rPr lang="en-US" sz="2000" b="1" baseline="30000" dirty="0"/>
              <a:t>st</a:t>
            </a:r>
            <a:r>
              <a:rPr lang="en-US" sz="2000" b="1" dirty="0"/>
              <a:t> Method : The ”one big prompt”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930991-4127-06C2-ACEB-7878E0F78BFB}"/>
              </a:ext>
            </a:extLst>
          </p:cNvPr>
          <p:cNvSpPr txBox="1"/>
          <p:nvPr/>
        </p:nvSpPr>
        <p:spPr>
          <a:xfrm>
            <a:off x="3429608" y="2062291"/>
            <a:ext cx="228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Documentation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F2E61-1DF0-C125-505E-72C6134BC9AA}"/>
              </a:ext>
            </a:extLst>
          </p:cNvPr>
          <p:cNvSpPr txBox="1"/>
          <p:nvPr/>
        </p:nvSpPr>
        <p:spPr>
          <a:xfrm>
            <a:off x="59012" y="3669005"/>
            <a:ext cx="228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GUI parameters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98728A-6D3D-3BA5-7F31-3A67701A264A}"/>
              </a:ext>
            </a:extLst>
          </p:cNvPr>
          <p:cNvSpPr txBox="1"/>
          <p:nvPr/>
        </p:nvSpPr>
        <p:spPr>
          <a:xfrm>
            <a:off x="6674874" y="3520804"/>
            <a:ext cx="2476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Experiment parameters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67399F-CBF8-0C33-C5A4-9BAB0172C486}"/>
              </a:ext>
            </a:extLst>
          </p:cNvPr>
          <p:cNvSpPr txBox="1"/>
          <p:nvPr/>
        </p:nvSpPr>
        <p:spPr>
          <a:xfrm>
            <a:off x="3391507" y="5552240"/>
            <a:ext cx="228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Code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FABEBCFD-B2D8-66FF-D624-ED201A5EF4F9}"/>
              </a:ext>
            </a:extLst>
          </p:cNvPr>
          <p:cNvSpPr/>
          <p:nvPr/>
        </p:nvSpPr>
        <p:spPr>
          <a:xfrm rot="5400000">
            <a:off x="4015054" y="2905273"/>
            <a:ext cx="1037691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418651-BE41-326B-4F4D-89561E1E5127}"/>
              </a:ext>
            </a:extLst>
          </p:cNvPr>
          <p:cNvSpPr txBox="1"/>
          <p:nvPr/>
        </p:nvSpPr>
        <p:spPr>
          <a:xfrm>
            <a:off x="3391507" y="3701475"/>
            <a:ext cx="228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Constant prompt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A4A02BCA-A8D2-A9E7-1DAB-A3EDA16ACDFD}"/>
              </a:ext>
            </a:extLst>
          </p:cNvPr>
          <p:cNvSpPr/>
          <p:nvPr/>
        </p:nvSpPr>
        <p:spPr>
          <a:xfrm>
            <a:off x="2247900" y="3764255"/>
            <a:ext cx="899364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46BC956D-FB4B-CD21-B15D-481D79691C06}"/>
              </a:ext>
            </a:extLst>
          </p:cNvPr>
          <p:cNvSpPr/>
          <p:nvPr/>
        </p:nvSpPr>
        <p:spPr>
          <a:xfrm rot="16200000">
            <a:off x="4010116" y="4664473"/>
            <a:ext cx="1047568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B0181CD6-9095-059E-276C-BC20379233DF}"/>
              </a:ext>
            </a:extLst>
          </p:cNvPr>
          <p:cNvSpPr/>
          <p:nvPr/>
        </p:nvSpPr>
        <p:spPr>
          <a:xfrm rot="10800000">
            <a:off x="5817491" y="3818415"/>
            <a:ext cx="1083525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3845576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have </a:t>
            </a:r>
            <a:r>
              <a:rPr lang="fr-CA" sz="3200" dirty="0" err="1"/>
              <a:t>done</a:t>
            </a:r>
            <a:r>
              <a:rPr lang="fr-CA" sz="3200" dirty="0"/>
              <a:t> </a:t>
            </a:r>
            <a:r>
              <a:rPr lang="fr-CA" sz="3200" dirty="0" err="1"/>
              <a:t>so</a:t>
            </a:r>
            <a:r>
              <a:rPr lang="fr-CA" sz="3200" dirty="0"/>
              <a:t> far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91656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1CBFA7-18E5-3E39-0D0C-FB72B4E024EE}"/>
              </a:ext>
            </a:extLst>
          </p:cNvPr>
          <p:cNvSpPr txBox="1"/>
          <p:nvPr/>
        </p:nvSpPr>
        <p:spPr>
          <a:xfrm>
            <a:off x="2476500" y="1164212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1</a:t>
            </a:r>
            <a:r>
              <a:rPr lang="en-US" sz="2000" b="1" baseline="30000" dirty="0"/>
              <a:t>st</a:t>
            </a:r>
            <a:r>
              <a:rPr lang="en-US" sz="2000" b="1" dirty="0"/>
              <a:t> Method : The ”one big prompt”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67399F-CBF8-0C33-C5A4-9BAB0172C486}"/>
              </a:ext>
            </a:extLst>
          </p:cNvPr>
          <p:cNvSpPr txBox="1"/>
          <p:nvPr/>
        </p:nvSpPr>
        <p:spPr>
          <a:xfrm>
            <a:off x="-36514" y="4028204"/>
            <a:ext cx="228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Features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418651-BE41-326B-4F4D-89561E1E5127}"/>
              </a:ext>
            </a:extLst>
          </p:cNvPr>
          <p:cNvSpPr txBox="1"/>
          <p:nvPr/>
        </p:nvSpPr>
        <p:spPr>
          <a:xfrm>
            <a:off x="381000" y="2266632"/>
            <a:ext cx="228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Constant prompt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46BC956D-FB4B-CD21-B15D-481D79691C06}"/>
              </a:ext>
            </a:extLst>
          </p:cNvPr>
          <p:cNvSpPr/>
          <p:nvPr/>
        </p:nvSpPr>
        <p:spPr>
          <a:xfrm rot="20430126">
            <a:off x="2964482" y="3875804"/>
            <a:ext cx="1047568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B0181CD6-9095-059E-276C-BC20379233DF}"/>
              </a:ext>
            </a:extLst>
          </p:cNvPr>
          <p:cNvSpPr/>
          <p:nvPr/>
        </p:nvSpPr>
        <p:spPr>
          <a:xfrm rot="1453835">
            <a:off x="2941912" y="2757581"/>
            <a:ext cx="1083525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D4A08B-5DD8-B722-078A-59AD6603D03A}"/>
              </a:ext>
            </a:extLst>
          </p:cNvPr>
          <p:cNvSpPr txBox="1"/>
          <p:nvPr/>
        </p:nvSpPr>
        <p:spPr>
          <a:xfrm>
            <a:off x="1748096" y="4028204"/>
            <a:ext cx="2284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-Role</a:t>
            </a:r>
          </a:p>
          <a:p>
            <a:r>
              <a:rPr lang="en-US" sz="2400" dirty="0"/>
              <a:t>-Insights</a:t>
            </a:r>
          </a:p>
          <a:p>
            <a:r>
              <a:rPr lang="en-US" sz="2400" dirty="0"/>
              <a:t>-Example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E2BDE8-1D39-B361-12AA-96C4891EC196}"/>
              </a:ext>
            </a:extLst>
          </p:cNvPr>
          <p:cNvSpPr txBox="1"/>
          <p:nvPr/>
        </p:nvSpPr>
        <p:spPr>
          <a:xfrm>
            <a:off x="4269610" y="3293403"/>
            <a:ext cx="228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8 final prompts</a:t>
            </a:r>
          </a:p>
        </p:txBody>
      </p:sp>
    </p:spTree>
    <p:extLst>
      <p:ext uri="{BB962C8B-B14F-4D97-AF65-F5344CB8AC3E}">
        <p14:creationId xmlns:p14="http://schemas.microsoft.com/office/powerpoint/2010/main" val="1228581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have </a:t>
            </a:r>
            <a:r>
              <a:rPr lang="fr-CA" sz="3200" dirty="0" err="1"/>
              <a:t>done</a:t>
            </a:r>
            <a:r>
              <a:rPr lang="fr-CA" sz="3200" dirty="0"/>
              <a:t> </a:t>
            </a:r>
            <a:r>
              <a:rPr lang="fr-CA" sz="3200" dirty="0" err="1"/>
              <a:t>so</a:t>
            </a:r>
            <a:r>
              <a:rPr lang="fr-CA" sz="3200" dirty="0"/>
              <a:t> far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91656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1CBFA7-18E5-3E39-0D0C-FB72B4E024EE}"/>
              </a:ext>
            </a:extLst>
          </p:cNvPr>
          <p:cNvSpPr txBox="1"/>
          <p:nvPr/>
        </p:nvSpPr>
        <p:spPr>
          <a:xfrm>
            <a:off x="2476500" y="1164212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1</a:t>
            </a:r>
            <a:r>
              <a:rPr lang="en-US" sz="2000" b="1" baseline="30000" dirty="0"/>
              <a:t>st</a:t>
            </a:r>
            <a:r>
              <a:rPr lang="en-US" sz="2000" b="1" dirty="0"/>
              <a:t> Method : The ”one big prompt”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418651-BE41-326B-4F4D-89561E1E5127}"/>
              </a:ext>
            </a:extLst>
          </p:cNvPr>
          <p:cNvSpPr txBox="1"/>
          <p:nvPr/>
        </p:nvSpPr>
        <p:spPr>
          <a:xfrm>
            <a:off x="381000" y="2266632"/>
            <a:ext cx="228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Final prompt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46BC956D-FB4B-CD21-B15D-481D79691C06}"/>
              </a:ext>
            </a:extLst>
          </p:cNvPr>
          <p:cNvSpPr/>
          <p:nvPr/>
        </p:nvSpPr>
        <p:spPr>
          <a:xfrm rot="20430126">
            <a:off x="2964482" y="3875804"/>
            <a:ext cx="1047568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B0181CD6-9095-059E-276C-BC20379233DF}"/>
              </a:ext>
            </a:extLst>
          </p:cNvPr>
          <p:cNvSpPr/>
          <p:nvPr/>
        </p:nvSpPr>
        <p:spPr>
          <a:xfrm rot="1453835">
            <a:off x="2941912" y="2757581"/>
            <a:ext cx="1083525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E2BDE8-1D39-B361-12AA-96C4891EC196}"/>
              </a:ext>
            </a:extLst>
          </p:cNvPr>
          <p:cNvSpPr txBox="1"/>
          <p:nvPr/>
        </p:nvSpPr>
        <p:spPr>
          <a:xfrm>
            <a:off x="4267200" y="3689359"/>
            <a:ext cx="228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Response</a:t>
            </a:r>
          </a:p>
        </p:txBody>
      </p:sp>
      <p:pic>
        <p:nvPicPr>
          <p:cNvPr id="3" name="Picture 2" descr="Base64 Encoder/Decoder - Apps on Google ...">
            <a:extLst>
              <a:ext uri="{FF2B5EF4-FFF2-40B4-BE49-F238E27FC236}">
                <a16:creationId xmlns:a16="http://schemas.microsoft.com/office/drawing/2014/main" id="{9D770BAA-3E10-5393-0114-AA7E20FF4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774436"/>
            <a:ext cx="1155327" cy="1155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OpenAI Logo | SVG | Real Company | Alphabet, Letter O Logo">
            <a:extLst>
              <a:ext uri="{FF2B5EF4-FFF2-40B4-BE49-F238E27FC236}">
                <a16:creationId xmlns:a16="http://schemas.microsoft.com/office/drawing/2014/main" id="{DD2DF72E-62C2-AE66-E06C-0625844FF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206" y="2554283"/>
            <a:ext cx="1254771" cy="1180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4295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have </a:t>
            </a:r>
            <a:r>
              <a:rPr lang="fr-CA" sz="3200" dirty="0" err="1"/>
              <a:t>done</a:t>
            </a:r>
            <a:r>
              <a:rPr lang="fr-CA" sz="3200" dirty="0"/>
              <a:t> </a:t>
            </a:r>
            <a:r>
              <a:rPr lang="fr-CA" sz="3200" dirty="0" err="1"/>
              <a:t>so</a:t>
            </a:r>
            <a:r>
              <a:rPr lang="fr-CA" sz="3200" dirty="0"/>
              <a:t> far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91656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1CBFA7-18E5-3E39-0D0C-FB72B4E024EE}"/>
              </a:ext>
            </a:extLst>
          </p:cNvPr>
          <p:cNvSpPr txBox="1"/>
          <p:nvPr/>
        </p:nvSpPr>
        <p:spPr>
          <a:xfrm>
            <a:off x="2476500" y="1164212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1</a:t>
            </a:r>
            <a:r>
              <a:rPr lang="en-US" sz="2000" b="1" baseline="30000" dirty="0"/>
              <a:t>st</a:t>
            </a:r>
            <a:r>
              <a:rPr lang="en-US" sz="2000" b="1" dirty="0"/>
              <a:t> Method : The ”one big prompt”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B0181CD6-9095-059E-276C-BC20379233DF}"/>
              </a:ext>
            </a:extLst>
          </p:cNvPr>
          <p:cNvSpPr/>
          <p:nvPr/>
        </p:nvSpPr>
        <p:spPr>
          <a:xfrm>
            <a:off x="2429029" y="3021074"/>
            <a:ext cx="1083525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E2BDE8-1D39-B361-12AA-96C4891EC196}"/>
              </a:ext>
            </a:extLst>
          </p:cNvPr>
          <p:cNvSpPr txBox="1"/>
          <p:nvPr/>
        </p:nvSpPr>
        <p:spPr>
          <a:xfrm>
            <a:off x="323193" y="3561674"/>
            <a:ext cx="228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Response</a:t>
            </a:r>
          </a:p>
        </p:txBody>
      </p:sp>
      <p:pic>
        <p:nvPicPr>
          <p:cNvPr id="11268" name="Picture 4" descr="OpenAI Logo | SVG | Real Company | Alphabet, Letter O Logo">
            <a:extLst>
              <a:ext uri="{FF2B5EF4-FFF2-40B4-BE49-F238E27FC236}">
                <a16:creationId xmlns:a16="http://schemas.microsoft.com/office/drawing/2014/main" id="{DD2DF72E-62C2-AE66-E06C-0625844FF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14219"/>
            <a:ext cx="1254771" cy="1180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E070D6-EF4B-4732-B782-22B3F4E5DEC6}"/>
              </a:ext>
            </a:extLst>
          </p:cNvPr>
          <p:cNvSpPr txBox="1"/>
          <p:nvPr/>
        </p:nvSpPr>
        <p:spPr>
          <a:xfrm>
            <a:off x="3264780" y="2485381"/>
            <a:ext cx="22847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Flesch</a:t>
            </a:r>
          </a:p>
          <a:p>
            <a:pPr algn="ctr"/>
            <a:r>
              <a:rPr lang="en-US" sz="2400" dirty="0"/>
              <a:t>ROUGE</a:t>
            </a:r>
          </a:p>
          <a:p>
            <a:pPr algn="ctr"/>
            <a:r>
              <a:rPr lang="en-US" sz="2400" dirty="0"/>
              <a:t>BLEU</a:t>
            </a:r>
          </a:p>
          <a:p>
            <a:pPr algn="ctr"/>
            <a:r>
              <a:rPr lang="en-US" sz="2400" dirty="0"/>
              <a:t>METEOR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16ECEB39-3C9F-4BA9-A7B4-5C04D7519E67}"/>
              </a:ext>
            </a:extLst>
          </p:cNvPr>
          <p:cNvSpPr/>
          <p:nvPr/>
        </p:nvSpPr>
        <p:spPr>
          <a:xfrm>
            <a:off x="5282596" y="3021074"/>
            <a:ext cx="1083525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9" name="Picture 2" descr="Csv - Free interface icons">
            <a:extLst>
              <a:ext uri="{FF2B5EF4-FFF2-40B4-BE49-F238E27FC236}">
                <a16:creationId xmlns:a16="http://schemas.microsoft.com/office/drawing/2014/main" id="{3E876292-A0B1-6A1C-9478-7BBAFC75E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334" y="2621538"/>
            <a:ext cx="1245296" cy="124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3536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have </a:t>
            </a:r>
            <a:r>
              <a:rPr lang="fr-CA" sz="3200" dirty="0" err="1"/>
              <a:t>done</a:t>
            </a:r>
            <a:r>
              <a:rPr lang="fr-CA" sz="3200" dirty="0"/>
              <a:t> </a:t>
            </a:r>
            <a:r>
              <a:rPr lang="fr-CA" sz="3200" dirty="0" err="1"/>
              <a:t>so</a:t>
            </a:r>
            <a:r>
              <a:rPr lang="fr-CA" sz="3200" dirty="0"/>
              <a:t> far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91656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1CBFA7-18E5-3E39-0D0C-FB72B4E024EE}"/>
              </a:ext>
            </a:extLst>
          </p:cNvPr>
          <p:cNvSpPr txBox="1"/>
          <p:nvPr/>
        </p:nvSpPr>
        <p:spPr>
          <a:xfrm>
            <a:off x="2476500" y="1164212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1</a:t>
            </a:r>
            <a:r>
              <a:rPr lang="en-US" sz="2000" b="1" baseline="30000" dirty="0"/>
              <a:t>st</a:t>
            </a:r>
            <a:r>
              <a:rPr lang="en-US" sz="2000" b="1" dirty="0"/>
              <a:t> Method : The ”one big prompt”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B0181CD6-9095-059E-276C-BC20379233DF}"/>
              </a:ext>
            </a:extLst>
          </p:cNvPr>
          <p:cNvSpPr/>
          <p:nvPr/>
        </p:nvSpPr>
        <p:spPr>
          <a:xfrm>
            <a:off x="2429029" y="3021074"/>
            <a:ext cx="1083525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070D6-EF4B-4732-B782-22B3F4E5DEC6}"/>
              </a:ext>
            </a:extLst>
          </p:cNvPr>
          <p:cNvSpPr txBox="1"/>
          <p:nvPr/>
        </p:nvSpPr>
        <p:spPr>
          <a:xfrm>
            <a:off x="3352800" y="2798652"/>
            <a:ext cx="2284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Human Assessment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16ECEB39-3C9F-4BA9-A7B4-5C04D7519E67}"/>
              </a:ext>
            </a:extLst>
          </p:cNvPr>
          <p:cNvSpPr/>
          <p:nvPr/>
        </p:nvSpPr>
        <p:spPr>
          <a:xfrm>
            <a:off x="5599493" y="3021074"/>
            <a:ext cx="1083525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9" name="Picture 2" descr="Csv - Free interface icons">
            <a:extLst>
              <a:ext uri="{FF2B5EF4-FFF2-40B4-BE49-F238E27FC236}">
                <a16:creationId xmlns:a16="http://schemas.microsoft.com/office/drawing/2014/main" id="{3E876292-A0B1-6A1C-9478-7BBAFC75E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58" y="2485381"/>
            <a:ext cx="1245296" cy="124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2BFA03-C7F4-31E2-19AE-59983641CA56}"/>
              </a:ext>
            </a:extLst>
          </p:cNvPr>
          <p:cNvSpPr txBox="1"/>
          <p:nvPr/>
        </p:nvSpPr>
        <p:spPr>
          <a:xfrm>
            <a:off x="6485173" y="2798652"/>
            <a:ext cx="2284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Prompt</a:t>
            </a:r>
          </a:p>
          <a:p>
            <a:pPr algn="ctr"/>
            <a:r>
              <a:rPr lang="en-US" sz="2400" dirty="0"/>
              <a:t>Refining</a:t>
            </a:r>
          </a:p>
        </p:txBody>
      </p:sp>
    </p:spTree>
    <p:extLst>
      <p:ext uri="{BB962C8B-B14F-4D97-AF65-F5344CB8AC3E}">
        <p14:creationId xmlns:p14="http://schemas.microsoft.com/office/powerpoint/2010/main" val="647409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have </a:t>
            </a:r>
            <a:r>
              <a:rPr lang="fr-CA" sz="3200" dirty="0" err="1"/>
              <a:t>done</a:t>
            </a:r>
            <a:r>
              <a:rPr lang="fr-CA" sz="3200" dirty="0"/>
              <a:t> </a:t>
            </a:r>
            <a:r>
              <a:rPr lang="fr-CA" sz="3200" dirty="0" err="1"/>
              <a:t>so</a:t>
            </a:r>
            <a:r>
              <a:rPr lang="fr-CA" sz="3200" dirty="0"/>
              <a:t> far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91656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123" y="206970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Use of the API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1CBFA7-18E5-3E39-0D0C-FB72B4E024EE}"/>
              </a:ext>
            </a:extLst>
          </p:cNvPr>
          <p:cNvSpPr txBox="1"/>
          <p:nvPr/>
        </p:nvSpPr>
        <p:spPr>
          <a:xfrm>
            <a:off x="-73385" y="3664594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2</a:t>
            </a:r>
            <a:r>
              <a:rPr lang="en-US" sz="4000" b="1" baseline="30000" dirty="0"/>
              <a:t>nd</a:t>
            </a:r>
            <a:r>
              <a:rPr lang="en-US" sz="4000" b="1" dirty="0"/>
              <a:t> Method : The “Agents”</a:t>
            </a:r>
          </a:p>
        </p:txBody>
      </p:sp>
    </p:spTree>
    <p:extLst>
      <p:ext uri="{BB962C8B-B14F-4D97-AF65-F5344CB8AC3E}">
        <p14:creationId xmlns:p14="http://schemas.microsoft.com/office/powerpoint/2010/main" val="768713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have </a:t>
            </a:r>
            <a:r>
              <a:rPr lang="fr-CA" sz="3200" dirty="0" err="1"/>
              <a:t>done</a:t>
            </a:r>
            <a:r>
              <a:rPr lang="fr-CA" sz="3200" dirty="0"/>
              <a:t> </a:t>
            </a:r>
            <a:r>
              <a:rPr lang="fr-CA" sz="3200" dirty="0" err="1"/>
              <a:t>so</a:t>
            </a:r>
            <a:r>
              <a:rPr lang="fr-CA" sz="3200" dirty="0"/>
              <a:t> far</a:t>
            </a:r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91656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E5883-01E2-9084-43A1-24B30C6A54BB}"/>
              </a:ext>
            </a:extLst>
          </p:cNvPr>
          <p:cNvSpPr txBox="1"/>
          <p:nvPr/>
        </p:nvSpPr>
        <p:spPr>
          <a:xfrm>
            <a:off x="2476500" y="1164212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2</a:t>
            </a:r>
            <a:r>
              <a:rPr lang="en-US" sz="2000" b="1" baseline="30000" dirty="0"/>
              <a:t>nd</a:t>
            </a:r>
            <a:r>
              <a:rPr lang="en-US" sz="2000" b="1" dirty="0"/>
              <a:t> Method : The ”Agents”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BF9A07-2BD9-665E-9AC0-4A3DA277E840}"/>
              </a:ext>
            </a:extLst>
          </p:cNvPr>
          <p:cNvSpPr txBox="1"/>
          <p:nvPr/>
        </p:nvSpPr>
        <p:spPr>
          <a:xfrm>
            <a:off x="2092288" y="2075064"/>
            <a:ext cx="228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Final prompt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75B143A1-07BE-0B90-5AA2-DB94C68BDEFF}"/>
              </a:ext>
            </a:extLst>
          </p:cNvPr>
          <p:cNvSpPr/>
          <p:nvPr/>
        </p:nvSpPr>
        <p:spPr>
          <a:xfrm rot="8621058">
            <a:off x="1366580" y="2881995"/>
            <a:ext cx="1083525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1B14926-9BDF-5336-DE17-2633C2B0E241}"/>
              </a:ext>
            </a:extLst>
          </p:cNvPr>
          <p:cNvSpPr/>
          <p:nvPr/>
        </p:nvSpPr>
        <p:spPr>
          <a:xfrm rot="2538126">
            <a:off x="3864833" y="2966579"/>
            <a:ext cx="1083525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15362" name="Picture 2" descr="Man - Free people icons">
            <a:extLst>
              <a:ext uri="{FF2B5EF4-FFF2-40B4-BE49-F238E27FC236}">
                <a16:creationId xmlns:a16="http://schemas.microsoft.com/office/drawing/2014/main" id="{889B71EC-439D-A28C-D0BF-0E4C0B9EC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09" y="3581547"/>
            <a:ext cx="1332342" cy="1332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Man - Free social icons">
            <a:extLst>
              <a:ext uri="{FF2B5EF4-FFF2-40B4-BE49-F238E27FC236}">
                <a16:creationId xmlns:a16="http://schemas.microsoft.com/office/drawing/2014/main" id="{E886E7D8-60F9-3444-899A-6D21C5A8F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287" y="3608586"/>
            <a:ext cx="1276350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8E3056-EA60-29B9-C34D-598E0C8E3890}"/>
              </a:ext>
            </a:extLst>
          </p:cNvPr>
          <p:cNvSpPr txBox="1"/>
          <p:nvPr/>
        </p:nvSpPr>
        <p:spPr>
          <a:xfrm>
            <a:off x="7088" y="5076771"/>
            <a:ext cx="2284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Explains the context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FAD92E-C7C9-FFAB-79F3-B6D356C807B0}"/>
              </a:ext>
            </a:extLst>
          </p:cNvPr>
          <p:cNvSpPr txBox="1"/>
          <p:nvPr/>
        </p:nvSpPr>
        <p:spPr>
          <a:xfrm>
            <a:off x="4047069" y="5072931"/>
            <a:ext cx="24398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Analyzes the trends in the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0294C7-AAC0-B98D-8772-FE8B9268B599}"/>
              </a:ext>
            </a:extLst>
          </p:cNvPr>
          <p:cNvSpPr txBox="1"/>
          <p:nvPr/>
        </p:nvSpPr>
        <p:spPr>
          <a:xfrm>
            <a:off x="5906108" y="2129081"/>
            <a:ext cx="228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Plot description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3729A437-08C5-1935-33E7-973134C5A0D6}"/>
              </a:ext>
            </a:extLst>
          </p:cNvPr>
          <p:cNvSpPr/>
          <p:nvPr/>
        </p:nvSpPr>
        <p:spPr>
          <a:xfrm rot="8621058">
            <a:off x="5484646" y="2966579"/>
            <a:ext cx="1083525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1680601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52400" y="2768025"/>
            <a:ext cx="85344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plan to do </a:t>
            </a:r>
            <a:r>
              <a:rPr lang="fr-CA" sz="3200" dirty="0" err="1"/>
              <a:t>next</a:t>
            </a:r>
            <a:endParaRPr lang="fr-CA" sz="3200" dirty="0"/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23622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81400" y="3581400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33F6D9-1232-B347-9B20-057E36BDEE35}"/>
              </a:ext>
            </a:extLst>
          </p:cNvPr>
          <p:cNvSpPr txBox="1"/>
          <p:nvPr/>
        </p:nvSpPr>
        <p:spPr>
          <a:xfrm>
            <a:off x="1828800" y="2768025"/>
            <a:ext cx="38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0956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plan to do </a:t>
            </a:r>
            <a:r>
              <a:rPr lang="fr-CA" sz="3200" dirty="0" err="1"/>
              <a:t>next</a:t>
            </a:r>
            <a:endParaRPr lang="fr-CA" sz="3200" dirty="0"/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91656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BF9A07-2BD9-665E-9AC0-4A3DA277E840}"/>
              </a:ext>
            </a:extLst>
          </p:cNvPr>
          <p:cNvSpPr txBox="1"/>
          <p:nvPr/>
        </p:nvSpPr>
        <p:spPr>
          <a:xfrm>
            <a:off x="228600" y="4292318"/>
            <a:ext cx="763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Automatizing and linking the different functionalities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8C8FE4-7E02-D6DA-EDAF-77B31D93E314}"/>
              </a:ext>
            </a:extLst>
          </p:cNvPr>
          <p:cNvSpPr txBox="1"/>
          <p:nvPr/>
        </p:nvSpPr>
        <p:spPr>
          <a:xfrm>
            <a:off x="-152400" y="1799822"/>
            <a:ext cx="763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Manual Assessment to check all the responses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21BC8F-DD8C-05B5-7EBA-FBB99EE2E910}"/>
              </a:ext>
            </a:extLst>
          </p:cNvPr>
          <p:cNvSpPr txBox="1"/>
          <p:nvPr/>
        </p:nvSpPr>
        <p:spPr>
          <a:xfrm>
            <a:off x="457200" y="3667031"/>
            <a:ext cx="8515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Summarizing the context and the trend analysis within a report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16EAD0-89AD-57B5-3963-2876BDFA0C42}"/>
              </a:ext>
            </a:extLst>
          </p:cNvPr>
          <p:cNvSpPr txBox="1"/>
          <p:nvPr/>
        </p:nvSpPr>
        <p:spPr>
          <a:xfrm>
            <a:off x="-762000" y="2425109"/>
            <a:ext cx="763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Refine the prompts until satisfaction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27CA5D-35A7-EB63-6203-A3DA29434E3C}"/>
              </a:ext>
            </a:extLst>
          </p:cNvPr>
          <p:cNvSpPr txBox="1"/>
          <p:nvPr/>
        </p:nvSpPr>
        <p:spPr>
          <a:xfrm>
            <a:off x="0" y="3041744"/>
            <a:ext cx="763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Apply the method with the features combination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5ACCA7-8A61-C9F3-9267-8E1F1D018837}"/>
              </a:ext>
            </a:extLst>
          </p:cNvPr>
          <p:cNvSpPr txBox="1"/>
          <p:nvPr/>
        </p:nvSpPr>
        <p:spPr>
          <a:xfrm>
            <a:off x="-2066925" y="4895059"/>
            <a:ext cx="763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Writing a paper</a:t>
            </a:r>
          </a:p>
        </p:txBody>
      </p:sp>
    </p:spTree>
    <p:extLst>
      <p:ext uri="{BB962C8B-B14F-4D97-AF65-F5344CB8AC3E}">
        <p14:creationId xmlns:p14="http://schemas.microsoft.com/office/powerpoint/2010/main" val="2288943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otto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273800"/>
            <a:ext cx="9144000" cy="584200"/>
          </a:xfrm>
          <a:prstGeom prst="rect">
            <a:avLst/>
          </a:prstGeom>
          <a:noFill/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-36514" y="6356350"/>
            <a:ext cx="3389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i="1" dirty="0">
                <a:solidFill>
                  <a:schemeClr val="bg1"/>
                </a:solidFill>
              </a:rPr>
              <a:t>Noé Flandre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172450" y="6356350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FR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990600" y="331787"/>
            <a:ext cx="7239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CA" sz="3200" dirty="0" err="1"/>
              <a:t>What</a:t>
            </a:r>
            <a:r>
              <a:rPr lang="fr-CA" sz="3200" dirty="0"/>
              <a:t> I plan to do </a:t>
            </a:r>
            <a:r>
              <a:rPr lang="fr-CA" sz="3200" dirty="0" err="1"/>
              <a:t>next</a:t>
            </a:r>
            <a:endParaRPr lang="fr-CA" sz="3200" dirty="0"/>
          </a:p>
        </p:txBody>
      </p:sp>
      <p:pic>
        <p:nvPicPr>
          <p:cNvPr id="11" name="Picture 11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152400"/>
            <a:ext cx="4800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t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47900" y="916562"/>
            <a:ext cx="4800600" cy="247650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752600" y="6356350"/>
            <a:ext cx="6629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b="1" dirty="0" err="1">
                <a:solidFill>
                  <a:schemeClr val="bg1"/>
                </a:solidFill>
              </a:rPr>
              <a:t>Enhancing</a:t>
            </a:r>
            <a:r>
              <a:rPr lang="fr-FR" b="1" dirty="0">
                <a:solidFill>
                  <a:schemeClr val="bg1"/>
                </a:solidFill>
              </a:rPr>
              <a:t> Simulations </a:t>
            </a:r>
            <a:r>
              <a:rPr lang="fr-FR" b="1" dirty="0" err="1">
                <a:solidFill>
                  <a:schemeClr val="bg1"/>
                </a:solidFill>
              </a:rPr>
              <a:t>Outcomes</a:t>
            </a:r>
            <a:r>
              <a:rPr lang="fr-FR" b="1" dirty="0">
                <a:solidFill>
                  <a:schemeClr val="bg1"/>
                </a:solidFill>
              </a:rPr>
              <a:t> for </a:t>
            </a:r>
            <a:r>
              <a:rPr lang="fr-FR" b="1" dirty="0" err="1">
                <a:solidFill>
                  <a:schemeClr val="bg1"/>
                </a:solidFill>
              </a:rPr>
              <a:t>Decision-Making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DF4F09-B598-8028-0816-38FD19F10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1221953"/>
            <a:ext cx="6756400" cy="489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901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4939</TotalTime>
  <Words>550</Words>
  <Application>Microsoft Macintosh PowerPoint</Application>
  <PresentationFormat>On-screen Show (4:3)</PresentationFormat>
  <Paragraphs>172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Aqualonne</dc:creator>
  <cp:lastModifiedBy>Noe FLANDRE</cp:lastModifiedBy>
  <cp:revision>1661</cp:revision>
  <dcterms:created xsi:type="dcterms:W3CDTF">2006-08-16T00:00:00Z</dcterms:created>
  <dcterms:modified xsi:type="dcterms:W3CDTF">2024-06-17T19:06:40Z</dcterms:modified>
</cp:coreProperties>
</file>