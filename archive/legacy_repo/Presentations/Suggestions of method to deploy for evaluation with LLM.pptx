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72" r:id="rId2"/>
    <p:sldId id="324" r:id="rId3"/>
    <p:sldId id="364" r:id="rId4"/>
    <p:sldId id="322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357" r:id="rId16"/>
    <p:sldId id="358" r:id="rId17"/>
    <p:sldId id="359" r:id="rId18"/>
    <p:sldId id="360" r:id="rId19"/>
    <p:sldId id="361" r:id="rId20"/>
    <p:sldId id="362" r:id="rId21"/>
    <p:sldId id="363" r:id="rId22"/>
    <p:sldId id="365" r:id="rId23"/>
    <p:sldId id="366" r:id="rId24"/>
    <p:sldId id="367" r:id="rId25"/>
    <p:sldId id="368" r:id="rId26"/>
    <p:sldId id="369" r:id="rId27"/>
    <p:sldId id="370" r:id="rId28"/>
    <p:sldId id="371" r:id="rId29"/>
    <p:sldId id="372" r:id="rId30"/>
    <p:sldId id="373" r:id="rId31"/>
    <p:sldId id="374" r:id="rId32"/>
    <p:sldId id="375" r:id="rId33"/>
    <p:sldId id="376" r:id="rId34"/>
    <p:sldId id="377" r:id="rId35"/>
    <p:sldId id="378" r:id="rId36"/>
    <p:sldId id="379" r:id="rId37"/>
    <p:sldId id="380" r:id="rId38"/>
    <p:sldId id="346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45"/>
    <p:restoredTop sz="94350" autoAdjust="0"/>
  </p:normalViewPr>
  <p:slideViewPr>
    <p:cSldViewPr>
      <p:cViewPr>
        <p:scale>
          <a:sx n="142" d="100"/>
          <a:sy n="142" d="100"/>
        </p:scale>
        <p:origin x="2664" y="2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103963-EF3F-4F6A-89A0-5116EF20C9F9}" type="datetimeFigureOut">
              <a:rPr lang="fr-CA" smtClean="0"/>
              <a:pPr/>
              <a:t>2024-07-29</a:t>
            </a:fld>
            <a:endParaRPr lang="fr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491CB-AF1A-4511-B35A-4BF12ADBFBD9}" type="slidenum">
              <a:rPr lang="fr-CA" smtClean="0"/>
              <a:pPr/>
              <a:t>‹#›</a:t>
            </a:fld>
            <a:endParaRPr lang="fr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2</a:t>
            </a:fld>
            <a:endParaRPr lang="fr-C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55109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4</a:t>
            </a:fld>
            <a:endParaRPr lang="fr-C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430374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60702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38690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22749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863254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69631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766468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445423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84940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655267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356580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110529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475623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366292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66960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20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457279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21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760341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22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078855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23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360691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24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08506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25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8314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26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055806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27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559579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28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287503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29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711147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30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397017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31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869647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32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676816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33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080173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34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059351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35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274797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36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7576806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37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7585881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38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83030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89591" y="2843420"/>
            <a:ext cx="739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effectLst/>
                <a:latin typeface="Helvetica Neue" panose="02000503000000020004" pitchFamily="2" charset="0"/>
              </a:rPr>
              <a:t>Method to evaluate a report using LLMs</a:t>
            </a:r>
          </a:p>
          <a:p>
            <a:pPr algn="ctr"/>
            <a:endParaRPr lang="en-GB" sz="2400" b="1" i="1" dirty="0"/>
          </a:p>
        </p:txBody>
      </p:sp>
      <p:sp>
        <p:nvSpPr>
          <p:cNvPr id="9" name="TextBox 8"/>
          <p:cNvSpPr txBox="1"/>
          <p:nvPr/>
        </p:nvSpPr>
        <p:spPr>
          <a:xfrm>
            <a:off x="1219200" y="3443585"/>
            <a:ext cx="701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Noé Flandre</a:t>
            </a:r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5D8D785C-098B-D094-45DD-216BEF1E6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24100" y="240457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11" descr="top">
            <a:extLst>
              <a:ext uri="{FF2B5EF4-FFF2-40B4-BE49-F238E27FC236}">
                <a16:creationId xmlns:a16="http://schemas.microsoft.com/office/drawing/2014/main" id="{21D2DBB8-600C-DEAB-89CC-95E63D22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24100" y="390525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bottom">
            <a:extLst>
              <a:ext uri="{FF2B5EF4-FFF2-40B4-BE49-F238E27FC236}">
                <a16:creationId xmlns:a16="http://schemas.microsoft.com/office/drawing/2014/main" id="{5C3B5044-5648-5E9A-85A7-2E5857B75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7" name="Text Box 6">
            <a:extLst>
              <a:ext uri="{FF2B5EF4-FFF2-40B4-BE49-F238E27FC236}">
                <a16:creationId xmlns:a16="http://schemas.microsoft.com/office/drawing/2014/main" id="{C5F93D86-DC59-D4BA-0147-34F462107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DECF7C95-FFF1-B812-86D6-CBA89E308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67ED8D37-C322-A490-16B8-E5C770EB5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152400" y="3016904"/>
            <a:ext cx="85344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/>
              <a:t>State of the art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33F6D9-1232-B347-9B20-057E36BDEE35}"/>
              </a:ext>
            </a:extLst>
          </p:cNvPr>
          <p:cNvSpPr txBox="1"/>
          <p:nvPr/>
        </p:nvSpPr>
        <p:spPr>
          <a:xfrm>
            <a:off x="152400" y="3016904"/>
            <a:ext cx="38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b="1" dirty="0"/>
              <a:t>1</a:t>
            </a:r>
          </a:p>
        </p:txBody>
      </p:sp>
      <p:pic>
        <p:nvPicPr>
          <p:cNvPr id="3" name="Picture 11" descr="top">
            <a:extLst>
              <a:ext uri="{FF2B5EF4-FFF2-40B4-BE49-F238E27FC236}">
                <a16:creationId xmlns:a16="http://schemas.microsoft.com/office/drawing/2014/main" id="{4CE25EBA-F320-EA93-EB4A-25D76E404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2714909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578ABCEE-802B-BA84-2F61-F1C6A3033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3809284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0F9098F2-0A8B-7967-B9F9-EFADD235A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A67B0487-94CB-C5E5-F88C-42F2FC6CD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" y="6422509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9DD11CD6-8C0D-4A57-F874-2C4F507B5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114" y="638943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D6FB8CA5-5DCC-9948-DE72-1E88BED21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638943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152400" y="3016904"/>
            <a:ext cx="8534400" cy="10772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3200" dirty="0"/>
              <a:t>LLM-based NLG Evaluation: Current Status and Challenges</a:t>
            </a:r>
            <a:endParaRPr lang="fr-CA" sz="3200" dirty="0"/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33F6D9-1232-B347-9B20-057E36BDEE35}"/>
              </a:ext>
            </a:extLst>
          </p:cNvPr>
          <p:cNvSpPr txBox="1"/>
          <p:nvPr/>
        </p:nvSpPr>
        <p:spPr>
          <a:xfrm>
            <a:off x="152400" y="3016904"/>
            <a:ext cx="38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b="1" dirty="0"/>
              <a:t>1</a:t>
            </a:r>
          </a:p>
        </p:txBody>
      </p:sp>
      <p:pic>
        <p:nvPicPr>
          <p:cNvPr id="3" name="Picture 11" descr="top">
            <a:extLst>
              <a:ext uri="{FF2B5EF4-FFF2-40B4-BE49-F238E27FC236}">
                <a16:creationId xmlns:a16="http://schemas.microsoft.com/office/drawing/2014/main" id="{4CE25EBA-F320-EA93-EB4A-25D76E404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2714909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578ABCEE-802B-BA84-2F61-F1C6A3033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409412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0F9098F2-0A8B-7967-B9F9-EFADD235A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A67B0487-94CB-C5E5-F88C-42F2FC6CD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" y="6422509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9DD11CD6-8C0D-4A57-F874-2C4F507B5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114" y="638943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D6FB8CA5-5DCC-9948-DE72-1E88BED21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638943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22462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LLM-derived Metrics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7070" y="1246127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effectLst/>
                <a:latin typeface="Helvetica Neue" panose="02000503000000020004" pitchFamily="2" charset="0"/>
              </a:rPr>
              <a:t>Embedding-based Metrics</a:t>
            </a:r>
          </a:p>
          <a:p>
            <a:endParaRPr lang="fr-CA" sz="3200" dirty="0"/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EA1879-1539-56D9-42CC-EB6AE3EF87F4}"/>
              </a:ext>
            </a:extLst>
          </p:cNvPr>
          <p:cNvSpPr txBox="1"/>
          <p:nvPr/>
        </p:nvSpPr>
        <p:spPr>
          <a:xfrm>
            <a:off x="-1752600" y="2323345"/>
            <a:ext cx="8229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effectLst/>
                <a:latin typeface="Helvetica Neue" panose="02000503000000020004" pitchFamily="2" charset="0"/>
              </a:rPr>
              <a:t>Example : </a:t>
            </a:r>
            <a:r>
              <a:rPr lang="en-GB" sz="2400" dirty="0" err="1">
                <a:effectLst/>
                <a:latin typeface="Helvetica Neue" panose="02000503000000020004" pitchFamily="2" charset="0"/>
              </a:rPr>
              <a:t>BERTScore</a:t>
            </a:r>
            <a:endParaRPr lang="en-GB" sz="2400" dirty="0">
              <a:effectLst/>
              <a:latin typeface="Helvetica Neue" panose="02000503000000020004" pitchFamily="2" charset="0"/>
            </a:endParaRPr>
          </a:p>
          <a:p>
            <a:endParaRPr lang="fr-CA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338174-2607-6E48-A9F0-8ED78817DF85}"/>
              </a:ext>
            </a:extLst>
          </p:cNvPr>
          <p:cNvSpPr txBox="1"/>
          <p:nvPr/>
        </p:nvSpPr>
        <p:spPr>
          <a:xfrm>
            <a:off x="-2057400" y="2990314"/>
            <a:ext cx="8229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effectLst/>
                <a:latin typeface="Helvetica Neue" panose="02000503000000020004" pitchFamily="2" charset="0"/>
              </a:rPr>
              <a:t>Need a reference </a:t>
            </a:r>
          </a:p>
          <a:p>
            <a:endParaRPr lang="fr-CA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LLM-derived Metrics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3400" y="1267439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 err="1">
                <a:latin typeface="Helvetica Neue" panose="02000503000000020004" pitchFamily="2" charset="0"/>
              </a:rPr>
              <a:t>Probablity</a:t>
            </a:r>
            <a:r>
              <a:rPr lang="en-GB" sz="3200" dirty="0">
                <a:effectLst/>
                <a:latin typeface="Helvetica Neue" panose="02000503000000020004" pitchFamily="2" charset="0"/>
              </a:rPr>
              <a:t>-based Metrics</a:t>
            </a:r>
          </a:p>
          <a:p>
            <a:endParaRPr lang="fr-CA" sz="3200" dirty="0"/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EA1879-1539-56D9-42CC-EB6AE3EF87F4}"/>
              </a:ext>
            </a:extLst>
          </p:cNvPr>
          <p:cNvSpPr txBox="1"/>
          <p:nvPr/>
        </p:nvSpPr>
        <p:spPr>
          <a:xfrm>
            <a:off x="-1752600" y="2323345"/>
            <a:ext cx="8229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effectLst/>
                <a:latin typeface="Helvetica Neue" panose="02000503000000020004" pitchFamily="2" charset="0"/>
              </a:rPr>
              <a:t>Example : </a:t>
            </a:r>
            <a:r>
              <a:rPr lang="en-GB" sz="2400" dirty="0" err="1">
                <a:effectLst/>
                <a:latin typeface="Helvetica Neue" panose="02000503000000020004" pitchFamily="2" charset="0"/>
              </a:rPr>
              <a:t>BARTScore</a:t>
            </a:r>
            <a:endParaRPr lang="en-GB" sz="2400" dirty="0">
              <a:effectLst/>
              <a:latin typeface="Helvetica Neue" panose="02000503000000020004" pitchFamily="2" charset="0"/>
            </a:endParaRPr>
          </a:p>
          <a:p>
            <a:endParaRPr lang="fr-CA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338174-2607-6E48-A9F0-8ED78817DF85}"/>
              </a:ext>
            </a:extLst>
          </p:cNvPr>
          <p:cNvSpPr txBox="1"/>
          <p:nvPr/>
        </p:nvSpPr>
        <p:spPr>
          <a:xfrm>
            <a:off x="166577" y="2999897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Look at how likely a model is to generate the given text.</a:t>
            </a:r>
            <a:endParaRPr lang="fr-CA" sz="3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258E51-72A2-F935-49DD-12C57691DF7E}"/>
              </a:ext>
            </a:extLst>
          </p:cNvPr>
          <p:cNvSpPr txBox="1"/>
          <p:nvPr/>
        </p:nvSpPr>
        <p:spPr>
          <a:xfrm>
            <a:off x="838200" y="3614303"/>
            <a:ext cx="670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/>
              <a:t>There are appliation in </a:t>
            </a:r>
            <a:r>
              <a:rPr lang="en-GB" sz="2400" dirty="0"/>
              <a:t>Hallucination Detection</a:t>
            </a:r>
            <a:endParaRPr lang="en-FR" sz="2400" dirty="0"/>
          </a:p>
        </p:txBody>
      </p:sp>
    </p:spTree>
    <p:extLst>
      <p:ext uri="{BB962C8B-B14F-4D97-AF65-F5344CB8AC3E}">
        <p14:creationId xmlns:p14="http://schemas.microsoft.com/office/powerpoint/2010/main" val="90747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LLM-derived Metrics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3400" y="1267439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i="1" dirty="0">
                <a:latin typeface="Helvetica Neue" panose="02000503000000020004" pitchFamily="2" charset="0"/>
              </a:rPr>
              <a:t>Pros</a:t>
            </a:r>
            <a:r>
              <a:rPr lang="en-GB" sz="3200" dirty="0">
                <a:latin typeface="Helvetica Neue" panose="02000503000000020004" pitchFamily="2" charset="0"/>
              </a:rPr>
              <a:t> &amp; </a:t>
            </a:r>
            <a:r>
              <a:rPr lang="en-GB" sz="3200" u="sng" dirty="0">
                <a:latin typeface="Helvetica Neue" panose="02000503000000020004" pitchFamily="2" charset="0"/>
              </a:rPr>
              <a:t>Cons</a:t>
            </a:r>
            <a:endParaRPr lang="en-GB" sz="3200" u="sng" dirty="0">
              <a:effectLst/>
              <a:latin typeface="Helvetica Neue" panose="02000503000000020004" pitchFamily="2" charset="0"/>
            </a:endParaRPr>
          </a:p>
          <a:p>
            <a:endParaRPr lang="fr-CA" sz="3200" dirty="0"/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EA1879-1539-56D9-42CC-EB6AE3EF87F4}"/>
              </a:ext>
            </a:extLst>
          </p:cNvPr>
          <p:cNvSpPr txBox="1"/>
          <p:nvPr/>
        </p:nvSpPr>
        <p:spPr>
          <a:xfrm>
            <a:off x="-762000" y="2350151"/>
            <a:ext cx="8229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i="1" dirty="0">
                <a:effectLst/>
                <a:latin typeface="Helvetica Neue" panose="02000503000000020004" pitchFamily="2" charset="0"/>
              </a:rPr>
              <a:t>Strong correlation with human judgement</a:t>
            </a:r>
          </a:p>
          <a:p>
            <a:endParaRPr lang="fr-CA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ACF1DD-F23D-9500-4EED-DDD8D9E73C62}"/>
              </a:ext>
            </a:extLst>
          </p:cNvPr>
          <p:cNvSpPr txBox="1"/>
          <p:nvPr/>
        </p:nvSpPr>
        <p:spPr>
          <a:xfrm>
            <a:off x="1297172" y="38808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C8E422-8AC5-0A35-05F6-5D8F6AA6B6FC}"/>
              </a:ext>
            </a:extLst>
          </p:cNvPr>
          <p:cNvSpPr txBox="1"/>
          <p:nvPr/>
        </p:nvSpPr>
        <p:spPr>
          <a:xfrm>
            <a:off x="431700" y="3035685"/>
            <a:ext cx="2489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u="sng" dirty="0"/>
              <a:t>Lack of robustness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ACC094-F352-13A5-3739-59F255927148}"/>
              </a:ext>
            </a:extLst>
          </p:cNvPr>
          <p:cNvSpPr txBox="1"/>
          <p:nvPr/>
        </p:nvSpPr>
        <p:spPr>
          <a:xfrm>
            <a:off x="431700" y="3679823"/>
            <a:ext cx="7643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u="sng" dirty="0"/>
              <a:t>Time consuming and require more computational resources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7D747E-4541-BE62-7480-755BCEAA0799}"/>
              </a:ext>
            </a:extLst>
          </p:cNvPr>
          <p:cNvSpPr txBox="1"/>
          <p:nvPr/>
        </p:nvSpPr>
        <p:spPr>
          <a:xfrm>
            <a:off x="431700" y="4306650"/>
            <a:ext cx="47588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u="sng" dirty="0"/>
              <a:t>More biased than traditional metrics</a:t>
            </a:r>
          </a:p>
        </p:txBody>
      </p:sp>
    </p:spTree>
    <p:extLst>
      <p:ext uri="{BB962C8B-B14F-4D97-AF65-F5344CB8AC3E}">
        <p14:creationId xmlns:p14="http://schemas.microsoft.com/office/powerpoint/2010/main" val="996785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Prompting LLMs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7070" y="1246127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effectLst/>
                <a:latin typeface="Helvetica Neue" panose="02000503000000020004" pitchFamily="2" charset="0"/>
              </a:rPr>
              <a:t>Evaluation Methods</a:t>
            </a:r>
          </a:p>
          <a:p>
            <a:endParaRPr lang="fr-CA" sz="3200" dirty="0"/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EA1879-1539-56D9-42CC-EB6AE3EF87F4}"/>
              </a:ext>
            </a:extLst>
          </p:cNvPr>
          <p:cNvSpPr txBox="1"/>
          <p:nvPr/>
        </p:nvSpPr>
        <p:spPr>
          <a:xfrm>
            <a:off x="347330" y="2296895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dirty="0" err="1"/>
              <a:t>Scoring</a:t>
            </a:r>
            <a:r>
              <a:rPr lang="fr-CA" sz="3200" dirty="0"/>
              <a:t> </a:t>
            </a:r>
            <a:r>
              <a:rPr lang="fr-CA" sz="3200" dirty="0" err="1"/>
              <a:t>using</a:t>
            </a:r>
            <a:r>
              <a:rPr lang="fr-CA" sz="3200" dirty="0"/>
              <a:t> a Likert </a:t>
            </a:r>
            <a:r>
              <a:rPr lang="fr-CA" sz="3200" dirty="0" err="1"/>
              <a:t>scale</a:t>
            </a:r>
            <a:r>
              <a:rPr lang="fr-CA" sz="3200" dirty="0"/>
              <a:t> </a:t>
            </a:r>
            <a:r>
              <a:rPr lang="fr-CA" sz="3200" dirty="0" err="1"/>
              <a:t>from</a:t>
            </a:r>
            <a:r>
              <a:rPr lang="fr-CA" sz="3200" dirty="0"/>
              <a:t> 1 to 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9AD5B9-E527-44BF-4CBB-063A5EB450A0}"/>
              </a:ext>
            </a:extLst>
          </p:cNvPr>
          <p:cNvSpPr txBox="1"/>
          <p:nvPr/>
        </p:nvSpPr>
        <p:spPr>
          <a:xfrm>
            <a:off x="347330" y="2932709"/>
            <a:ext cx="90252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dirty="0" err="1"/>
              <a:t>Pairwise</a:t>
            </a:r>
            <a:r>
              <a:rPr lang="fr-CA" sz="3200" dirty="0"/>
              <a:t> </a:t>
            </a:r>
            <a:r>
              <a:rPr lang="fr-CA" sz="3200" dirty="0" err="1"/>
              <a:t>comparison</a:t>
            </a:r>
            <a:r>
              <a:rPr lang="fr-CA" sz="3200" dirty="0"/>
              <a:t> (</a:t>
            </a:r>
            <a:r>
              <a:rPr lang="fr-CA" sz="3200" dirty="0" err="1"/>
              <a:t>better</a:t>
            </a:r>
            <a:r>
              <a:rPr lang="fr-CA" sz="3200" dirty="0"/>
              <a:t> for medium </a:t>
            </a:r>
            <a:r>
              <a:rPr lang="fr-CA" sz="3200" dirty="0" err="1"/>
              <a:t>sized</a:t>
            </a:r>
            <a:r>
              <a:rPr lang="fr-CA" sz="3200" dirty="0"/>
              <a:t> </a:t>
            </a:r>
            <a:r>
              <a:rPr lang="fr-CA" sz="3200" dirty="0" err="1"/>
              <a:t>LLMs</a:t>
            </a:r>
            <a:r>
              <a:rPr lang="fr-CA" sz="3200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8E2CFB-C685-F9E5-6C74-CCC4EFAD7443}"/>
              </a:ext>
            </a:extLst>
          </p:cNvPr>
          <p:cNvSpPr txBox="1"/>
          <p:nvPr/>
        </p:nvSpPr>
        <p:spPr>
          <a:xfrm>
            <a:off x="347330" y="3491034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dirty="0"/>
              <a:t>List-</a:t>
            </a:r>
            <a:r>
              <a:rPr lang="fr-CA" sz="3200" dirty="0" err="1"/>
              <a:t>wise</a:t>
            </a:r>
            <a:r>
              <a:rPr lang="fr-CA" sz="3200" dirty="0"/>
              <a:t> </a:t>
            </a:r>
            <a:r>
              <a:rPr lang="fr-CA" sz="3200" dirty="0" err="1"/>
              <a:t>ranking</a:t>
            </a:r>
            <a:endParaRPr lang="fr-CA" sz="3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7FD775-1A2D-2BB8-AEB1-B16464F1434F}"/>
              </a:ext>
            </a:extLst>
          </p:cNvPr>
          <p:cNvSpPr txBox="1"/>
          <p:nvPr/>
        </p:nvSpPr>
        <p:spPr>
          <a:xfrm>
            <a:off x="347330" y="4087952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dirty="0"/>
              <a:t>Boolean Q&amp;A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BFD490-7C3F-9B92-0A1D-94B088AD7900}"/>
              </a:ext>
            </a:extLst>
          </p:cNvPr>
          <p:cNvSpPr txBox="1"/>
          <p:nvPr/>
        </p:nvSpPr>
        <p:spPr>
          <a:xfrm>
            <a:off x="351760" y="4672727"/>
            <a:ext cx="9325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dirty="0" err="1"/>
              <a:t>Error</a:t>
            </a:r>
            <a:r>
              <a:rPr lang="fr-CA" sz="3200" dirty="0"/>
              <a:t> </a:t>
            </a:r>
            <a:r>
              <a:rPr lang="fr-CA" sz="3200" dirty="0" err="1"/>
              <a:t>Analysis</a:t>
            </a:r>
            <a:r>
              <a:rPr lang="fr-CA" sz="3200" dirty="0"/>
              <a:t> </a:t>
            </a:r>
            <a:r>
              <a:rPr lang="fr-CA" sz="3200" dirty="0" err="1"/>
              <a:t>based</a:t>
            </a:r>
            <a:r>
              <a:rPr lang="fr-CA" sz="3200" dirty="0"/>
              <a:t> on </a:t>
            </a:r>
            <a:r>
              <a:rPr lang="fr-CA" sz="3200" dirty="0" err="1"/>
              <a:t>predefined</a:t>
            </a:r>
            <a:r>
              <a:rPr lang="fr-CA" sz="3200" dirty="0"/>
              <a:t> </a:t>
            </a:r>
            <a:r>
              <a:rPr lang="fr-CA" sz="3200" dirty="0" err="1"/>
              <a:t>error</a:t>
            </a:r>
            <a:r>
              <a:rPr lang="fr-CA" sz="3200" dirty="0"/>
              <a:t> </a:t>
            </a:r>
            <a:r>
              <a:rPr lang="fr-CA" sz="3200" dirty="0" err="1"/>
              <a:t>categories</a:t>
            </a:r>
            <a:endParaRPr lang="fr-CA" sz="3200" dirty="0"/>
          </a:p>
        </p:txBody>
      </p:sp>
    </p:spTree>
    <p:extLst>
      <p:ext uri="{BB962C8B-B14F-4D97-AF65-F5344CB8AC3E}">
        <p14:creationId xmlns:p14="http://schemas.microsoft.com/office/powerpoint/2010/main" val="3488226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Prompting LLMs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7070" y="1246127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effectLst/>
                <a:latin typeface="Helvetica Neue" panose="02000503000000020004" pitchFamily="2" charset="0"/>
              </a:rPr>
              <a:t>Task Instructions</a:t>
            </a:r>
          </a:p>
          <a:p>
            <a:endParaRPr lang="fr-CA" sz="3200" dirty="0"/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BFD490-7C3F-9B92-0A1D-94B088AD7900}"/>
              </a:ext>
            </a:extLst>
          </p:cNvPr>
          <p:cNvSpPr txBox="1"/>
          <p:nvPr/>
        </p:nvSpPr>
        <p:spPr>
          <a:xfrm>
            <a:off x="432607" y="2094479"/>
            <a:ext cx="76445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dirty="0" err="1"/>
              <a:t>Form</a:t>
            </a:r>
            <a:r>
              <a:rPr lang="fr-CA" sz="3200" dirty="0"/>
              <a:t> and </a:t>
            </a:r>
            <a:r>
              <a:rPr lang="fr-CA" sz="3200" dirty="0" err="1"/>
              <a:t>requirements</a:t>
            </a:r>
            <a:r>
              <a:rPr lang="fr-CA" sz="3200" dirty="0"/>
              <a:t> :  </a:t>
            </a:r>
            <a:r>
              <a:rPr lang="fr-CA" sz="3200" dirty="0" err="1"/>
              <a:t>different</a:t>
            </a:r>
            <a:r>
              <a:rPr lang="fr-CA" sz="3200" dirty="0"/>
              <a:t> </a:t>
            </a:r>
            <a:r>
              <a:rPr lang="fr-CA" sz="3200" dirty="0" err="1"/>
              <a:t>templates</a:t>
            </a:r>
            <a:r>
              <a:rPr lang="fr-CA" sz="3200" dirty="0"/>
              <a:t> &amp; </a:t>
            </a:r>
            <a:r>
              <a:rPr lang="fr-CA" sz="3200" dirty="0" err="1"/>
              <a:t>lengths</a:t>
            </a:r>
            <a:endParaRPr lang="fr-CA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FC087D-C2E8-06AB-F374-95CE071DCA65}"/>
              </a:ext>
            </a:extLst>
          </p:cNvPr>
          <p:cNvSpPr txBox="1"/>
          <p:nvPr/>
        </p:nvSpPr>
        <p:spPr>
          <a:xfrm>
            <a:off x="394547" y="3275456"/>
            <a:ext cx="93256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dirty="0" err="1"/>
              <a:t>Asking</a:t>
            </a:r>
            <a:r>
              <a:rPr lang="fr-CA" sz="3200" dirty="0"/>
              <a:t> for </a:t>
            </a:r>
            <a:r>
              <a:rPr lang="fr-CA" sz="3200" dirty="0" err="1"/>
              <a:t>analysis</a:t>
            </a:r>
            <a:r>
              <a:rPr lang="fr-CA" sz="3200" dirty="0"/>
              <a:t> and </a:t>
            </a:r>
            <a:r>
              <a:rPr lang="fr-CA" sz="3200" dirty="0" err="1"/>
              <a:t>explanations</a:t>
            </a:r>
            <a:r>
              <a:rPr lang="fr-CA" sz="3200" dirty="0"/>
              <a:t> : </a:t>
            </a:r>
            <a:r>
              <a:rPr lang="fr-CA" sz="3200" dirty="0" err="1"/>
              <a:t>higher</a:t>
            </a:r>
            <a:r>
              <a:rPr lang="fr-CA" sz="3200" dirty="0"/>
              <a:t> </a:t>
            </a:r>
            <a:r>
              <a:rPr lang="fr-CA" sz="3200" dirty="0" err="1"/>
              <a:t>correlation</a:t>
            </a:r>
            <a:r>
              <a:rPr lang="fr-CA" sz="3200" dirty="0"/>
              <a:t> </a:t>
            </a:r>
            <a:r>
              <a:rPr lang="fr-CA" sz="3200" dirty="0" err="1"/>
              <a:t>with</a:t>
            </a:r>
            <a:r>
              <a:rPr lang="fr-CA" sz="3200" dirty="0"/>
              <a:t> </a:t>
            </a:r>
            <a:r>
              <a:rPr lang="fr-CA" sz="3200" dirty="0" err="1"/>
              <a:t>human</a:t>
            </a:r>
            <a:r>
              <a:rPr lang="fr-CA" sz="3200" dirty="0"/>
              <a:t> </a:t>
            </a:r>
            <a:r>
              <a:rPr lang="fr-CA" sz="3200" dirty="0" err="1"/>
              <a:t>judgment</a:t>
            </a:r>
            <a:endParaRPr lang="fr-CA" sz="3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F379AB-35B7-0A8B-D2A2-180384451782}"/>
              </a:ext>
            </a:extLst>
          </p:cNvPr>
          <p:cNvSpPr txBox="1"/>
          <p:nvPr/>
        </p:nvSpPr>
        <p:spPr>
          <a:xfrm>
            <a:off x="429989" y="4465674"/>
            <a:ext cx="81806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dirty="0"/>
              <a:t>In </a:t>
            </a:r>
            <a:r>
              <a:rPr lang="fr-CA" sz="3200" dirty="0" err="1"/>
              <a:t>context</a:t>
            </a:r>
            <a:r>
              <a:rPr lang="fr-CA" sz="3200" dirty="0"/>
              <a:t> </a:t>
            </a:r>
            <a:r>
              <a:rPr lang="fr-CA" sz="3200" dirty="0" err="1"/>
              <a:t>examples</a:t>
            </a:r>
            <a:r>
              <a:rPr lang="fr-CA" sz="3200" dirty="0"/>
              <a:t> : simple one shot </a:t>
            </a:r>
            <a:r>
              <a:rPr lang="fr-CA" sz="3200" dirty="0" err="1"/>
              <a:t>doesn’t</a:t>
            </a:r>
            <a:r>
              <a:rPr lang="fr-CA" sz="3200" dirty="0"/>
              <a:t> </a:t>
            </a:r>
            <a:r>
              <a:rPr lang="fr-CA" sz="3200" dirty="0" err="1"/>
              <a:t>improve</a:t>
            </a:r>
            <a:r>
              <a:rPr lang="fr-CA" sz="3200" dirty="0"/>
              <a:t> the performance </a:t>
            </a:r>
            <a:r>
              <a:rPr lang="fr-CA" sz="3200" dirty="0" err="1"/>
              <a:t>while</a:t>
            </a:r>
            <a:r>
              <a:rPr lang="fr-CA" sz="3200" dirty="0"/>
              <a:t> </a:t>
            </a:r>
            <a:r>
              <a:rPr lang="fr-CA" sz="3200" dirty="0" err="1"/>
              <a:t>iterative</a:t>
            </a:r>
            <a:r>
              <a:rPr lang="fr-CA" sz="3200" dirty="0"/>
              <a:t> </a:t>
            </a:r>
            <a:r>
              <a:rPr lang="fr-CA" sz="3200" dirty="0" err="1"/>
              <a:t>updated</a:t>
            </a:r>
            <a:r>
              <a:rPr lang="fr-CA" sz="3200" dirty="0"/>
              <a:t> </a:t>
            </a:r>
            <a:r>
              <a:rPr lang="fr-CA" sz="3200" dirty="0" err="1"/>
              <a:t>example</a:t>
            </a:r>
            <a:r>
              <a:rPr lang="fr-CA" sz="3200" dirty="0"/>
              <a:t> </a:t>
            </a:r>
            <a:r>
              <a:rPr lang="fr-CA" sz="3200" dirty="0" err="1"/>
              <a:t>does</a:t>
            </a:r>
            <a:endParaRPr lang="fr-CA" sz="3200" dirty="0"/>
          </a:p>
        </p:txBody>
      </p:sp>
    </p:spTree>
    <p:extLst>
      <p:ext uri="{BB962C8B-B14F-4D97-AF65-F5344CB8AC3E}">
        <p14:creationId xmlns:p14="http://schemas.microsoft.com/office/powerpoint/2010/main" val="2085273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Prompting LLMs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7070" y="1246127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effectLst/>
                <a:latin typeface="Helvetica Neue" panose="02000503000000020004" pitchFamily="2" charset="0"/>
              </a:rPr>
              <a:t>Input content</a:t>
            </a:r>
          </a:p>
          <a:p>
            <a:endParaRPr lang="fr-CA" sz="3200" dirty="0"/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BFD490-7C3F-9B92-0A1D-94B088AD7900}"/>
              </a:ext>
            </a:extLst>
          </p:cNvPr>
          <p:cNvSpPr txBox="1"/>
          <p:nvPr/>
        </p:nvSpPr>
        <p:spPr>
          <a:xfrm>
            <a:off x="432607" y="2094479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dirty="0"/>
              <a:t>For certain </a:t>
            </a:r>
            <a:r>
              <a:rPr lang="fr-CA" sz="3200" dirty="0" err="1"/>
              <a:t>evaluations</a:t>
            </a:r>
            <a:r>
              <a:rPr lang="fr-CA" sz="3200" dirty="0"/>
              <a:t> like </a:t>
            </a:r>
            <a:r>
              <a:rPr lang="fr-CA" sz="3200" dirty="0" err="1"/>
              <a:t>faithulness</a:t>
            </a:r>
            <a:r>
              <a:rPr lang="fr-CA" sz="3200" dirty="0"/>
              <a:t>, the source document </a:t>
            </a:r>
            <a:r>
              <a:rPr lang="fr-CA" sz="3200" dirty="0" err="1"/>
              <a:t>is</a:t>
            </a:r>
            <a:r>
              <a:rPr lang="fr-CA" sz="3200" dirty="0"/>
              <a:t> </a:t>
            </a:r>
            <a:r>
              <a:rPr lang="fr-CA" sz="3200" dirty="0" err="1"/>
              <a:t>needed</a:t>
            </a:r>
            <a:r>
              <a:rPr lang="fr-CA" sz="3200" dirty="0"/>
              <a:t> as </a:t>
            </a:r>
            <a:r>
              <a:rPr lang="fr-CA" sz="3200" dirty="0" err="1"/>
              <a:t>well</a:t>
            </a:r>
            <a:r>
              <a:rPr lang="fr-CA" sz="3200" dirty="0"/>
              <a:t> as the </a:t>
            </a:r>
            <a:r>
              <a:rPr lang="fr-CA" sz="3200" dirty="0" err="1"/>
              <a:t>target</a:t>
            </a:r>
            <a:endParaRPr lang="fr-CA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66040D-F55F-0BF9-A569-D72822AAAF4A}"/>
              </a:ext>
            </a:extLst>
          </p:cNvPr>
          <p:cNvSpPr txBox="1"/>
          <p:nvPr/>
        </p:nvSpPr>
        <p:spPr>
          <a:xfrm>
            <a:off x="432607" y="3305376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dirty="0" err="1"/>
              <a:t>Some</a:t>
            </a:r>
            <a:r>
              <a:rPr lang="fr-CA" sz="3200" dirty="0"/>
              <a:t> </a:t>
            </a:r>
            <a:r>
              <a:rPr lang="fr-CA" sz="3200" dirty="0" err="1"/>
              <a:t>references</a:t>
            </a:r>
            <a:r>
              <a:rPr lang="fr-CA" sz="3200" dirty="0"/>
              <a:t> can </a:t>
            </a:r>
            <a:r>
              <a:rPr lang="fr-CA" sz="3200" dirty="0" err="1"/>
              <a:t>be</a:t>
            </a:r>
            <a:r>
              <a:rPr lang="fr-CA" sz="3200" dirty="0"/>
              <a:t> </a:t>
            </a:r>
            <a:r>
              <a:rPr lang="fr-CA" sz="3200" dirty="0" err="1"/>
              <a:t>provided</a:t>
            </a:r>
            <a:endParaRPr lang="fr-CA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C2F44E-7499-9926-88BB-60AC35B17462}"/>
              </a:ext>
            </a:extLst>
          </p:cNvPr>
          <p:cNvSpPr txBox="1"/>
          <p:nvPr/>
        </p:nvSpPr>
        <p:spPr>
          <a:xfrm>
            <a:off x="447267" y="4050176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dirty="0" err="1"/>
              <a:t>Some</a:t>
            </a:r>
            <a:r>
              <a:rPr lang="fr-CA" sz="3200" dirty="0"/>
              <a:t> </a:t>
            </a:r>
            <a:r>
              <a:rPr lang="fr-CA" sz="3200" dirty="0" err="1"/>
              <a:t>context</a:t>
            </a:r>
            <a:r>
              <a:rPr lang="fr-CA" sz="3200" dirty="0"/>
              <a:t> and relevant </a:t>
            </a:r>
            <a:r>
              <a:rPr lang="fr-CA" sz="3200" dirty="0" err="1"/>
              <a:t>facts</a:t>
            </a:r>
            <a:r>
              <a:rPr lang="fr-CA" sz="3200" dirty="0"/>
              <a:t> can </a:t>
            </a:r>
            <a:r>
              <a:rPr lang="fr-CA" sz="3200" dirty="0" err="1"/>
              <a:t>be</a:t>
            </a:r>
            <a:r>
              <a:rPr lang="fr-CA" sz="3200" dirty="0"/>
              <a:t> </a:t>
            </a:r>
            <a:r>
              <a:rPr lang="fr-CA" sz="3200" dirty="0" err="1"/>
              <a:t>provided</a:t>
            </a:r>
            <a:endParaRPr lang="fr-CA" sz="3200" dirty="0"/>
          </a:p>
        </p:txBody>
      </p:sp>
    </p:spTree>
    <p:extLst>
      <p:ext uri="{BB962C8B-B14F-4D97-AF65-F5344CB8AC3E}">
        <p14:creationId xmlns:p14="http://schemas.microsoft.com/office/powerpoint/2010/main" val="2817593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Prompting LLMs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7070" y="1246127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effectLst/>
                <a:latin typeface="Helvetica Neue" panose="02000503000000020004" pitchFamily="2" charset="0"/>
              </a:rPr>
              <a:t>Evaluation criteria</a:t>
            </a:r>
          </a:p>
          <a:p>
            <a:endParaRPr lang="fr-CA" sz="3200" dirty="0"/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BFD490-7C3F-9B92-0A1D-94B088AD7900}"/>
              </a:ext>
            </a:extLst>
          </p:cNvPr>
          <p:cNvSpPr txBox="1"/>
          <p:nvPr/>
        </p:nvSpPr>
        <p:spPr>
          <a:xfrm>
            <a:off x="432607" y="2094479"/>
            <a:ext cx="82296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dirty="0" err="1"/>
              <a:t>Purely</a:t>
            </a:r>
            <a:r>
              <a:rPr lang="fr-CA" sz="3200" dirty="0"/>
              <a:t> </a:t>
            </a:r>
            <a:r>
              <a:rPr lang="fr-CA" sz="3200" dirty="0" err="1"/>
              <a:t>human</a:t>
            </a:r>
            <a:r>
              <a:rPr lang="fr-CA" sz="3200" dirty="0"/>
              <a:t> </a:t>
            </a:r>
            <a:r>
              <a:rPr lang="fr-CA" sz="3200" dirty="0" err="1"/>
              <a:t>criterias</a:t>
            </a:r>
            <a:endParaRPr lang="fr-CA" sz="3200" dirty="0"/>
          </a:p>
          <a:p>
            <a:endParaRPr lang="fr-CA" sz="3200" dirty="0"/>
          </a:p>
          <a:p>
            <a:r>
              <a:rPr lang="fr-CA" sz="3200" dirty="0" err="1"/>
              <a:t>Sees</a:t>
            </a:r>
            <a:r>
              <a:rPr lang="fr-CA" sz="3200" dirty="0"/>
              <a:t> of </a:t>
            </a:r>
            <a:r>
              <a:rPr lang="fr-CA" sz="3200" dirty="0" err="1"/>
              <a:t>human</a:t>
            </a:r>
            <a:r>
              <a:rPr lang="fr-CA" sz="3200" dirty="0"/>
              <a:t> </a:t>
            </a:r>
            <a:r>
              <a:rPr lang="fr-CA" sz="3200" dirty="0" err="1"/>
              <a:t>criterias</a:t>
            </a:r>
            <a:r>
              <a:rPr lang="fr-CA" sz="3200" dirty="0"/>
              <a:t> and let the LLM </a:t>
            </a:r>
            <a:r>
              <a:rPr lang="fr-CA" sz="3200" dirty="0" err="1"/>
              <a:t>create</a:t>
            </a:r>
            <a:r>
              <a:rPr lang="fr-CA" sz="3200" dirty="0"/>
              <a:t> </a:t>
            </a:r>
            <a:r>
              <a:rPr lang="fr-CA" sz="3200" dirty="0" err="1"/>
              <a:t>its</a:t>
            </a:r>
            <a:r>
              <a:rPr lang="fr-CA" sz="3200" dirty="0"/>
              <a:t> </a:t>
            </a:r>
            <a:r>
              <a:rPr lang="fr-CA" sz="3200" dirty="0" err="1"/>
              <a:t>own</a:t>
            </a:r>
            <a:endParaRPr lang="fr-CA" sz="3200" dirty="0"/>
          </a:p>
          <a:p>
            <a:endParaRPr lang="fr-CA" sz="3200" dirty="0"/>
          </a:p>
          <a:p>
            <a:r>
              <a:rPr lang="fr-CA" sz="3200" dirty="0" err="1"/>
              <a:t>Using</a:t>
            </a:r>
            <a:r>
              <a:rPr lang="fr-CA" sz="3200" dirty="0"/>
              <a:t> </a:t>
            </a:r>
            <a:r>
              <a:rPr lang="fr-CA" sz="3200" dirty="0" err="1"/>
              <a:t>subcategories</a:t>
            </a:r>
            <a:endParaRPr lang="fr-CA" sz="3200" dirty="0"/>
          </a:p>
          <a:p>
            <a:endParaRPr lang="fr-CA" sz="3200" dirty="0"/>
          </a:p>
          <a:p>
            <a:r>
              <a:rPr lang="fr-CA" sz="3200" dirty="0" err="1"/>
              <a:t>Using</a:t>
            </a:r>
            <a:r>
              <a:rPr lang="fr-CA" sz="3200" dirty="0"/>
              <a:t> </a:t>
            </a:r>
            <a:r>
              <a:rPr lang="fr-CA" sz="3200" dirty="0" err="1"/>
              <a:t>chain</a:t>
            </a:r>
            <a:r>
              <a:rPr lang="fr-CA" sz="3200" dirty="0"/>
              <a:t> of aspects</a:t>
            </a:r>
          </a:p>
        </p:txBody>
      </p:sp>
    </p:spTree>
    <p:extLst>
      <p:ext uri="{BB962C8B-B14F-4D97-AF65-F5344CB8AC3E}">
        <p14:creationId xmlns:p14="http://schemas.microsoft.com/office/powerpoint/2010/main" val="3048166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Prompting LLMs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7070" y="1246127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effectLst/>
                <a:latin typeface="Helvetica Neue" panose="02000503000000020004" pitchFamily="2" charset="0"/>
              </a:rPr>
              <a:t>Role &amp; Interaction</a:t>
            </a:r>
          </a:p>
          <a:p>
            <a:endParaRPr lang="fr-CA" sz="3200" dirty="0"/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BFD490-7C3F-9B92-0A1D-94B088AD7900}"/>
              </a:ext>
            </a:extLst>
          </p:cNvPr>
          <p:cNvSpPr txBox="1"/>
          <p:nvPr/>
        </p:nvSpPr>
        <p:spPr>
          <a:xfrm>
            <a:off x="432606" y="2094479"/>
            <a:ext cx="863519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dirty="0"/>
              <a:t>Chain style interaction : </a:t>
            </a:r>
            <a:r>
              <a:rPr lang="fr-CA" sz="3200" dirty="0" err="1"/>
              <a:t>analysis</a:t>
            </a:r>
            <a:r>
              <a:rPr lang="fr-CA" sz="3200" dirty="0"/>
              <a:t>, </a:t>
            </a:r>
            <a:r>
              <a:rPr lang="fr-CA" sz="3200" dirty="0" err="1"/>
              <a:t>ranking</a:t>
            </a:r>
            <a:r>
              <a:rPr lang="fr-CA" sz="3200" dirty="0"/>
              <a:t> &amp; </a:t>
            </a:r>
            <a:r>
              <a:rPr lang="fr-CA" sz="3200" dirty="0" err="1"/>
              <a:t>scoring</a:t>
            </a:r>
            <a:endParaRPr lang="fr-CA" sz="3200" dirty="0"/>
          </a:p>
          <a:p>
            <a:endParaRPr lang="fr-CA" sz="3200" dirty="0"/>
          </a:p>
          <a:p>
            <a:r>
              <a:rPr lang="fr-CA" sz="3200" dirty="0"/>
              <a:t>First stage of </a:t>
            </a:r>
            <a:r>
              <a:rPr lang="fr-CA" sz="3200" dirty="0" err="1"/>
              <a:t>event</a:t>
            </a:r>
            <a:r>
              <a:rPr lang="fr-CA" sz="3200" dirty="0"/>
              <a:t> </a:t>
            </a:r>
            <a:r>
              <a:rPr lang="fr-CA" sz="3200" dirty="0" err="1"/>
              <a:t>units</a:t>
            </a:r>
            <a:r>
              <a:rPr lang="fr-CA" sz="3200" dirty="0"/>
              <a:t> or questions </a:t>
            </a:r>
            <a:r>
              <a:rPr lang="fr-CA" sz="3200" dirty="0" err="1"/>
              <a:t>from</a:t>
            </a:r>
            <a:r>
              <a:rPr lang="fr-CA" sz="3200" dirty="0"/>
              <a:t> the </a:t>
            </a:r>
            <a:r>
              <a:rPr lang="fr-CA" sz="3200" dirty="0" err="1"/>
              <a:t>target</a:t>
            </a:r>
            <a:r>
              <a:rPr lang="fr-CA" sz="3200" dirty="0"/>
              <a:t>, </a:t>
            </a:r>
            <a:r>
              <a:rPr lang="fr-CA" sz="3200" dirty="0" err="1"/>
              <a:t>then</a:t>
            </a:r>
            <a:r>
              <a:rPr lang="fr-CA" sz="3200" dirty="0"/>
              <a:t> </a:t>
            </a:r>
            <a:r>
              <a:rPr lang="fr-CA" sz="3200" dirty="0" err="1"/>
              <a:t>answering</a:t>
            </a:r>
            <a:r>
              <a:rPr lang="fr-CA" sz="3200" dirty="0"/>
              <a:t> the questions and checking if </a:t>
            </a:r>
            <a:r>
              <a:rPr lang="fr-CA" sz="3200" dirty="0" err="1"/>
              <a:t>they</a:t>
            </a:r>
            <a:r>
              <a:rPr lang="fr-CA" sz="3200" dirty="0"/>
              <a:t> </a:t>
            </a:r>
            <a:r>
              <a:rPr lang="fr-CA" sz="3200" dirty="0" err="1"/>
              <a:t>meet</a:t>
            </a:r>
            <a:r>
              <a:rPr lang="fr-CA" sz="3200" dirty="0"/>
              <a:t> the </a:t>
            </a:r>
            <a:r>
              <a:rPr lang="fr-CA" sz="3200" dirty="0" err="1"/>
              <a:t>requirements</a:t>
            </a:r>
            <a:endParaRPr lang="fr-CA" sz="3200" dirty="0"/>
          </a:p>
        </p:txBody>
      </p:sp>
    </p:spTree>
    <p:extLst>
      <p:ext uri="{BB962C8B-B14F-4D97-AF65-F5344CB8AC3E}">
        <p14:creationId xmlns:p14="http://schemas.microsoft.com/office/powerpoint/2010/main" val="671047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Prompting LLMs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7070" y="1246127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effectLst/>
                <a:latin typeface="Helvetica Neue" panose="02000503000000020004" pitchFamily="2" charset="0"/>
              </a:rPr>
              <a:t>Role &amp; Interaction</a:t>
            </a:r>
          </a:p>
          <a:p>
            <a:endParaRPr lang="fr-CA" sz="3200" dirty="0"/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BFD490-7C3F-9B92-0A1D-94B088AD7900}"/>
              </a:ext>
            </a:extLst>
          </p:cNvPr>
          <p:cNvSpPr txBox="1"/>
          <p:nvPr/>
        </p:nvSpPr>
        <p:spPr>
          <a:xfrm>
            <a:off x="432606" y="2094479"/>
            <a:ext cx="863519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dirty="0"/>
              <a:t>Network-style interaction : </a:t>
            </a:r>
            <a:r>
              <a:rPr lang="fr-CA" sz="3200" dirty="0" err="1"/>
              <a:t>debates</a:t>
            </a:r>
            <a:r>
              <a:rPr lang="fr-CA" sz="3200" dirty="0"/>
              <a:t> </a:t>
            </a:r>
            <a:r>
              <a:rPr lang="fr-CA" sz="3200" dirty="0" err="1"/>
              <a:t>among</a:t>
            </a:r>
            <a:r>
              <a:rPr lang="fr-CA" sz="3200" dirty="0"/>
              <a:t> multiple </a:t>
            </a:r>
            <a:r>
              <a:rPr lang="fr-CA" sz="3200" dirty="0" err="1"/>
              <a:t>LLMs</a:t>
            </a:r>
            <a:r>
              <a:rPr lang="fr-CA" sz="3200" dirty="0"/>
              <a:t> </a:t>
            </a:r>
            <a:r>
              <a:rPr lang="fr-CA" sz="3200" dirty="0" err="1"/>
              <a:t>with</a:t>
            </a:r>
            <a:r>
              <a:rPr lang="fr-CA" sz="3200" dirty="0"/>
              <a:t> </a:t>
            </a:r>
            <a:r>
              <a:rPr lang="fr-CA" sz="3200" dirty="0" err="1"/>
              <a:t>different</a:t>
            </a:r>
            <a:r>
              <a:rPr lang="fr-CA" sz="3200" dirty="0"/>
              <a:t> communication </a:t>
            </a:r>
            <a:r>
              <a:rPr lang="fr-CA" sz="3200" dirty="0" err="1"/>
              <a:t>strategies</a:t>
            </a:r>
            <a:endParaRPr lang="fr-CA" sz="3200" dirty="0"/>
          </a:p>
          <a:p>
            <a:endParaRPr lang="fr-CA" sz="3200" dirty="0"/>
          </a:p>
          <a:p>
            <a:r>
              <a:rPr lang="fr-CA" sz="3200" dirty="0" err="1"/>
              <a:t>Decomposing</a:t>
            </a:r>
            <a:r>
              <a:rPr lang="fr-CA" sz="3200" dirty="0"/>
              <a:t> the </a:t>
            </a:r>
            <a:r>
              <a:rPr lang="fr-CA" sz="3200" dirty="0" err="1"/>
              <a:t>problems</a:t>
            </a:r>
            <a:r>
              <a:rPr lang="fr-CA" sz="3200" dirty="0"/>
              <a:t>, </a:t>
            </a:r>
            <a:r>
              <a:rPr lang="fr-CA" sz="3200" dirty="0" err="1"/>
              <a:t>solving</a:t>
            </a:r>
            <a:r>
              <a:rPr lang="fr-CA" sz="3200" dirty="0"/>
              <a:t> </a:t>
            </a:r>
            <a:r>
              <a:rPr lang="fr-CA" sz="3200" dirty="0" err="1"/>
              <a:t>them</a:t>
            </a:r>
            <a:r>
              <a:rPr lang="fr-CA" sz="3200" dirty="0"/>
              <a:t> and </a:t>
            </a:r>
            <a:r>
              <a:rPr lang="fr-CA" sz="3200" dirty="0" err="1"/>
              <a:t>aggregating</a:t>
            </a:r>
            <a:r>
              <a:rPr lang="fr-CA" sz="3200" dirty="0"/>
              <a:t> the </a:t>
            </a:r>
            <a:r>
              <a:rPr lang="fr-CA" sz="3200" dirty="0" err="1"/>
              <a:t>answers</a:t>
            </a:r>
            <a:endParaRPr lang="fr-CA" sz="3200" dirty="0"/>
          </a:p>
        </p:txBody>
      </p:sp>
    </p:spTree>
    <p:extLst>
      <p:ext uri="{BB962C8B-B14F-4D97-AF65-F5344CB8AC3E}">
        <p14:creationId xmlns:p14="http://schemas.microsoft.com/office/powerpoint/2010/main" val="1186693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Prompting LLMs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7070" y="1246127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effectLst/>
                <a:latin typeface="Helvetica Neue" panose="02000503000000020004" pitchFamily="2" charset="0"/>
              </a:rPr>
              <a:t>Role &amp; Interaction</a:t>
            </a:r>
          </a:p>
          <a:p>
            <a:endParaRPr lang="fr-CA" sz="3200" dirty="0"/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BFD490-7C3F-9B92-0A1D-94B088AD7900}"/>
              </a:ext>
            </a:extLst>
          </p:cNvPr>
          <p:cNvSpPr txBox="1"/>
          <p:nvPr/>
        </p:nvSpPr>
        <p:spPr>
          <a:xfrm>
            <a:off x="432606" y="2094479"/>
            <a:ext cx="863519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dirty="0" err="1"/>
              <a:t>Different</a:t>
            </a:r>
            <a:r>
              <a:rPr lang="fr-CA" sz="3200" dirty="0"/>
              <a:t> </a:t>
            </a:r>
            <a:r>
              <a:rPr lang="fr-CA" sz="3200" dirty="0" err="1"/>
              <a:t>LLMs</a:t>
            </a:r>
            <a:r>
              <a:rPr lang="fr-CA" sz="3200" dirty="0"/>
              <a:t> : Pair </a:t>
            </a:r>
            <a:r>
              <a:rPr lang="fr-CA" sz="3200" dirty="0" err="1"/>
              <a:t>wise</a:t>
            </a:r>
            <a:r>
              <a:rPr lang="fr-CA" sz="3200" dirty="0"/>
              <a:t> </a:t>
            </a:r>
            <a:r>
              <a:rPr lang="fr-CA" sz="3200" dirty="0" err="1"/>
              <a:t>comparison</a:t>
            </a:r>
            <a:r>
              <a:rPr lang="fr-CA" sz="3200" dirty="0"/>
              <a:t> and </a:t>
            </a:r>
            <a:r>
              <a:rPr lang="fr-CA" sz="3200" dirty="0" err="1"/>
              <a:t>then</a:t>
            </a:r>
            <a:r>
              <a:rPr lang="fr-CA" sz="3200" dirty="0"/>
              <a:t> discussion for the final </a:t>
            </a:r>
            <a:r>
              <a:rPr lang="fr-CA" sz="3200" dirty="0" err="1"/>
              <a:t>result</a:t>
            </a:r>
            <a:endParaRPr lang="fr-CA" sz="3200" dirty="0"/>
          </a:p>
          <a:p>
            <a:endParaRPr lang="fr-CA" sz="3200" dirty="0"/>
          </a:p>
          <a:p>
            <a:r>
              <a:rPr lang="fr-CA" sz="3200" dirty="0"/>
              <a:t>One LLM </a:t>
            </a:r>
            <a:r>
              <a:rPr lang="fr-CA" sz="3200" dirty="0" err="1"/>
              <a:t>who</a:t>
            </a:r>
            <a:r>
              <a:rPr lang="fr-CA" sz="3200" dirty="0"/>
              <a:t> </a:t>
            </a:r>
            <a:r>
              <a:rPr lang="fr-CA" sz="3200" dirty="0" err="1"/>
              <a:t>generated</a:t>
            </a:r>
            <a:r>
              <a:rPr lang="fr-CA" sz="3200" dirty="0"/>
              <a:t> the </a:t>
            </a:r>
            <a:r>
              <a:rPr lang="fr-CA" sz="3200" dirty="0" err="1"/>
              <a:t>text</a:t>
            </a:r>
            <a:r>
              <a:rPr lang="fr-CA" sz="3200" dirty="0"/>
              <a:t> </a:t>
            </a:r>
            <a:r>
              <a:rPr lang="fr-CA" sz="3200" dirty="0" err="1"/>
              <a:t>is</a:t>
            </a:r>
            <a:r>
              <a:rPr lang="fr-CA" sz="3200" dirty="0"/>
              <a:t> the </a:t>
            </a:r>
            <a:r>
              <a:rPr lang="fr-CA" sz="3200" dirty="0" err="1"/>
              <a:t>examinee</a:t>
            </a:r>
            <a:r>
              <a:rPr lang="fr-CA" sz="3200" dirty="0"/>
              <a:t> and the </a:t>
            </a:r>
            <a:r>
              <a:rPr lang="fr-CA" sz="3200" dirty="0" err="1"/>
              <a:t>other</a:t>
            </a:r>
            <a:r>
              <a:rPr lang="fr-CA" sz="3200" dirty="0"/>
              <a:t> one the examiner</a:t>
            </a:r>
          </a:p>
        </p:txBody>
      </p:sp>
    </p:spTree>
    <p:extLst>
      <p:ext uri="{BB962C8B-B14F-4D97-AF65-F5344CB8AC3E}">
        <p14:creationId xmlns:p14="http://schemas.microsoft.com/office/powerpoint/2010/main" val="3842195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Prompting LLMs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7070" y="1246127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i="1" dirty="0">
                <a:effectLst/>
                <a:latin typeface="Helvetica Neue" panose="02000503000000020004" pitchFamily="2" charset="0"/>
              </a:rPr>
              <a:t>Pros</a:t>
            </a:r>
            <a:r>
              <a:rPr lang="en-GB" sz="3200" dirty="0">
                <a:effectLst/>
                <a:latin typeface="Helvetica Neue" panose="02000503000000020004" pitchFamily="2" charset="0"/>
              </a:rPr>
              <a:t> &amp; </a:t>
            </a:r>
            <a:r>
              <a:rPr lang="en-GB" sz="3200" u="sng" dirty="0">
                <a:effectLst/>
                <a:latin typeface="Helvetica Neue" panose="02000503000000020004" pitchFamily="2" charset="0"/>
              </a:rPr>
              <a:t>Cons</a:t>
            </a:r>
          </a:p>
          <a:p>
            <a:endParaRPr lang="fr-CA" sz="3200" dirty="0"/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BFD490-7C3F-9B92-0A1D-94B088AD7900}"/>
              </a:ext>
            </a:extLst>
          </p:cNvPr>
          <p:cNvSpPr txBox="1"/>
          <p:nvPr/>
        </p:nvSpPr>
        <p:spPr>
          <a:xfrm>
            <a:off x="432606" y="2094479"/>
            <a:ext cx="863519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i="1" dirty="0" err="1"/>
              <a:t>Flexibility</a:t>
            </a:r>
            <a:r>
              <a:rPr lang="fr-CA" sz="3200" i="1" dirty="0"/>
              <a:t> in the prompt</a:t>
            </a:r>
          </a:p>
          <a:p>
            <a:r>
              <a:rPr lang="fr-CA" sz="3200" i="1" dirty="0" err="1"/>
              <a:t>Correlation</a:t>
            </a:r>
            <a:r>
              <a:rPr lang="fr-CA" sz="3200" i="1" dirty="0"/>
              <a:t> </a:t>
            </a:r>
            <a:r>
              <a:rPr lang="fr-CA" sz="3200" i="1" dirty="0" err="1"/>
              <a:t>with</a:t>
            </a:r>
            <a:r>
              <a:rPr lang="fr-CA" sz="3200" i="1" dirty="0"/>
              <a:t> </a:t>
            </a:r>
            <a:r>
              <a:rPr lang="fr-CA" sz="3200" i="1" dirty="0" err="1"/>
              <a:t>human</a:t>
            </a:r>
            <a:r>
              <a:rPr lang="fr-CA" sz="3200" i="1" dirty="0"/>
              <a:t> </a:t>
            </a:r>
            <a:r>
              <a:rPr lang="fr-CA" sz="3200" i="1" dirty="0" err="1"/>
              <a:t>jugdgment</a:t>
            </a:r>
            <a:endParaRPr lang="fr-CA" sz="3200" i="1" dirty="0"/>
          </a:p>
          <a:p>
            <a:endParaRPr lang="fr-CA" sz="3200" i="1" dirty="0"/>
          </a:p>
          <a:p>
            <a:r>
              <a:rPr lang="fr-CA" sz="3200" u="sng" dirty="0" err="1"/>
              <a:t>Biased</a:t>
            </a:r>
            <a:r>
              <a:rPr lang="fr-CA" sz="3200" u="sng" dirty="0"/>
              <a:t> : position </a:t>
            </a:r>
            <a:r>
              <a:rPr lang="fr-CA" sz="3200" u="sng" dirty="0" err="1"/>
              <a:t>bias</a:t>
            </a:r>
            <a:r>
              <a:rPr lang="fr-CA" sz="3200" u="sng" dirty="0"/>
              <a:t>, </a:t>
            </a:r>
            <a:r>
              <a:rPr lang="fr-CA" sz="3200" u="sng" dirty="0" err="1"/>
              <a:t>favor</a:t>
            </a:r>
            <a:r>
              <a:rPr lang="fr-CA" sz="3200" u="sng" dirty="0"/>
              <a:t> longer and </a:t>
            </a:r>
            <a:r>
              <a:rPr lang="fr-CA" sz="3200" u="sng" dirty="0" err="1"/>
              <a:t>verbose</a:t>
            </a:r>
            <a:r>
              <a:rPr lang="fr-CA" sz="3200" u="sng" dirty="0"/>
              <a:t> </a:t>
            </a:r>
            <a:r>
              <a:rPr lang="fr-CA" sz="3200" u="sng" dirty="0" err="1"/>
              <a:t>responses</a:t>
            </a:r>
            <a:r>
              <a:rPr lang="fr-CA" sz="3200" u="sng" dirty="0"/>
              <a:t> as </a:t>
            </a:r>
            <a:r>
              <a:rPr lang="fr-CA" sz="3200" u="sng" dirty="0" err="1"/>
              <a:t>well</a:t>
            </a:r>
            <a:r>
              <a:rPr lang="fr-CA" sz="3200" u="sng" dirty="0"/>
              <a:t> as </a:t>
            </a:r>
            <a:r>
              <a:rPr lang="fr-CA" sz="3200" u="sng" dirty="0" err="1"/>
              <a:t>responses</a:t>
            </a:r>
            <a:r>
              <a:rPr lang="fr-CA" sz="3200" u="sng" dirty="0"/>
              <a:t> </a:t>
            </a:r>
            <a:r>
              <a:rPr lang="fr-CA" sz="3200" u="sng" dirty="0" err="1"/>
              <a:t>from</a:t>
            </a:r>
            <a:r>
              <a:rPr lang="fr-CA" sz="3200" u="sng" dirty="0"/>
              <a:t> </a:t>
            </a:r>
            <a:r>
              <a:rPr lang="fr-CA" sz="3200" u="sng" dirty="0" err="1"/>
              <a:t>themselves</a:t>
            </a:r>
            <a:endParaRPr lang="fr-CA" sz="3200" u="sng" dirty="0"/>
          </a:p>
          <a:p>
            <a:endParaRPr lang="fr-CA" sz="3200" u="sng" dirty="0"/>
          </a:p>
          <a:p>
            <a:r>
              <a:rPr lang="fr-CA" sz="3200" u="sng" dirty="0" err="1"/>
              <a:t>Prefer</a:t>
            </a:r>
            <a:r>
              <a:rPr lang="fr-CA" sz="3200" u="sng" dirty="0"/>
              <a:t> </a:t>
            </a:r>
            <a:r>
              <a:rPr lang="fr-CA" sz="3200" u="sng" dirty="0" err="1"/>
              <a:t>factual</a:t>
            </a:r>
            <a:r>
              <a:rPr lang="fr-CA" sz="3200" u="sng" dirty="0"/>
              <a:t> </a:t>
            </a:r>
            <a:r>
              <a:rPr lang="fr-CA" sz="3200" u="sng" dirty="0" err="1"/>
              <a:t>errors</a:t>
            </a:r>
            <a:r>
              <a:rPr lang="fr-CA" sz="3200" u="sng" dirty="0"/>
              <a:t> </a:t>
            </a:r>
            <a:r>
              <a:rPr lang="fr-CA" sz="3200" u="sng" dirty="0" err="1"/>
              <a:t>rather</a:t>
            </a:r>
            <a:r>
              <a:rPr lang="fr-CA" sz="3200" u="sng" dirty="0"/>
              <a:t> </a:t>
            </a:r>
            <a:r>
              <a:rPr lang="fr-CA" sz="3200" u="sng" dirty="0" err="1"/>
              <a:t>than</a:t>
            </a:r>
            <a:r>
              <a:rPr lang="fr-CA" sz="3200" u="sng" dirty="0"/>
              <a:t> grammatical </a:t>
            </a:r>
            <a:r>
              <a:rPr lang="fr-CA" sz="3200" u="sng" dirty="0" err="1"/>
              <a:t>errors</a:t>
            </a:r>
            <a:endParaRPr lang="fr-CA" sz="3200" u="sng" dirty="0"/>
          </a:p>
        </p:txBody>
      </p:sp>
    </p:spTree>
    <p:extLst>
      <p:ext uri="{BB962C8B-B14F-4D97-AF65-F5344CB8AC3E}">
        <p14:creationId xmlns:p14="http://schemas.microsoft.com/office/powerpoint/2010/main" val="242052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Prompting LLMs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7070" y="1246127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i="1" dirty="0">
                <a:effectLst/>
                <a:latin typeface="Helvetica Neue" panose="02000503000000020004" pitchFamily="2" charset="0"/>
              </a:rPr>
              <a:t>Pros</a:t>
            </a:r>
            <a:r>
              <a:rPr lang="en-GB" sz="3200" dirty="0">
                <a:effectLst/>
                <a:latin typeface="Helvetica Neue" panose="02000503000000020004" pitchFamily="2" charset="0"/>
              </a:rPr>
              <a:t> &amp; </a:t>
            </a:r>
            <a:r>
              <a:rPr lang="en-GB" sz="3200" u="sng" dirty="0">
                <a:effectLst/>
                <a:latin typeface="Helvetica Neue" panose="02000503000000020004" pitchFamily="2" charset="0"/>
              </a:rPr>
              <a:t>Cons</a:t>
            </a:r>
          </a:p>
          <a:p>
            <a:endParaRPr lang="fr-CA" sz="3200" dirty="0"/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BFD490-7C3F-9B92-0A1D-94B088AD7900}"/>
              </a:ext>
            </a:extLst>
          </p:cNvPr>
          <p:cNvSpPr txBox="1"/>
          <p:nvPr/>
        </p:nvSpPr>
        <p:spPr>
          <a:xfrm>
            <a:off x="432606" y="2094479"/>
            <a:ext cx="86351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u="sng" dirty="0" err="1"/>
              <a:t>Lower</a:t>
            </a:r>
            <a:r>
              <a:rPr lang="fr-CA" sz="3200" u="sng" dirty="0"/>
              <a:t> </a:t>
            </a:r>
            <a:r>
              <a:rPr lang="fr-CA" sz="3200" u="sng" dirty="0" err="1"/>
              <a:t>correaltion</a:t>
            </a:r>
            <a:r>
              <a:rPr lang="fr-CA" sz="3200" u="sng" dirty="0"/>
              <a:t> </a:t>
            </a:r>
            <a:r>
              <a:rPr lang="fr-CA" sz="3200" u="sng" dirty="0" err="1"/>
              <a:t>with</a:t>
            </a:r>
            <a:r>
              <a:rPr lang="fr-CA" sz="3200" u="sng" dirty="0"/>
              <a:t> </a:t>
            </a:r>
            <a:r>
              <a:rPr lang="fr-CA" sz="3200" u="sng" dirty="0" err="1"/>
              <a:t>human</a:t>
            </a:r>
            <a:r>
              <a:rPr lang="fr-CA" sz="3200" u="sng" dirty="0"/>
              <a:t> </a:t>
            </a:r>
            <a:r>
              <a:rPr lang="fr-CA" sz="3200" u="sng" dirty="0" err="1"/>
              <a:t>assessments</a:t>
            </a:r>
            <a:r>
              <a:rPr lang="fr-CA" sz="3200" u="sng" dirty="0"/>
              <a:t> </a:t>
            </a:r>
            <a:r>
              <a:rPr lang="fr-CA" sz="3200" u="sng" dirty="0" err="1"/>
              <a:t>when</a:t>
            </a:r>
            <a:r>
              <a:rPr lang="fr-CA" sz="3200" u="sng" dirty="0"/>
              <a:t> </a:t>
            </a:r>
            <a:r>
              <a:rPr lang="fr-CA" sz="3200" u="sng" dirty="0" err="1"/>
              <a:t>scoring</a:t>
            </a:r>
            <a:r>
              <a:rPr lang="fr-CA" sz="3200" u="sng" dirty="0"/>
              <a:t> high </a:t>
            </a:r>
            <a:r>
              <a:rPr lang="fr-CA" sz="3200" u="sng" dirty="0" err="1"/>
              <a:t>quality</a:t>
            </a:r>
            <a:r>
              <a:rPr lang="fr-CA" sz="3200" u="sng" dirty="0"/>
              <a:t> </a:t>
            </a:r>
            <a:r>
              <a:rPr lang="fr-CA" sz="3200" u="sng" dirty="0" err="1"/>
              <a:t>summaries</a:t>
            </a:r>
            <a:endParaRPr lang="fr-CA" sz="3200" u="sng" dirty="0"/>
          </a:p>
          <a:p>
            <a:r>
              <a:rPr lang="fr-CA" sz="3200" i="1" dirty="0" err="1"/>
              <a:t>Used</a:t>
            </a:r>
            <a:r>
              <a:rPr lang="fr-CA" sz="3200" i="1" dirty="0"/>
              <a:t> by </a:t>
            </a:r>
            <a:r>
              <a:rPr lang="fr-CA" sz="3200" i="1" dirty="0" err="1"/>
              <a:t>most</a:t>
            </a:r>
            <a:r>
              <a:rPr lang="fr-CA" sz="3200" i="1" dirty="0"/>
              <a:t> of the </a:t>
            </a:r>
            <a:r>
              <a:rPr lang="fr-CA" sz="3200" i="1" dirty="0" err="1"/>
              <a:t>existing</a:t>
            </a:r>
            <a:r>
              <a:rPr lang="fr-CA" sz="3200" i="1" dirty="0"/>
              <a:t> </a:t>
            </a:r>
            <a:r>
              <a:rPr lang="fr-CA" sz="3200" i="1" dirty="0" err="1"/>
              <a:t>work</a:t>
            </a:r>
            <a:endParaRPr lang="fr-CA" sz="3200" i="1" dirty="0"/>
          </a:p>
        </p:txBody>
      </p:sp>
    </p:spTree>
    <p:extLst>
      <p:ext uri="{BB962C8B-B14F-4D97-AF65-F5344CB8AC3E}">
        <p14:creationId xmlns:p14="http://schemas.microsoft.com/office/powerpoint/2010/main" val="3086930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Fine-tuning LLMs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7070" y="1246127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effectLst/>
                <a:latin typeface="Helvetica Neue" panose="02000503000000020004" pitchFamily="2" charset="0"/>
              </a:rPr>
              <a:t>Data construction</a:t>
            </a:r>
            <a:endParaRPr lang="en-GB" sz="3200" u="sng" dirty="0">
              <a:effectLst/>
              <a:latin typeface="Helvetica Neue" panose="02000503000000020004" pitchFamily="2" charset="0"/>
            </a:endParaRPr>
          </a:p>
          <a:p>
            <a:endParaRPr lang="fr-CA" sz="3200" dirty="0"/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BFD490-7C3F-9B92-0A1D-94B088AD7900}"/>
              </a:ext>
            </a:extLst>
          </p:cNvPr>
          <p:cNvSpPr txBox="1"/>
          <p:nvPr/>
        </p:nvSpPr>
        <p:spPr>
          <a:xfrm>
            <a:off x="432606" y="2094479"/>
            <a:ext cx="8635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dirty="0" err="1"/>
              <a:t>Difficulty</a:t>
            </a:r>
            <a:r>
              <a:rPr lang="fr-CA" sz="3200" dirty="0"/>
              <a:t> in </a:t>
            </a:r>
            <a:r>
              <a:rPr lang="fr-CA" sz="3200" dirty="0" err="1"/>
              <a:t>constructing</a:t>
            </a:r>
            <a:r>
              <a:rPr lang="fr-CA" sz="3200" dirty="0"/>
              <a:t> large </a:t>
            </a:r>
            <a:r>
              <a:rPr lang="fr-CA" sz="3200" dirty="0" err="1"/>
              <a:t>scale</a:t>
            </a:r>
            <a:r>
              <a:rPr lang="fr-CA" sz="3200" dirty="0"/>
              <a:t> </a:t>
            </a:r>
            <a:r>
              <a:rPr lang="fr-CA" sz="3200" dirty="0" err="1"/>
              <a:t>datasets</a:t>
            </a:r>
            <a:endParaRPr lang="fr-CA" sz="3200" dirty="0"/>
          </a:p>
        </p:txBody>
      </p:sp>
    </p:spTree>
    <p:extLst>
      <p:ext uri="{BB962C8B-B14F-4D97-AF65-F5344CB8AC3E}">
        <p14:creationId xmlns:p14="http://schemas.microsoft.com/office/powerpoint/2010/main" val="107773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Fine-tuning LLMs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7070" y="1246127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effectLst/>
                <a:latin typeface="Helvetica Neue" panose="02000503000000020004" pitchFamily="2" charset="0"/>
              </a:rPr>
              <a:t>Evaluation Method</a:t>
            </a:r>
            <a:endParaRPr lang="en-GB" sz="3200" u="sng" dirty="0">
              <a:effectLst/>
              <a:latin typeface="Helvetica Neue" panose="02000503000000020004" pitchFamily="2" charset="0"/>
            </a:endParaRPr>
          </a:p>
          <a:p>
            <a:endParaRPr lang="fr-CA" sz="3200" dirty="0"/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E0994-E6A2-CA47-F445-945F3E336CB7}"/>
              </a:ext>
            </a:extLst>
          </p:cNvPr>
          <p:cNvSpPr txBox="1"/>
          <p:nvPr/>
        </p:nvSpPr>
        <p:spPr>
          <a:xfrm>
            <a:off x="24436" y="2374384"/>
            <a:ext cx="30462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3200" dirty="0"/>
              <a:t>Highly diversified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3910DD-5E0A-EB5C-801D-4945876273CF}"/>
              </a:ext>
            </a:extLst>
          </p:cNvPr>
          <p:cNvSpPr txBox="1"/>
          <p:nvPr/>
        </p:nvSpPr>
        <p:spPr>
          <a:xfrm>
            <a:off x="-15249" y="3144778"/>
            <a:ext cx="93055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3200" dirty="0"/>
              <a:t>Criteria being imposed or determined by the LLM itself</a:t>
            </a:r>
          </a:p>
        </p:txBody>
      </p:sp>
    </p:spTree>
    <p:extLst>
      <p:ext uri="{BB962C8B-B14F-4D97-AF65-F5344CB8AC3E}">
        <p14:creationId xmlns:p14="http://schemas.microsoft.com/office/powerpoint/2010/main" val="4294551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Fine-tuning LLMs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7070" y="1246127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effectLst/>
                <a:latin typeface="Helvetica Neue" panose="02000503000000020004" pitchFamily="2" charset="0"/>
              </a:rPr>
              <a:t>Fine Tuning Implementation</a:t>
            </a:r>
            <a:endParaRPr lang="en-GB" sz="3200" u="sng" dirty="0">
              <a:effectLst/>
              <a:latin typeface="Helvetica Neue" panose="02000503000000020004" pitchFamily="2" charset="0"/>
            </a:endParaRPr>
          </a:p>
          <a:p>
            <a:endParaRPr lang="fr-CA" sz="3200" dirty="0"/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E0994-E6A2-CA47-F445-945F3E336CB7}"/>
              </a:ext>
            </a:extLst>
          </p:cNvPr>
          <p:cNvSpPr txBox="1"/>
          <p:nvPr/>
        </p:nvSpPr>
        <p:spPr>
          <a:xfrm>
            <a:off x="567070" y="2405260"/>
            <a:ext cx="46558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3200" dirty="0"/>
              <a:t>A lot of different processes</a:t>
            </a:r>
          </a:p>
        </p:txBody>
      </p:sp>
    </p:spTree>
    <p:extLst>
      <p:ext uri="{BB962C8B-B14F-4D97-AF65-F5344CB8AC3E}">
        <p14:creationId xmlns:p14="http://schemas.microsoft.com/office/powerpoint/2010/main" val="1823770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Fine-tuning LLMs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7070" y="1246127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i="1" dirty="0">
                <a:effectLst/>
                <a:latin typeface="Helvetica Neue" panose="02000503000000020004" pitchFamily="2" charset="0"/>
              </a:rPr>
              <a:t>Pros</a:t>
            </a:r>
            <a:r>
              <a:rPr lang="en-GB" sz="3200" dirty="0">
                <a:effectLst/>
                <a:latin typeface="Helvetica Neue" panose="02000503000000020004" pitchFamily="2" charset="0"/>
              </a:rPr>
              <a:t> &amp; </a:t>
            </a:r>
            <a:r>
              <a:rPr lang="en-GB" sz="3200" u="sng" dirty="0">
                <a:effectLst/>
                <a:latin typeface="Helvetica Neue" panose="02000503000000020004" pitchFamily="2" charset="0"/>
              </a:rPr>
              <a:t>Cons</a:t>
            </a:r>
          </a:p>
          <a:p>
            <a:endParaRPr lang="fr-CA" sz="3200" dirty="0"/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E0994-E6A2-CA47-F445-945F3E336CB7}"/>
              </a:ext>
            </a:extLst>
          </p:cNvPr>
          <p:cNvSpPr txBox="1"/>
          <p:nvPr/>
        </p:nvSpPr>
        <p:spPr>
          <a:xfrm>
            <a:off x="139263" y="1893616"/>
            <a:ext cx="8845607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3200" i="1" dirty="0"/>
              <a:t>Low cost inference</a:t>
            </a:r>
          </a:p>
          <a:p>
            <a:r>
              <a:rPr lang="en-FR" sz="3200" i="1" dirty="0"/>
              <a:t>Good reproductibility</a:t>
            </a:r>
          </a:p>
          <a:p>
            <a:r>
              <a:rPr lang="en-FR" sz="3200" i="1" dirty="0"/>
              <a:t>Performance close to GPT4</a:t>
            </a:r>
          </a:p>
          <a:p>
            <a:r>
              <a:rPr lang="en-FR" sz="3200" i="1" dirty="0"/>
              <a:t>Tackling some biases</a:t>
            </a:r>
          </a:p>
          <a:p>
            <a:r>
              <a:rPr lang="en-FR" sz="3200" i="1" dirty="0"/>
              <a:t>Iterative improvement</a:t>
            </a:r>
          </a:p>
          <a:p>
            <a:r>
              <a:rPr lang="en-FR" sz="3200" u="sng" dirty="0"/>
              <a:t>Computational expenses</a:t>
            </a:r>
          </a:p>
          <a:p>
            <a:r>
              <a:rPr lang="en-GB" sz="3200" u="sng" dirty="0"/>
              <a:t>B</a:t>
            </a:r>
            <a:r>
              <a:rPr lang="en-FR" sz="3200" u="sng" dirty="0"/>
              <a:t>ase LLM often outdated as the open source models are rapidly being updated</a:t>
            </a:r>
          </a:p>
        </p:txBody>
      </p:sp>
    </p:spTree>
    <p:extLst>
      <p:ext uri="{BB962C8B-B14F-4D97-AF65-F5344CB8AC3E}">
        <p14:creationId xmlns:p14="http://schemas.microsoft.com/office/powerpoint/2010/main" val="3637115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Human-LLM Collaborative Evaluation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7070" y="1246127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effectLst/>
                <a:latin typeface="Helvetica Neue" panose="02000503000000020004" pitchFamily="2" charset="0"/>
              </a:rPr>
              <a:t>Scoring and Explaining</a:t>
            </a:r>
            <a:endParaRPr lang="en-GB" sz="3200" u="sng" dirty="0">
              <a:effectLst/>
              <a:latin typeface="Helvetica Neue" panose="02000503000000020004" pitchFamily="2" charset="0"/>
            </a:endParaRPr>
          </a:p>
          <a:p>
            <a:endParaRPr lang="fr-CA" sz="3200" dirty="0"/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E0994-E6A2-CA47-F445-945F3E336CB7}"/>
              </a:ext>
            </a:extLst>
          </p:cNvPr>
          <p:cNvSpPr txBox="1"/>
          <p:nvPr/>
        </p:nvSpPr>
        <p:spPr>
          <a:xfrm>
            <a:off x="256562" y="2030957"/>
            <a:ext cx="8845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99% of </a:t>
            </a:r>
            <a:r>
              <a:rPr lang="fr-FR" sz="3200" dirty="0" err="1"/>
              <a:t>accuracy</a:t>
            </a:r>
            <a:r>
              <a:rPr lang="fr-FR" sz="3200" dirty="0"/>
              <a:t> </a:t>
            </a:r>
            <a:r>
              <a:rPr lang="fr-FR" sz="3200" dirty="0" err="1"/>
              <a:t>with</a:t>
            </a:r>
            <a:r>
              <a:rPr lang="fr-FR" sz="3200" dirty="0"/>
              <a:t> </a:t>
            </a:r>
            <a:r>
              <a:rPr lang="fr-FR" sz="3200" dirty="0" err="1"/>
              <a:t>half</a:t>
            </a:r>
            <a:r>
              <a:rPr lang="fr-FR" sz="3200" dirty="0"/>
              <a:t> </a:t>
            </a:r>
            <a:r>
              <a:rPr lang="fr-FR" sz="3200" dirty="0" err="1"/>
              <a:t>human</a:t>
            </a:r>
            <a:r>
              <a:rPr lang="fr-FR" sz="3200" dirty="0"/>
              <a:t> effort</a:t>
            </a:r>
            <a:endParaRPr lang="en-FR" sz="3200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8AB7F2-AA50-669F-6AB8-B77774A8AF73}"/>
              </a:ext>
            </a:extLst>
          </p:cNvPr>
          <p:cNvSpPr txBox="1"/>
          <p:nvPr/>
        </p:nvSpPr>
        <p:spPr>
          <a:xfrm>
            <a:off x="256562" y="2598011"/>
            <a:ext cx="66776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3200" dirty="0"/>
              <a:t>LLMs generate initial ideation, humans engage in scrutiny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FB5977-AD4F-A07B-0A87-5D14C84CF5E6}"/>
              </a:ext>
            </a:extLst>
          </p:cNvPr>
          <p:cNvSpPr txBox="1"/>
          <p:nvPr/>
        </p:nvSpPr>
        <p:spPr>
          <a:xfrm>
            <a:off x="263650" y="3654577"/>
            <a:ext cx="84346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3200" dirty="0"/>
              <a:t>Scores along with their explanations for collaboriative evaluation</a:t>
            </a:r>
          </a:p>
        </p:txBody>
      </p:sp>
    </p:spTree>
    <p:extLst>
      <p:ext uri="{BB962C8B-B14F-4D97-AF65-F5344CB8AC3E}">
        <p14:creationId xmlns:p14="http://schemas.microsoft.com/office/powerpoint/2010/main" val="36931930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Human-LLM Collaborative Evaluation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7070" y="1246127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i="1" dirty="0">
                <a:effectLst/>
                <a:latin typeface="Helvetica Neue" panose="02000503000000020004" pitchFamily="2" charset="0"/>
              </a:rPr>
              <a:t>Pros</a:t>
            </a:r>
            <a:r>
              <a:rPr lang="en-GB" sz="3200" dirty="0">
                <a:effectLst/>
                <a:latin typeface="Helvetica Neue" panose="02000503000000020004" pitchFamily="2" charset="0"/>
              </a:rPr>
              <a:t> &amp; </a:t>
            </a:r>
            <a:r>
              <a:rPr lang="en-GB" sz="3200" u="sng" dirty="0">
                <a:effectLst/>
                <a:latin typeface="Helvetica Neue" panose="02000503000000020004" pitchFamily="2" charset="0"/>
              </a:rPr>
              <a:t>Cons</a:t>
            </a:r>
          </a:p>
          <a:p>
            <a:endParaRPr lang="fr-CA" sz="3200" dirty="0"/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E0994-E6A2-CA47-F445-945F3E336CB7}"/>
              </a:ext>
            </a:extLst>
          </p:cNvPr>
          <p:cNvSpPr txBox="1"/>
          <p:nvPr/>
        </p:nvSpPr>
        <p:spPr>
          <a:xfrm>
            <a:off x="256562" y="2030957"/>
            <a:ext cx="884560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i="1" dirty="0"/>
              <a:t>Efficiency and Cost Balance</a:t>
            </a:r>
          </a:p>
          <a:p>
            <a:r>
              <a:rPr lang="en-GB" sz="3200" i="1" dirty="0"/>
              <a:t>Complementary Strengths</a:t>
            </a:r>
          </a:p>
          <a:p>
            <a:r>
              <a:rPr lang="en-GB" sz="3200" i="1" dirty="0"/>
              <a:t>The most promising method according to the authors</a:t>
            </a:r>
          </a:p>
          <a:p>
            <a:r>
              <a:rPr lang="en-GB" sz="3200" u="sng" dirty="0"/>
              <a:t>Sensitivity to Query Formats</a:t>
            </a:r>
          </a:p>
          <a:p>
            <a:r>
              <a:rPr lang="en-GB" sz="3200" u="sng" dirty="0"/>
              <a:t>Confidence Level Assessment: Current methods struggle to accurately assess when to trust the LLM.</a:t>
            </a:r>
            <a:endParaRPr lang="en-FR" sz="3200" i="1" u="sng" dirty="0"/>
          </a:p>
        </p:txBody>
      </p:sp>
    </p:spTree>
    <p:extLst>
      <p:ext uri="{BB962C8B-B14F-4D97-AF65-F5344CB8AC3E}">
        <p14:creationId xmlns:p14="http://schemas.microsoft.com/office/powerpoint/2010/main" val="4074640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639726" y="3016904"/>
            <a:ext cx="8534400" cy="10772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3200" dirty="0"/>
              <a:t>A </a:t>
            </a:r>
            <a:r>
              <a:rPr lang="en-GB" sz="3200" dirty="0">
                <a:effectLst/>
              </a:rPr>
              <a:t>Field Guide to Automatic Evaluation of LLM-Generated Summaries 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33F6D9-1232-B347-9B20-057E36BDEE35}"/>
              </a:ext>
            </a:extLst>
          </p:cNvPr>
          <p:cNvSpPr txBox="1"/>
          <p:nvPr/>
        </p:nvSpPr>
        <p:spPr>
          <a:xfrm>
            <a:off x="89841" y="3013360"/>
            <a:ext cx="38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b="1" dirty="0"/>
              <a:t>2 </a:t>
            </a:r>
          </a:p>
        </p:txBody>
      </p:sp>
      <p:pic>
        <p:nvPicPr>
          <p:cNvPr id="3" name="Picture 11" descr="top">
            <a:extLst>
              <a:ext uri="{FF2B5EF4-FFF2-40B4-BE49-F238E27FC236}">
                <a16:creationId xmlns:a16="http://schemas.microsoft.com/office/drawing/2014/main" id="{4CE25EBA-F320-EA93-EB4A-25D76E404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2714909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578ABCEE-802B-BA84-2F61-F1C6A3033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409412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0F9098F2-0A8B-7967-B9F9-EFADD235A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A67B0487-94CB-C5E5-F88C-42F2FC6CD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" y="6422509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9DD11CD6-8C0D-4A57-F874-2C4F507B5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114" y="638943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D6FB8CA5-5DCC-9948-DE72-1E88BED21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638943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8998121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Goals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E0994-E6A2-CA47-F445-945F3E336CB7}"/>
              </a:ext>
            </a:extLst>
          </p:cNvPr>
          <p:cNvSpPr txBox="1"/>
          <p:nvPr/>
        </p:nvSpPr>
        <p:spPr>
          <a:xfrm>
            <a:off x="256562" y="2030957"/>
            <a:ext cx="88456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3200" dirty="0"/>
              <a:t>Evaluating the summary on different qualities : </a:t>
            </a:r>
          </a:p>
          <a:p>
            <a:r>
              <a:rPr lang="en-GB" sz="3200" dirty="0"/>
              <a:t>F</a:t>
            </a:r>
            <a:r>
              <a:rPr lang="en-FR" sz="3200" dirty="0"/>
              <a:t>luency, coherence, relevance, factual consistency, fairness, similarity in content and style</a:t>
            </a:r>
          </a:p>
        </p:txBody>
      </p:sp>
    </p:spTree>
    <p:extLst>
      <p:ext uri="{BB962C8B-B14F-4D97-AF65-F5344CB8AC3E}">
        <p14:creationId xmlns:p14="http://schemas.microsoft.com/office/powerpoint/2010/main" val="99729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Methods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E0994-E6A2-CA47-F445-945F3E336CB7}"/>
              </a:ext>
            </a:extLst>
          </p:cNvPr>
          <p:cNvSpPr txBox="1"/>
          <p:nvPr/>
        </p:nvSpPr>
        <p:spPr>
          <a:xfrm>
            <a:off x="288460" y="2405260"/>
            <a:ext cx="884560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N-gram </a:t>
            </a:r>
            <a:r>
              <a:rPr lang="fr-FR" sz="3200" dirty="0" err="1"/>
              <a:t>based</a:t>
            </a:r>
            <a:r>
              <a:rPr lang="fr-FR" sz="3200" dirty="0"/>
              <a:t> </a:t>
            </a:r>
            <a:r>
              <a:rPr lang="fr-FR" sz="3200" dirty="0" err="1"/>
              <a:t>metrics</a:t>
            </a:r>
            <a:r>
              <a:rPr lang="fr-FR" sz="3200" dirty="0"/>
              <a:t> : BLEU, ROUGE, JS2</a:t>
            </a:r>
          </a:p>
          <a:p>
            <a:r>
              <a:rPr lang="fr-FR" sz="3200" dirty="0" err="1"/>
              <a:t>Embedding</a:t>
            </a:r>
            <a:r>
              <a:rPr lang="fr-FR" sz="3200" dirty="0"/>
              <a:t> </a:t>
            </a:r>
            <a:r>
              <a:rPr lang="fr-FR" sz="3200" dirty="0" err="1"/>
              <a:t>Based</a:t>
            </a:r>
            <a:r>
              <a:rPr lang="fr-FR" sz="3200" dirty="0"/>
              <a:t> </a:t>
            </a:r>
            <a:r>
              <a:rPr lang="fr-FR" sz="3200" dirty="0" err="1"/>
              <a:t>Metrics</a:t>
            </a:r>
            <a:r>
              <a:rPr lang="fr-FR" sz="3200" dirty="0"/>
              <a:t> : </a:t>
            </a:r>
            <a:r>
              <a:rPr lang="fr-FR" sz="3200" dirty="0" err="1"/>
              <a:t>BERTScore</a:t>
            </a:r>
            <a:r>
              <a:rPr lang="fr-FR" sz="3200" dirty="0"/>
              <a:t>, </a:t>
            </a:r>
            <a:r>
              <a:rPr lang="fr-FR" sz="3200" dirty="0" err="1"/>
              <a:t>MoverScore</a:t>
            </a:r>
            <a:r>
              <a:rPr lang="fr-FR" sz="3200" dirty="0"/>
              <a:t>, SMS </a:t>
            </a:r>
          </a:p>
          <a:p>
            <a:endParaRPr lang="en-FR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B3C3B-4861-AE41-E42B-4587930699E7}"/>
              </a:ext>
            </a:extLst>
          </p:cNvPr>
          <p:cNvSpPr txBox="1"/>
          <p:nvPr/>
        </p:nvSpPr>
        <p:spPr>
          <a:xfrm>
            <a:off x="567070" y="1246127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effectLst/>
                <a:latin typeface="Helvetica Neue" panose="02000503000000020004" pitchFamily="2" charset="0"/>
              </a:rPr>
              <a:t>Reference-based Metrics</a:t>
            </a:r>
            <a:endParaRPr lang="en-GB" sz="3200" u="sng" dirty="0">
              <a:effectLst/>
              <a:latin typeface="Helvetica Neue" panose="02000503000000020004" pitchFamily="2" charset="0"/>
            </a:endParaRPr>
          </a:p>
          <a:p>
            <a:endParaRPr lang="fr-CA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CB31DE-5220-F4ED-F5D6-9A382A346F7E}"/>
              </a:ext>
            </a:extLst>
          </p:cNvPr>
          <p:cNvSpPr txBox="1"/>
          <p:nvPr/>
        </p:nvSpPr>
        <p:spPr>
          <a:xfrm>
            <a:off x="298393" y="4240941"/>
            <a:ext cx="88456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Limitations : Poor </a:t>
            </a:r>
            <a:r>
              <a:rPr lang="fr-FR" sz="3200" dirty="0" err="1"/>
              <a:t>correlation</a:t>
            </a:r>
            <a:r>
              <a:rPr lang="fr-FR" sz="3200" dirty="0"/>
              <a:t> </a:t>
            </a:r>
            <a:r>
              <a:rPr lang="fr-FR" sz="3200" dirty="0" err="1"/>
              <a:t>with</a:t>
            </a:r>
            <a:r>
              <a:rPr lang="fr-FR" sz="3200" dirty="0"/>
              <a:t> </a:t>
            </a:r>
            <a:r>
              <a:rPr lang="fr-FR" sz="3200" dirty="0" err="1"/>
              <a:t>human</a:t>
            </a:r>
            <a:r>
              <a:rPr lang="fr-FR" sz="3200" dirty="0"/>
              <a:t> </a:t>
            </a:r>
            <a:r>
              <a:rPr lang="fr-FR" sz="3200" dirty="0" err="1"/>
              <a:t>evaluators</a:t>
            </a:r>
            <a:r>
              <a:rPr lang="fr-FR" sz="3200" dirty="0"/>
              <a:t>, </a:t>
            </a:r>
            <a:r>
              <a:rPr lang="fr-FR" sz="3200" dirty="0" err="1"/>
              <a:t>lack</a:t>
            </a:r>
            <a:r>
              <a:rPr lang="fr-FR" sz="3200" dirty="0"/>
              <a:t> of </a:t>
            </a:r>
            <a:r>
              <a:rPr lang="fr-FR" sz="3200" dirty="0" err="1"/>
              <a:t>interpretability</a:t>
            </a:r>
            <a:r>
              <a:rPr lang="fr-FR" sz="3200" dirty="0"/>
              <a:t>, </a:t>
            </a:r>
            <a:r>
              <a:rPr lang="fr-FR" sz="3200" dirty="0" err="1"/>
              <a:t>inherent</a:t>
            </a:r>
            <a:r>
              <a:rPr lang="fr-FR" sz="3200" dirty="0"/>
              <a:t> </a:t>
            </a:r>
            <a:r>
              <a:rPr lang="fr-FR" sz="3200" dirty="0" err="1"/>
              <a:t>bias</a:t>
            </a:r>
            <a:r>
              <a:rPr lang="fr-FR" sz="3200" dirty="0"/>
              <a:t>, </a:t>
            </a:r>
            <a:r>
              <a:rPr lang="fr-FR" sz="3200" dirty="0" err="1"/>
              <a:t>inability</a:t>
            </a:r>
            <a:r>
              <a:rPr lang="fr-FR" sz="3200" dirty="0"/>
              <a:t> to capture </a:t>
            </a:r>
            <a:r>
              <a:rPr lang="fr-FR" sz="3200" dirty="0" err="1"/>
              <a:t>subtle</a:t>
            </a:r>
            <a:r>
              <a:rPr lang="fr-FR" sz="3200" dirty="0"/>
              <a:t> nuances in </a:t>
            </a:r>
            <a:r>
              <a:rPr lang="fr-FR" sz="3200" dirty="0" err="1"/>
              <a:t>language</a:t>
            </a:r>
            <a:r>
              <a:rPr lang="fr-FR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6352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Methods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E0994-E6A2-CA47-F445-945F3E336CB7}"/>
              </a:ext>
            </a:extLst>
          </p:cNvPr>
          <p:cNvSpPr txBox="1"/>
          <p:nvPr/>
        </p:nvSpPr>
        <p:spPr>
          <a:xfrm>
            <a:off x="149196" y="2215047"/>
            <a:ext cx="88456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/>
              <a:t>Quality-based</a:t>
            </a:r>
            <a:r>
              <a:rPr lang="fr-FR" sz="2800" dirty="0"/>
              <a:t> </a:t>
            </a:r>
            <a:r>
              <a:rPr lang="fr-FR" sz="2800" dirty="0" err="1"/>
              <a:t>Metrics</a:t>
            </a:r>
            <a:r>
              <a:rPr lang="fr-FR" sz="2800" dirty="0"/>
              <a:t> : SUPERT, BLANC, ROUGE-C</a:t>
            </a:r>
          </a:p>
          <a:p>
            <a:r>
              <a:rPr lang="fr-FR" sz="2800" dirty="0" err="1"/>
              <a:t>Entailment-based</a:t>
            </a:r>
            <a:r>
              <a:rPr lang="fr-FR" sz="2800" dirty="0"/>
              <a:t> </a:t>
            </a:r>
            <a:r>
              <a:rPr lang="fr-FR" sz="2800" dirty="0" err="1"/>
              <a:t>Metrics</a:t>
            </a:r>
            <a:r>
              <a:rPr lang="fr-FR" sz="2800" dirty="0"/>
              <a:t> : </a:t>
            </a:r>
            <a:r>
              <a:rPr lang="fr-FR" sz="2800" dirty="0" err="1"/>
              <a:t>SummaC</a:t>
            </a:r>
            <a:r>
              <a:rPr lang="fr-FR" sz="2800" dirty="0"/>
              <a:t>, </a:t>
            </a:r>
            <a:r>
              <a:rPr lang="fr-FR" sz="2800" dirty="0" err="1"/>
              <a:t>FactCC</a:t>
            </a:r>
            <a:r>
              <a:rPr lang="fr-FR" sz="2800" dirty="0"/>
              <a:t>, DAE</a:t>
            </a:r>
          </a:p>
          <a:p>
            <a:r>
              <a:rPr lang="fr-FR" sz="2800" dirty="0" err="1"/>
              <a:t>Factuality</a:t>
            </a:r>
            <a:r>
              <a:rPr lang="fr-FR" sz="2800" dirty="0"/>
              <a:t>, QA and QG-</a:t>
            </a:r>
            <a:r>
              <a:rPr lang="fr-FR" sz="2800" dirty="0" err="1"/>
              <a:t>based</a:t>
            </a:r>
            <a:r>
              <a:rPr lang="fr-FR" sz="2800" dirty="0"/>
              <a:t> </a:t>
            </a:r>
            <a:r>
              <a:rPr lang="fr-FR" sz="2800" dirty="0" err="1"/>
              <a:t>metrics</a:t>
            </a:r>
            <a:r>
              <a:rPr lang="fr-FR" sz="2800" dirty="0"/>
              <a:t> : </a:t>
            </a:r>
            <a:r>
              <a:rPr lang="fr-FR" sz="2800" dirty="0" err="1"/>
              <a:t>SRLScore</a:t>
            </a:r>
            <a:r>
              <a:rPr lang="fr-FR" sz="2800" dirty="0"/>
              <a:t>, </a:t>
            </a:r>
            <a:r>
              <a:rPr lang="fr-FR" sz="2800" dirty="0" err="1"/>
              <a:t>QAFactEval</a:t>
            </a:r>
            <a:r>
              <a:rPr lang="fr-FR" sz="2800" dirty="0"/>
              <a:t>, </a:t>
            </a:r>
            <a:r>
              <a:rPr lang="fr-FR" sz="2800" dirty="0" err="1"/>
              <a:t>QuestEval</a:t>
            </a:r>
            <a:endParaRPr lang="en-FR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B3C3B-4861-AE41-E42B-4587930699E7}"/>
              </a:ext>
            </a:extLst>
          </p:cNvPr>
          <p:cNvSpPr txBox="1"/>
          <p:nvPr/>
        </p:nvSpPr>
        <p:spPr>
          <a:xfrm>
            <a:off x="567070" y="1246127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effectLst/>
                <a:latin typeface="Helvetica Neue" panose="02000503000000020004" pitchFamily="2" charset="0"/>
              </a:rPr>
              <a:t>Reference-free Metrics</a:t>
            </a:r>
            <a:endParaRPr lang="en-GB" sz="3200" u="sng" dirty="0">
              <a:effectLst/>
              <a:latin typeface="Helvetica Neue" panose="02000503000000020004" pitchFamily="2" charset="0"/>
            </a:endParaRPr>
          </a:p>
          <a:p>
            <a:endParaRPr lang="fr-CA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4E2342-561D-DF69-B715-2597717D24EB}"/>
              </a:ext>
            </a:extLst>
          </p:cNvPr>
          <p:cNvSpPr txBox="1"/>
          <p:nvPr/>
        </p:nvSpPr>
        <p:spPr>
          <a:xfrm>
            <a:off x="161601" y="4161988"/>
            <a:ext cx="88456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2800" dirty="0"/>
              <a:t>Better correlation to human evaluators, but biais against their underlying models’outputs and against higher-quality text</a:t>
            </a:r>
          </a:p>
        </p:txBody>
      </p:sp>
    </p:spTree>
    <p:extLst>
      <p:ext uri="{BB962C8B-B14F-4D97-AF65-F5344CB8AC3E}">
        <p14:creationId xmlns:p14="http://schemas.microsoft.com/office/powerpoint/2010/main" val="18555098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Methods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E0994-E6A2-CA47-F445-945F3E336CB7}"/>
              </a:ext>
            </a:extLst>
          </p:cNvPr>
          <p:cNvSpPr txBox="1"/>
          <p:nvPr/>
        </p:nvSpPr>
        <p:spPr>
          <a:xfrm>
            <a:off x="149196" y="2215047"/>
            <a:ext cx="884560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Prompt-</a:t>
            </a:r>
            <a:r>
              <a:rPr lang="fr-FR" sz="2800" dirty="0" err="1"/>
              <a:t>based</a:t>
            </a:r>
            <a:r>
              <a:rPr lang="fr-FR" sz="2800" dirty="0"/>
              <a:t> </a:t>
            </a:r>
            <a:r>
              <a:rPr lang="fr-FR" sz="2800" dirty="0" err="1"/>
              <a:t>evaluators</a:t>
            </a:r>
            <a:r>
              <a:rPr lang="fr-FR" sz="2800" dirty="0"/>
              <a:t> : </a:t>
            </a:r>
            <a:r>
              <a:rPr lang="fr-FR" sz="2800" dirty="0" err="1"/>
              <a:t>summary</a:t>
            </a:r>
            <a:r>
              <a:rPr lang="fr-FR" sz="2800" dirty="0"/>
              <a:t> </a:t>
            </a:r>
            <a:r>
              <a:rPr lang="fr-FR" sz="2800" dirty="0" err="1"/>
              <a:t>alone</a:t>
            </a:r>
            <a:r>
              <a:rPr lang="fr-FR" sz="2800" dirty="0"/>
              <a:t> (</a:t>
            </a:r>
            <a:r>
              <a:rPr lang="fr-FR" sz="2800" dirty="0" err="1"/>
              <a:t>reference</a:t>
            </a:r>
            <a:r>
              <a:rPr lang="fr-FR" sz="2800" dirty="0"/>
              <a:t>-free), </a:t>
            </a:r>
            <a:r>
              <a:rPr lang="fr-FR" sz="2800" dirty="0" err="1"/>
              <a:t>summary</a:t>
            </a:r>
            <a:r>
              <a:rPr lang="fr-FR" sz="2800" dirty="0"/>
              <a:t>, original </a:t>
            </a:r>
            <a:r>
              <a:rPr lang="fr-FR" sz="2800" dirty="0" err="1"/>
              <a:t>text</a:t>
            </a:r>
            <a:r>
              <a:rPr lang="fr-FR" sz="2800" dirty="0"/>
              <a:t>, and </a:t>
            </a:r>
            <a:r>
              <a:rPr lang="fr-FR" sz="2800" dirty="0" err="1"/>
              <a:t>potentially</a:t>
            </a:r>
            <a:r>
              <a:rPr lang="fr-FR" sz="2800" dirty="0"/>
              <a:t> topic for </a:t>
            </a:r>
            <a:r>
              <a:rPr lang="fr-FR" sz="2800" dirty="0" err="1"/>
              <a:t>summarization</a:t>
            </a:r>
            <a:r>
              <a:rPr lang="fr-FR" sz="2800" dirty="0"/>
              <a:t> (</a:t>
            </a:r>
            <a:r>
              <a:rPr lang="fr-FR" sz="2800" dirty="0" err="1"/>
              <a:t>reference</a:t>
            </a:r>
            <a:r>
              <a:rPr lang="fr-FR" sz="2800" dirty="0"/>
              <a:t>-free), </a:t>
            </a:r>
            <a:r>
              <a:rPr lang="fr-FR" sz="2800" dirty="0" err="1"/>
              <a:t>summary</a:t>
            </a:r>
            <a:r>
              <a:rPr lang="fr-FR" sz="2800" dirty="0"/>
              <a:t> and </a:t>
            </a:r>
            <a:r>
              <a:rPr lang="fr-FR" sz="2800" dirty="0" err="1"/>
              <a:t>ground-truth</a:t>
            </a:r>
            <a:r>
              <a:rPr lang="fr-FR" sz="2800" dirty="0"/>
              <a:t> (</a:t>
            </a:r>
            <a:r>
              <a:rPr lang="fr-FR" sz="2800" dirty="0" err="1"/>
              <a:t>reference-based</a:t>
            </a:r>
            <a:r>
              <a:rPr lang="fr-FR" sz="2800" dirty="0"/>
              <a:t>)</a:t>
            </a:r>
          </a:p>
          <a:p>
            <a:endParaRPr lang="fr-FR" sz="2800" dirty="0"/>
          </a:p>
          <a:p>
            <a:r>
              <a:rPr lang="fr-FR" sz="2800" dirty="0" err="1"/>
              <a:t>e.g</a:t>
            </a:r>
            <a:r>
              <a:rPr lang="fr-FR" sz="2800" dirty="0"/>
              <a:t> : RTS, MCQ, H2H, G-Eval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B3C3B-4861-AE41-E42B-4587930699E7}"/>
              </a:ext>
            </a:extLst>
          </p:cNvPr>
          <p:cNvSpPr txBox="1"/>
          <p:nvPr/>
        </p:nvSpPr>
        <p:spPr>
          <a:xfrm>
            <a:off x="567070" y="1246127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effectLst/>
                <a:latin typeface="Helvetica Neue" panose="02000503000000020004" pitchFamily="2" charset="0"/>
              </a:rPr>
              <a:t>LLM-Based Evaluators</a:t>
            </a:r>
            <a:endParaRPr lang="en-GB" sz="3200" u="sng" dirty="0">
              <a:effectLst/>
              <a:latin typeface="Helvetica Neue" panose="02000503000000020004" pitchFamily="2" charset="0"/>
            </a:endParaRPr>
          </a:p>
          <a:p>
            <a:endParaRPr lang="fr-CA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D49F7E-ABD9-9756-C59D-B7D25891A926}"/>
              </a:ext>
            </a:extLst>
          </p:cNvPr>
          <p:cNvSpPr txBox="1"/>
          <p:nvPr/>
        </p:nvSpPr>
        <p:spPr>
          <a:xfrm>
            <a:off x="149196" y="5042913"/>
            <a:ext cx="88456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Limitations : </a:t>
            </a:r>
            <a:r>
              <a:rPr lang="fr-FR" sz="2400" dirty="0" err="1"/>
              <a:t>positional</a:t>
            </a:r>
            <a:r>
              <a:rPr lang="fr-FR" sz="2400" dirty="0"/>
              <a:t> </a:t>
            </a:r>
            <a:r>
              <a:rPr lang="fr-FR" sz="2400" dirty="0" err="1"/>
              <a:t>bias</a:t>
            </a:r>
            <a:r>
              <a:rPr lang="fr-FR" sz="2400" dirty="0"/>
              <a:t>, </a:t>
            </a:r>
            <a:r>
              <a:rPr lang="fr-FR" sz="2400" dirty="0" err="1"/>
              <a:t>verbosity</a:t>
            </a:r>
            <a:r>
              <a:rPr lang="fr-FR" sz="2400" dirty="0"/>
              <a:t> </a:t>
            </a:r>
            <a:r>
              <a:rPr lang="fr-FR" sz="2400" dirty="0" err="1"/>
              <a:t>bias</a:t>
            </a:r>
            <a:r>
              <a:rPr lang="fr-FR" sz="2400" dirty="0"/>
              <a:t>, self </a:t>
            </a:r>
            <a:r>
              <a:rPr lang="fr-FR" sz="2400" dirty="0" err="1"/>
              <a:t>enhancement</a:t>
            </a:r>
            <a:r>
              <a:rPr lang="fr-FR" sz="2400" dirty="0"/>
              <a:t> </a:t>
            </a:r>
            <a:r>
              <a:rPr lang="fr-FR" sz="2400" dirty="0" err="1"/>
              <a:t>bias</a:t>
            </a:r>
            <a:r>
              <a:rPr lang="fr-FR" sz="2400" dirty="0"/>
              <a:t>, </a:t>
            </a:r>
            <a:r>
              <a:rPr lang="fr-FR" sz="2400" dirty="0" err="1"/>
              <a:t>limited</a:t>
            </a:r>
            <a:r>
              <a:rPr lang="fr-FR" sz="2400" dirty="0"/>
              <a:t> </a:t>
            </a:r>
            <a:r>
              <a:rPr lang="fr-FR" sz="2400" dirty="0" err="1"/>
              <a:t>mathematical</a:t>
            </a:r>
            <a:r>
              <a:rPr lang="fr-FR" sz="2400" dirty="0"/>
              <a:t> and </a:t>
            </a:r>
            <a:r>
              <a:rPr lang="fr-FR" sz="2400" dirty="0" err="1"/>
              <a:t>reasoning</a:t>
            </a:r>
            <a:r>
              <a:rPr lang="fr-FR" sz="2400" dirty="0"/>
              <a:t> </a:t>
            </a:r>
            <a:r>
              <a:rPr lang="fr-FR" sz="2400" dirty="0" err="1"/>
              <a:t>capabilities</a:t>
            </a:r>
            <a:endParaRPr lang="en-FR" sz="2400" dirty="0"/>
          </a:p>
          <a:p>
            <a:endParaRPr lang="en-FR" sz="2400" dirty="0"/>
          </a:p>
        </p:txBody>
      </p:sp>
    </p:spTree>
    <p:extLst>
      <p:ext uri="{BB962C8B-B14F-4D97-AF65-F5344CB8AC3E}">
        <p14:creationId xmlns:p14="http://schemas.microsoft.com/office/powerpoint/2010/main" val="30865600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Methods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E0994-E6A2-CA47-F445-945F3E336CB7}"/>
              </a:ext>
            </a:extLst>
          </p:cNvPr>
          <p:cNvSpPr txBox="1"/>
          <p:nvPr/>
        </p:nvSpPr>
        <p:spPr>
          <a:xfrm>
            <a:off x="149196" y="2215047"/>
            <a:ext cx="88456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LLM </a:t>
            </a:r>
            <a:r>
              <a:rPr lang="fr-FR" sz="2800" dirty="0" err="1"/>
              <a:t>Embedding</a:t>
            </a:r>
            <a:r>
              <a:rPr lang="fr-FR" sz="2800" dirty="0"/>
              <a:t>-base </a:t>
            </a:r>
            <a:r>
              <a:rPr lang="fr-FR" sz="2800" dirty="0" err="1"/>
              <a:t>metrics</a:t>
            </a:r>
            <a:r>
              <a:rPr lang="fr-FR" sz="2800" dirty="0"/>
              <a:t> : embedding-ada-002 are </a:t>
            </a:r>
            <a:r>
              <a:rPr lang="fr-FR" sz="2800" dirty="0" err="1"/>
              <a:t>being</a:t>
            </a:r>
            <a:r>
              <a:rPr lang="fr-FR" sz="2800" dirty="0"/>
              <a:t> </a:t>
            </a:r>
            <a:r>
              <a:rPr lang="fr-FR" sz="2800" dirty="0" err="1"/>
              <a:t>used</a:t>
            </a:r>
            <a:endParaRPr lang="fr-FR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B3C3B-4861-AE41-E42B-4587930699E7}"/>
              </a:ext>
            </a:extLst>
          </p:cNvPr>
          <p:cNvSpPr txBox="1"/>
          <p:nvPr/>
        </p:nvSpPr>
        <p:spPr>
          <a:xfrm>
            <a:off x="567070" y="1246127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effectLst/>
                <a:latin typeface="Helvetica Neue" panose="02000503000000020004" pitchFamily="2" charset="0"/>
              </a:rPr>
              <a:t>LLM-Based Evaluators</a:t>
            </a:r>
            <a:endParaRPr lang="en-GB" sz="3200" u="sng" dirty="0">
              <a:effectLst/>
              <a:latin typeface="Helvetica Neue" panose="02000503000000020004" pitchFamily="2" charset="0"/>
            </a:endParaRPr>
          </a:p>
          <a:p>
            <a:endParaRPr lang="fr-CA" sz="3200" dirty="0"/>
          </a:p>
        </p:txBody>
      </p:sp>
    </p:spTree>
    <p:extLst>
      <p:ext uri="{BB962C8B-B14F-4D97-AF65-F5344CB8AC3E}">
        <p14:creationId xmlns:p14="http://schemas.microsoft.com/office/powerpoint/2010/main" val="32199153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Methods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E0994-E6A2-CA47-F445-945F3E336CB7}"/>
              </a:ext>
            </a:extLst>
          </p:cNvPr>
          <p:cNvSpPr txBox="1"/>
          <p:nvPr/>
        </p:nvSpPr>
        <p:spPr>
          <a:xfrm>
            <a:off x="149196" y="2215047"/>
            <a:ext cx="884560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/>
              <a:t>Developing</a:t>
            </a:r>
            <a:r>
              <a:rPr lang="fr-FR" sz="2800" dirty="0"/>
              <a:t> a suite of </a:t>
            </a:r>
            <a:r>
              <a:rPr lang="fr-FR" sz="2800" dirty="0" err="1"/>
              <a:t>metrics</a:t>
            </a:r>
            <a:r>
              <a:rPr lang="fr-FR" sz="2800" dirty="0"/>
              <a:t> </a:t>
            </a:r>
            <a:r>
              <a:rPr lang="fr-FR" sz="2800" dirty="0" err="1"/>
              <a:t>rather</a:t>
            </a:r>
            <a:r>
              <a:rPr lang="fr-FR" sz="2800" dirty="0"/>
              <a:t> </a:t>
            </a:r>
            <a:r>
              <a:rPr lang="fr-FR" sz="2800" dirty="0" err="1"/>
              <a:t>than</a:t>
            </a:r>
            <a:r>
              <a:rPr lang="fr-FR" sz="2800" dirty="0"/>
              <a:t> one to </a:t>
            </a:r>
            <a:r>
              <a:rPr lang="fr-FR" sz="2800" dirty="0" err="1"/>
              <a:t>rule</a:t>
            </a:r>
            <a:r>
              <a:rPr lang="fr-FR" sz="2800" dirty="0"/>
              <a:t> </a:t>
            </a:r>
            <a:r>
              <a:rPr lang="fr-FR" sz="2800" dirty="0" err="1"/>
              <a:t>them</a:t>
            </a:r>
            <a:r>
              <a:rPr lang="fr-FR" sz="2800" dirty="0"/>
              <a:t> all</a:t>
            </a:r>
          </a:p>
          <a:p>
            <a:endParaRPr lang="fr-FR" sz="2800" dirty="0"/>
          </a:p>
          <a:p>
            <a:r>
              <a:rPr lang="fr-FR" sz="2800" dirty="0"/>
              <a:t>Use custom </a:t>
            </a:r>
            <a:r>
              <a:rPr lang="fr-FR" sz="2800" dirty="0" err="1"/>
              <a:t>metrics</a:t>
            </a:r>
            <a:r>
              <a:rPr lang="fr-FR" sz="2800" dirty="0"/>
              <a:t> for </a:t>
            </a:r>
            <a:r>
              <a:rPr lang="fr-FR" sz="2800" dirty="0" err="1"/>
              <a:t>particular</a:t>
            </a:r>
            <a:r>
              <a:rPr lang="fr-FR" sz="2800" dirty="0"/>
              <a:t> use case and </a:t>
            </a:r>
            <a:r>
              <a:rPr lang="fr-FR" sz="2800" dirty="0" err="1"/>
              <a:t>validate</a:t>
            </a:r>
            <a:r>
              <a:rPr lang="fr-FR" sz="2800" dirty="0"/>
              <a:t> </a:t>
            </a:r>
            <a:r>
              <a:rPr lang="fr-FR" sz="2800" dirty="0" err="1"/>
              <a:t>them</a:t>
            </a:r>
            <a:r>
              <a:rPr lang="fr-FR" sz="2800" dirty="0"/>
              <a:t> </a:t>
            </a:r>
            <a:r>
              <a:rPr lang="fr-FR" sz="2800" dirty="0" err="1"/>
              <a:t>against</a:t>
            </a:r>
            <a:r>
              <a:rPr lang="fr-FR" sz="2800" dirty="0"/>
              <a:t> </a:t>
            </a:r>
            <a:r>
              <a:rPr lang="fr-FR" sz="2800" dirty="0" err="1"/>
              <a:t>human</a:t>
            </a:r>
            <a:r>
              <a:rPr lang="fr-FR" sz="2800" dirty="0"/>
              <a:t> </a:t>
            </a:r>
            <a:r>
              <a:rPr lang="fr-FR" sz="2800" dirty="0" err="1"/>
              <a:t>evaluated</a:t>
            </a:r>
            <a:r>
              <a:rPr lang="fr-FR" sz="2800" dirty="0"/>
              <a:t> </a:t>
            </a:r>
            <a:r>
              <a:rPr lang="fr-FR" sz="2800" dirty="0" err="1"/>
              <a:t>summaries</a:t>
            </a:r>
            <a:r>
              <a:rPr lang="fr-FR" sz="2800" dirty="0"/>
              <a:t> : </a:t>
            </a:r>
            <a:r>
              <a:rPr lang="fr-FR" sz="2800" dirty="0" err="1"/>
              <a:t>e.g</a:t>
            </a:r>
            <a:r>
              <a:rPr lang="fr-FR" sz="2800" dirty="0"/>
              <a:t> </a:t>
            </a:r>
            <a:r>
              <a:rPr lang="fr-FR" sz="2800" dirty="0" err="1"/>
              <a:t>semantic</a:t>
            </a:r>
            <a:r>
              <a:rPr lang="fr-FR" sz="2800" dirty="0"/>
              <a:t> </a:t>
            </a:r>
            <a:r>
              <a:rPr lang="fr-FR" sz="2800" dirty="0" err="1"/>
              <a:t>difference</a:t>
            </a:r>
            <a:r>
              <a:rPr lang="fr-FR" sz="2800" dirty="0"/>
              <a:t> </a:t>
            </a:r>
            <a:r>
              <a:rPr lang="fr-FR" sz="2800" dirty="0" err="1"/>
              <a:t>between</a:t>
            </a:r>
            <a:r>
              <a:rPr lang="fr-FR" sz="2800" dirty="0"/>
              <a:t> 8GB VS 16GB</a:t>
            </a:r>
          </a:p>
          <a:p>
            <a:endParaRPr lang="fr-FR" sz="2800" dirty="0"/>
          </a:p>
          <a:p>
            <a:r>
              <a:rPr lang="fr-FR" sz="2800" dirty="0" err="1"/>
              <a:t>Combining</a:t>
            </a:r>
            <a:r>
              <a:rPr lang="fr-FR" sz="2800" dirty="0"/>
              <a:t> LLM </a:t>
            </a:r>
            <a:r>
              <a:rPr lang="fr-FR" sz="2800" dirty="0" err="1"/>
              <a:t>based</a:t>
            </a:r>
            <a:r>
              <a:rPr lang="fr-FR" sz="2800" dirty="0"/>
              <a:t> and </a:t>
            </a:r>
            <a:r>
              <a:rPr lang="fr-FR" sz="2800" dirty="0" err="1"/>
              <a:t>smaller</a:t>
            </a:r>
            <a:r>
              <a:rPr lang="fr-FR" sz="2800" dirty="0"/>
              <a:t> </a:t>
            </a:r>
            <a:r>
              <a:rPr lang="fr-FR" sz="2800" dirty="0" err="1"/>
              <a:t>PTMs</a:t>
            </a:r>
            <a:r>
              <a:rPr lang="fr-FR" sz="2800" dirty="0"/>
              <a:t> </a:t>
            </a:r>
            <a:r>
              <a:rPr lang="fr-FR" sz="2800" dirty="0" err="1"/>
              <a:t>based</a:t>
            </a:r>
            <a:r>
              <a:rPr lang="fr-FR" sz="2800" dirty="0"/>
              <a:t> </a:t>
            </a:r>
            <a:r>
              <a:rPr lang="fr-FR" sz="2800" dirty="0" err="1"/>
              <a:t>metrics</a:t>
            </a:r>
            <a:r>
              <a:rPr lang="fr-FR" sz="2800" dirty="0"/>
              <a:t> / non-model </a:t>
            </a:r>
            <a:r>
              <a:rPr lang="fr-FR" sz="2800" dirty="0" err="1"/>
              <a:t>metrics</a:t>
            </a:r>
            <a:r>
              <a:rPr lang="fr-FR" sz="2800" dirty="0"/>
              <a:t> : </a:t>
            </a:r>
            <a:r>
              <a:rPr lang="fr-FR" sz="2800" dirty="0" err="1"/>
              <a:t>allow</a:t>
            </a:r>
            <a:r>
              <a:rPr lang="fr-FR" sz="2800" dirty="0"/>
              <a:t> to </a:t>
            </a:r>
            <a:r>
              <a:rPr lang="fr-FR" sz="2800" dirty="0" err="1"/>
              <a:t>detect</a:t>
            </a:r>
            <a:r>
              <a:rPr lang="fr-FR" sz="2800" dirty="0"/>
              <a:t> </a:t>
            </a:r>
            <a:r>
              <a:rPr lang="fr-FR" sz="2800" dirty="0" err="1"/>
              <a:t>discrepancies</a:t>
            </a:r>
            <a:endParaRPr lang="fr-FR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B3C3B-4861-AE41-E42B-4587930699E7}"/>
              </a:ext>
            </a:extLst>
          </p:cNvPr>
          <p:cNvSpPr txBox="1"/>
          <p:nvPr/>
        </p:nvSpPr>
        <p:spPr>
          <a:xfrm>
            <a:off x="567070" y="1246127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effectLst/>
                <a:latin typeface="Helvetica Neue" panose="02000503000000020004" pitchFamily="2" charset="0"/>
              </a:rPr>
              <a:t>Practice to avoid pitfalls</a:t>
            </a:r>
            <a:endParaRPr lang="en-GB" sz="3200" u="sng" dirty="0">
              <a:effectLst/>
              <a:latin typeface="Helvetica Neue" panose="02000503000000020004" pitchFamily="2" charset="0"/>
            </a:endParaRPr>
          </a:p>
          <a:p>
            <a:endParaRPr lang="fr-CA" sz="3200" dirty="0"/>
          </a:p>
        </p:txBody>
      </p:sp>
    </p:spTree>
    <p:extLst>
      <p:ext uri="{BB962C8B-B14F-4D97-AF65-F5344CB8AC3E}">
        <p14:creationId xmlns:p14="http://schemas.microsoft.com/office/powerpoint/2010/main" val="31627766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Methods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E0994-E6A2-CA47-F445-945F3E336CB7}"/>
              </a:ext>
            </a:extLst>
          </p:cNvPr>
          <p:cNvSpPr txBox="1"/>
          <p:nvPr/>
        </p:nvSpPr>
        <p:spPr>
          <a:xfrm>
            <a:off x="149196" y="2215047"/>
            <a:ext cx="88456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/>
              <a:t>Visualizing</a:t>
            </a:r>
            <a:r>
              <a:rPr lang="fr-FR" sz="2800" dirty="0"/>
              <a:t> the </a:t>
            </a:r>
            <a:r>
              <a:rPr lang="fr-FR" sz="2800" dirty="0" err="1"/>
              <a:t>metrics</a:t>
            </a:r>
            <a:r>
              <a:rPr lang="fr-FR" sz="2800" dirty="0"/>
              <a:t> and </a:t>
            </a:r>
            <a:r>
              <a:rPr lang="fr-FR" sz="2800" dirty="0" err="1"/>
              <a:t>analyzing</a:t>
            </a:r>
            <a:r>
              <a:rPr lang="fr-FR" sz="2800" dirty="0"/>
              <a:t> </a:t>
            </a:r>
            <a:r>
              <a:rPr lang="fr-FR" sz="2800" dirty="0" err="1"/>
              <a:t>them</a:t>
            </a:r>
            <a:endParaRPr lang="fr-FR" sz="2800" dirty="0"/>
          </a:p>
          <a:p>
            <a:endParaRPr lang="fr-FR" sz="2800" dirty="0"/>
          </a:p>
          <a:p>
            <a:r>
              <a:rPr lang="fr-FR" sz="2800" dirty="0" err="1"/>
              <a:t>Involve</a:t>
            </a:r>
            <a:r>
              <a:rPr lang="fr-FR" sz="2800" dirty="0"/>
              <a:t> the end </a:t>
            </a:r>
            <a:r>
              <a:rPr lang="fr-FR" sz="2800" dirty="0" err="1"/>
              <a:t>users</a:t>
            </a:r>
            <a:r>
              <a:rPr lang="fr-FR" sz="2800" dirty="0"/>
              <a:t> experts and design </a:t>
            </a:r>
            <a:r>
              <a:rPr lang="fr-FR" sz="2800" dirty="0" err="1"/>
              <a:t>metrics</a:t>
            </a:r>
            <a:r>
              <a:rPr lang="fr-FR" sz="2800" dirty="0"/>
              <a:t> </a:t>
            </a:r>
            <a:r>
              <a:rPr lang="fr-FR" sz="2800" dirty="0" err="1"/>
              <a:t>based</a:t>
            </a:r>
            <a:r>
              <a:rPr lang="fr-FR" sz="2800" dirty="0"/>
              <a:t> on </a:t>
            </a:r>
            <a:r>
              <a:rPr lang="fr-FR" sz="2800" dirty="0" err="1"/>
              <a:t>their</a:t>
            </a:r>
            <a:r>
              <a:rPr lang="fr-FR" sz="2800" dirty="0"/>
              <a:t> </a:t>
            </a:r>
            <a:r>
              <a:rPr lang="fr-FR" sz="2800" dirty="0" err="1"/>
              <a:t>own</a:t>
            </a:r>
            <a:r>
              <a:rPr lang="fr-FR" sz="2800" dirty="0"/>
              <a:t> </a:t>
            </a:r>
            <a:r>
              <a:rPr lang="fr-FR" sz="2800" dirty="0" err="1"/>
              <a:t>way</a:t>
            </a:r>
            <a:r>
              <a:rPr lang="fr-FR" sz="2800" dirty="0"/>
              <a:t> to </a:t>
            </a:r>
            <a:r>
              <a:rPr lang="fr-FR" sz="2800" dirty="0" err="1"/>
              <a:t>judge</a:t>
            </a:r>
            <a:r>
              <a:rPr lang="fr-FR" sz="2800" dirty="0"/>
              <a:t> the </a:t>
            </a:r>
            <a:r>
              <a:rPr lang="fr-FR" sz="2800" dirty="0" err="1"/>
              <a:t>quality</a:t>
            </a:r>
            <a:r>
              <a:rPr lang="fr-FR" sz="2800" dirty="0"/>
              <a:t> of the </a:t>
            </a:r>
            <a:r>
              <a:rPr lang="fr-FR" sz="2800" dirty="0" err="1"/>
              <a:t>summary</a:t>
            </a:r>
            <a:endParaRPr lang="fr-FR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B3C3B-4861-AE41-E42B-4587930699E7}"/>
              </a:ext>
            </a:extLst>
          </p:cNvPr>
          <p:cNvSpPr txBox="1"/>
          <p:nvPr/>
        </p:nvSpPr>
        <p:spPr>
          <a:xfrm>
            <a:off x="567070" y="1246127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effectLst/>
                <a:latin typeface="Helvetica Neue" panose="02000503000000020004" pitchFamily="2" charset="0"/>
              </a:rPr>
              <a:t>Practice to avoid pitfalls</a:t>
            </a:r>
            <a:endParaRPr lang="en-GB" sz="3200" u="sng" dirty="0">
              <a:effectLst/>
              <a:latin typeface="Helvetica Neue" panose="02000503000000020004" pitchFamily="2" charset="0"/>
            </a:endParaRPr>
          </a:p>
          <a:p>
            <a:endParaRPr lang="fr-CA" sz="3200" dirty="0"/>
          </a:p>
        </p:txBody>
      </p:sp>
    </p:spTree>
    <p:extLst>
      <p:ext uri="{BB962C8B-B14F-4D97-AF65-F5344CB8AC3E}">
        <p14:creationId xmlns:p14="http://schemas.microsoft.com/office/powerpoint/2010/main" val="38258068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639726" y="3016904"/>
            <a:ext cx="8534400" cy="10772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32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EvaluLLM</a:t>
            </a:r>
            <a:r>
              <a:rPr lang="en-GB" sz="3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LLM Assisted Evaluation of Generative Outputs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33F6D9-1232-B347-9B20-057E36BDEE35}"/>
              </a:ext>
            </a:extLst>
          </p:cNvPr>
          <p:cNvSpPr txBox="1"/>
          <p:nvPr/>
        </p:nvSpPr>
        <p:spPr>
          <a:xfrm>
            <a:off x="89841" y="3013360"/>
            <a:ext cx="38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b="1" dirty="0"/>
              <a:t>3 </a:t>
            </a:r>
          </a:p>
        </p:txBody>
      </p:sp>
      <p:pic>
        <p:nvPicPr>
          <p:cNvPr id="3" name="Picture 11" descr="top">
            <a:extLst>
              <a:ext uri="{FF2B5EF4-FFF2-40B4-BE49-F238E27FC236}">
                <a16:creationId xmlns:a16="http://schemas.microsoft.com/office/drawing/2014/main" id="{4CE25EBA-F320-EA93-EB4A-25D76E404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2714909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578ABCEE-802B-BA84-2F61-F1C6A3033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409412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0F9098F2-0A8B-7967-B9F9-EFADD235A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A67B0487-94CB-C5E5-F88C-42F2FC6CD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" y="6422509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9DD11CD6-8C0D-4A57-F874-2C4F507B5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114" y="638943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D6FB8CA5-5DCC-9948-DE72-1E88BED21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638943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4916410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State of the Art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E0994-E6A2-CA47-F445-945F3E336CB7}"/>
              </a:ext>
            </a:extLst>
          </p:cNvPr>
          <p:cNvSpPr txBox="1"/>
          <p:nvPr/>
        </p:nvSpPr>
        <p:spPr>
          <a:xfrm>
            <a:off x="149196" y="2215047"/>
            <a:ext cx="88456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/>
              <a:t>Prometheus</a:t>
            </a:r>
            <a:r>
              <a:rPr lang="fr-FR" sz="2800" dirty="0"/>
              <a:t> : Pearson </a:t>
            </a:r>
            <a:r>
              <a:rPr lang="fr-FR" sz="2800" dirty="0" err="1"/>
              <a:t>correlation</a:t>
            </a:r>
            <a:r>
              <a:rPr lang="fr-FR" sz="2800" dirty="0"/>
              <a:t> of 0.897 </a:t>
            </a:r>
            <a:r>
              <a:rPr lang="fr-FR" sz="2800" dirty="0" err="1"/>
              <a:t>with</a:t>
            </a:r>
            <a:r>
              <a:rPr lang="fr-FR" sz="2800" dirty="0"/>
              <a:t> </a:t>
            </a:r>
            <a:r>
              <a:rPr lang="fr-FR" sz="2800" dirty="0" err="1"/>
              <a:t>human</a:t>
            </a:r>
            <a:r>
              <a:rPr lang="fr-FR" sz="2800" dirty="0"/>
              <a:t> </a:t>
            </a:r>
            <a:r>
              <a:rPr lang="fr-FR" sz="2800" dirty="0" err="1"/>
              <a:t>evaluators</a:t>
            </a:r>
            <a:endParaRPr lang="fr-FR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B3C3B-4861-AE41-E42B-4587930699E7}"/>
              </a:ext>
            </a:extLst>
          </p:cNvPr>
          <p:cNvSpPr txBox="1"/>
          <p:nvPr/>
        </p:nvSpPr>
        <p:spPr>
          <a:xfrm>
            <a:off x="567070" y="1246127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effectLst/>
                <a:latin typeface="Helvetica Neue" panose="02000503000000020004" pitchFamily="2" charset="0"/>
              </a:rPr>
              <a:t>LLMs fine tuned for evaluation</a:t>
            </a:r>
            <a:endParaRPr lang="en-GB" sz="3200" u="sng" dirty="0">
              <a:effectLst/>
              <a:latin typeface="Helvetica Neue" panose="02000503000000020004" pitchFamily="2" charset="0"/>
            </a:endParaRPr>
          </a:p>
          <a:p>
            <a:endParaRPr lang="fr-CA" sz="3200" dirty="0"/>
          </a:p>
        </p:txBody>
      </p:sp>
    </p:spTree>
    <p:extLst>
      <p:ext uri="{BB962C8B-B14F-4D97-AF65-F5344CB8AC3E}">
        <p14:creationId xmlns:p14="http://schemas.microsoft.com/office/powerpoint/2010/main" val="8686946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 err="1"/>
              <a:t>EvaluLLM</a:t>
            </a:r>
            <a:endParaRPr lang="en-US" sz="3200" b="1" dirty="0"/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31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E0994-E6A2-CA47-F445-945F3E336CB7}"/>
              </a:ext>
            </a:extLst>
          </p:cNvPr>
          <p:cNvSpPr txBox="1"/>
          <p:nvPr/>
        </p:nvSpPr>
        <p:spPr>
          <a:xfrm>
            <a:off x="187296" y="1364829"/>
            <a:ext cx="884560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Task and Dataset Definition</a:t>
            </a:r>
            <a:r>
              <a:rPr lang="en-GB" sz="2400" dirty="0"/>
              <a:t>: </a:t>
            </a:r>
            <a:r>
              <a:rPr lang="en-GB" sz="2400" dirty="0" err="1"/>
              <a:t>EvaluLLM</a:t>
            </a:r>
            <a:r>
              <a:rPr lang="en-GB" sz="2400" dirty="0"/>
              <a:t> evaluates NLG tasks by defining a task prompt (P) and an input dataset (D). Variables from the dataset can be embedded in the task prompts using standard curly bracket notation.</a:t>
            </a:r>
          </a:p>
          <a:p>
            <a:r>
              <a:rPr lang="en-GB" sz="2400" b="1" dirty="0"/>
              <a:t>Model Evaluation</a:t>
            </a:r>
            <a:r>
              <a:rPr lang="en-GB" sz="2400" dirty="0"/>
              <a:t>: The system runs the task prompts through various LLMs (evaluated LLM E) and uses a user-defined evaluation criterion (C) to assess the outputs. The criterion is a natural language description of quality specific to the user's needs.</a:t>
            </a:r>
          </a:p>
          <a:p>
            <a:r>
              <a:rPr lang="en-GB" sz="2400" b="1" dirty="0"/>
              <a:t>Comparison and Scoring</a:t>
            </a:r>
            <a:r>
              <a:rPr lang="en-GB" sz="2400" dirty="0"/>
              <a:t>: Outputs are compared in pairs to reduce complexity, with a focus on relative preferences rather than absolute scores. Evaluations can be either local (per instance) or global (aggregated over multiple instances).</a:t>
            </a:r>
          </a:p>
        </p:txBody>
      </p:sp>
    </p:spTree>
    <p:extLst>
      <p:ext uri="{BB962C8B-B14F-4D97-AF65-F5344CB8AC3E}">
        <p14:creationId xmlns:p14="http://schemas.microsoft.com/office/powerpoint/2010/main" val="2706475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 err="1"/>
              <a:t>EvaluLLM</a:t>
            </a:r>
            <a:endParaRPr lang="en-US" sz="3200" b="1" dirty="0"/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32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E0994-E6A2-CA47-F445-945F3E336CB7}"/>
              </a:ext>
            </a:extLst>
          </p:cNvPr>
          <p:cNvSpPr txBox="1"/>
          <p:nvPr/>
        </p:nvSpPr>
        <p:spPr>
          <a:xfrm>
            <a:off x="187296" y="1364829"/>
            <a:ext cx="88456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Interface Design</a:t>
            </a:r>
            <a:r>
              <a:rPr lang="en-GB" sz="2400" dirty="0"/>
              <a:t>: The </a:t>
            </a:r>
            <a:r>
              <a:rPr lang="en-GB" sz="2400" dirty="0" err="1"/>
              <a:t>EvaluLLM</a:t>
            </a:r>
            <a:r>
              <a:rPr lang="en-GB" sz="2400" dirty="0"/>
              <a:t> interface has two main components: a generator for embedding task prompts and a reviewer for selecting and evaluating outputs. Users can manually review and rate a sample of outputs or rely on automatic evaluations.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b="1" dirty="0"/>
              <a:t>Agreement Score</a:t>
            </a:r>
            <a:r>
              <a:rPr lang="en-GB" sz="2400" dirty="0"/>
              <a:t>: The system calculates an agreement score to measure how well the user and the evaluator LLM agree on output quality, aiding in understanding and debugging evaluation criteria.</a:t>
            </a:r>
          </a:p>
        </p:txBody>
      </p:sp>
    </p:spTree>
    <p:extLst>
      <p:ext uri="{BB962C8B-B14F-4D97-AF65-F5344CB8AC3E}">
        <p14:creationId xmlns:p14="http://schemas.microsoft.com/office/powerpoint/2010/main" val="18920113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 err="1"/>
              <a:t>EvaluLLM</a:t>
            </a:r>
            <a:endParaRPr lang="en-US" sz="3200" b="1" dirty="0"/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33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E0994-E6A2-CA47-F445-945F3E336CB7}"/>
              </a:ext>
            </a:extLst>
          </p:cNvPr>
          <p:cNvSpPr txBox="1"/>
          <p:nvPr/>
        </p:nvSpPr>
        <p:spPr>
          <a:xfrm>
            <a:off x="187296" y="1364829"/>
            <a:ext cx="88456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Limitations : </a:t>
            </a:r>
            <a:r>
              <a:rPr lang="en-GB" sz="2400" dirty="0"/>
              <a:t>All the limitations from an LLM. They suggest to not replace humans with it but to make the evaluation less laborious. </a:t>
            </a:r>
          </a:p>
        </p:txBody>
      </p:sp>
    </p:spTree>
    <p:extLst>
      <p:ext uri="{BB962C8B-B14F-4D97-AF65-F5344CB8AC3E}">
        <p14:creationId xmlns:p14="http://schemas.microsoft.com/office/powerpoint/2010/main" val="40209973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639726" y="3016904"/>
            <a:ext cx="8534400" cy="10772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3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Themis: Towards Flexible and Interpretable NLG Evaluation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33F6D9-1232-B347-9B20-057E36BDEE35}"/>
              </a:ext>
            </a:extLst>
          </p:cNvPr>
          <p:cNvSpPr txBox="1"/>
          <p:nvPr/>
        </p:nvSpPr>
        <p:spPr>
          <a:xfrm>
            <a:off x="89841" y="3013360"/>
            <a:ext cx="38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b="1" dirty="0"/>
              <a:t>4 </a:t>
            </a:r>
          </a:p>
        </p:txBody>
      </p:sp>
      <p:pic>
        <p:nvPicPr>
          <p:cNvPr id="3" name="Picture 11" descr="top">
            <a:extLst>
              <a:ext uri="{FF2B5EF4-FFF2-40B4-BE49-F238E27FC236}">
                <a16:creationId xmlns:a16="http://schemas.microsoft.com/office/drawing/2014/main" id="{4CE25EBA-F320-EA93-EB4A-25D76E404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2714909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578ABCEE-802B-BA84-2F61-F1C6A3033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409412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0F9098F2-0A8B-7967-B9F9-EFADD235A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A67B0487-94CB-C5E5-F88C-42F2FC6CD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" y="6422509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9DD11CD6-8C0D-4A57-F874-2C4F507B5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114" y="638943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D6FB8CA5-5DCC-9948-DE72-1E88BED21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638943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9845866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Themis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35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E0994-E6A2-CA47-F445-945F3E336CB7}"/>
              </a:ext>
            </a:extLst>
          </p:cNvPr>
          <p:cNvSpPr txBox="1"/>
          <p:nvPr/>
        </p:nvSpPr>
        <p:spPr>
          <a:xfrm>
            <a:off x="187296" y="1533235"/>
            <a:ext cx="88456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Broad application range</a:t>
            </a:r>
          </a:p>
          <a:p>
            <a:r>
              <a:rPr lang="en-GB" sz="2400" dirty="0"/>
              <a:t>Reference-free</a:t>
            </a:r>
          </a:p>
          <a:p>
            <a:r>
              <a:rPr lang="en-GB" sz="2400" dirty="0"/>
              <a:t>Interpretability thanks to the given explanations along with scores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F981ED-28F9-2760-1CB8-FEB47023AA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2784603"/>
            <a:ext cx="4774353" cy="3250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9242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Themis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2" name="Picture 11" descr="top">
            <a:extLst>
              <a:ext uri="{FF2B5EF4-FFF2-40B4-BE49-F238E27FC236}">
                <a16:creationId xmlns:a16="http://schemas.microsoft.com/office/drawing/2014/main" id="{25CF3A16-78FA-DC35-A9AD-068CC4EC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7900" y="197608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top">
            <a:extLst>
              <a:ext uri="{FF2B5EF4-FFF2-40B4-BE49-F238E27FC236}">
                <a16:creationId xmlns:a16="http://schemas.microsoft.com/office/drawing/2014/main" id="{CDB10601-5700-B46A-D58A-0282B06F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570" y="916562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bottom">
            <a:extLst>
              <a:ext uri="{FF2B5EF4-FFF2-40B4-BE49-F238E27FC236}">
                <a16:creationId xmlns:a16="http://schemas.microsoft.com/office/drawing/2014/main" id="{B67D031A-FADA-B316-993A-86605CAE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9933" y="6305311"/>
            <a:ext cx="9144000" cy="584200"/>
          </a:xfrm>
          <a:prstGeom prst="rect">
            <a:avLst/>
          </a:prstGeom>
          <a:noFill/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0A1ACDFD-B3AF-A89D-29D5-FF0E03773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6" y="6438265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E9D8437A-8826-BDCA-FF82-967A4B4B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667" y="6438265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6A25DF1A-FF2C-218C-A53A-B960BD27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484" y="641274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36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1071B0-B355-63AA-212A-96637A90A0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264552"/>
            <a:ext cx="5143500" cy="506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3233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33450" y="2864255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/>
              <a:t>Questions break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9106" y="2550666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9106" y="3514970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1F3136-DD85-9127-3E7F-3D4F14178A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309876"/>
            <a:ext cx="1831606" cy="18316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BB085A-3670-9B1C-8E11-F59E4D14B1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1142999"/>
            <a:ext cx="886767" cy="8867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0006AE-3AC7-9325-79AC-55DD343A84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6162" y="762000"/>
            <a:ext cx="1273529" cy="12735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06C702-9FC8-58C8-2D42-44624239C7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3115079"/>
            <a:ext cx="3432544" cy="343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286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8628</TotalTime>
  <Words>1703</Words>
  <Application>Microsoft Macintosh PowerPoint</Application>
  <PresentationFormat>On-screen Show (4:3)</PresentationFormat>
  <Paragraphs>425</Paragraphs>
  <Slides>38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Aqualonne</dc:creator>
  <cp:lastModifiedBy>Noe FLANDRE</cp:lastModifiedBy>
  <cp:revision>1664</cp:revision>
  <dcterms:created xsi:type="dcterms:W3CDTF">2006-08-16T00:00:00Z</dcterms:created>
  <dcterms:modified xsi:type="dcterms:W3CDTF">2024-07-29T22:31:26Z</dcterms:modified>
</cp:coreProperties>
</file>