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3" r:id="rId4"/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94"/>
  </p:normalViewPr>
  <p:slideViewPr>
    <p:cSldViewPr snapToGrid="0">
      <p:cViewPr>
        <p:scale>
          <a:sx n="109" d="100"/>
          <a:sy n="109" d="100"/>
        </p:scale>
        <p:origin x="-44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4F63-F7F1-6F7C-A9BB-0F7119520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EA2FE-D180-43C2-22C1-2F69DF4D2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8BEF1-60ED-A501-574B-FB78E292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383E3-EEA2-CA85-D9CE-4771632BC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E267B-4CCF-FEF9-2A1A-CDACFF15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2450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EE51C-44B2-8EAE-006A-457255C4C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DFDF8-B37C-6E24-E948-63C2B2FAF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B7A78-8D4C-D5DF-D58E-F9044BE0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EDC3D-2FF0-0276-2D88-42B426D9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0B386-DFBB-2434-FEBA-0D0FDC0D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2698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36376-F735-4471-B392-B358A5BFB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FBFCE-5BF7-16F2-61C3-5DB23BDEE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A4FF5-80D4-6A23-1ED8-24F21EA33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301B6-855A-E69B-B44E-6EB1380D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C7A50-2204-40D0-727C-AC81C964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493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BE46C-4601-3D03-834C-F5084B42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7F03B-6D34-C492-8570-C5EF8D8D2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F41B1-D3B0-0952-841F-927E96205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8B7BD-DDA6-2CEB-8711-5D16F758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F0CB4-91E5-D32C-F7FC-2F7BF4EE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F344A-4B13-C4A5-6B0B-AD188C853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1721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249AE-13B8-C3D0-F5A8-D5845CF81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EE1B7-2492-9F61-CB44-CEF7FDCCD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505A2-7F43-DA2B-C855-A7BCDE5C5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B3ED9-7517-8702-1ECB-175D54F80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2DF61-B239-3707-CFEE-C851B9EC53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08772-D72F-D0F3-0CF6-5259A2A1D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7FDB3A-B50F-26F8-B887-114D9E09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5BA65B-BC6D-ED2C-FEB4-DE530443F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2821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FE93-0FA9-2C3B-227F-92A0921D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689CD6-9F5E-68D8-A7D6-4A65EA53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59C70-FB08-0A3B-FE4C-6D27581E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D85AA-C64A-1849-021B-C61E78B3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1827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3863C-E396-646C-7A84-DC9D5C28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105952-5D6A-7BB4-BDCD-CCBA9920E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80577-DF38-295F-237E-0BF48811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0755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666BE-E5EF-DF55-B8FA-EAC71C6D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581A-236B-5DD5-256B-ED3FDDDEC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2F3AA-7CB1-A162-15EF-A3106F08C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4091F-846D-A30C-6436-56FF963D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FFEB2-1AF9-FAC7-DD34-21696A6A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13563-1025-ED12-2103-446706722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5936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25EC-27EA-15E4-B6E0-CABA8665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F198B-5EC2-E55D-0361-E836D3E7DC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D7498-D6C6-F989-8FEA-AE46E4BAF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ACD3B-A902-38C3-4027-B2BFC217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0A22C-D133-4303-6A5F-39256767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175F9-A123-5445-2F6D-0E2727C87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28180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7838-AEBE-E849-3CA1-2E4213FFB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E7D5E-191C-9243-FDC3-7ADF32691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E8E2-7E5E-3383-F31B-E02872F2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9B2EA-1930-B114-41F9-25F96E53E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8B33C-BC84-A836-90E2-0F7F036D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1733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3B2A7-CA3C-C3B4-166D-46D41076E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89C0B-BCA0-6027-AC94-3A5068238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CCD69-6D60-68FB-91A0-0E4759BA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26DA0-B4E2-5A0A-5F46-C2AB61C56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6538A-1448-77CC-6D5F-FA82A3D5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1149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77554-AD3B-2F7A-B235-605C959C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07436-11B2-C377-DF64-01BE229DB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11E3E-06D8-E1EA-FC16-F94CA52DF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52AD13-F0E2-BD41-A6D0-AAD23498C3A4}" type="datetimeFigureOut">
              <a:rPr lang="en-FR" smtClean="0"/>
              <a:t>01/07/2024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F7086-9E7C-762C-5290-E8C1907975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4FBD5-BE17-E2CA-2B52-65111CAFA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38CA4-2097-4943-AC05-93DC8DE7475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58481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F96E-7EB0-1F0B-204B-82CB0C8EF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Descriptive Rubrics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FF2A91-50DC-DFFC-2C0E-6A6D24B19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1585"/>
            <a:ext cx="6663717" cy="24965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85027C-F59B-FED8-4773-E98526216776}"/>
              </a:ext>
            </a:extLst>
          </p:cNvPr>
          <p:cNvSpPr txBox="1"/>
          <p:nvPr/>
        </p:nvSpPr>
        <p:spPr>
          <a:xfrm>
            <a:off x="768486" y="1506022"/>
            <a:ext cx="1204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Example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29D0F-5BD6-AB15-5712-2B5B7C485224}"/>
              </a:ext>
            </a:extLst>
          </p:cNvPr>
          <p:cNvSpPr txBox="1"/>
          <p:nvPr/>
        </p:nvSpPr>
        <p:spPr>
          <a:xfrm>
            <a:off x="838200" y="5167312"/>
            <a:ext cx="28284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Pros :  - Detailed Feedback</a:t>
            </a:r>
          </a:p>
          <a:p>
            <a:r>
              <a:rPr lang="en-FR" dirty="0"/>
              <a:t>              - Consistency</a:t>
            </a:r>
          </a:p>
          <a:p>
            <a:r>
              <a:rPr lang="en-FR" dirty="0"/>
              <a:t>              - Transparency</a:t>
            </a:r>
          </a:p>
          <a:p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553E3-E9EE-F715-999E-4CCF49030513}"/>
              </a:ext>
            </a:extLst>
          </p:cNvPr>
          <p:cNvSpPr txBox="1"/>
          <p:nvPr/>
        </p:nvSpPr>
        <p:spPr>
          <a:xfrm>
            <a:off x="5447489" y="5167312"/>
            <a:ext cx="258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Cons: - Time consuming</a:t>
            </a:r>
          </a:p>
        </p:txBody>
      </p:sp>
    </p:spTree>
    <p:extLst>
      <p:ext uri="{BB962C8B-B14F-4D97-AF65-F5344CB8AC3E}">
        <p14:creationId xmlns:p14="http://schemas.microsoft.com/office/powerpoint/2010/main" val="182499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88C8-1468-5DA2-76EA-ED5CB0149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Holistic Rubrics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96792-0E26-E301-7E6E-27AD399C7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FR" dirty="0"/>
              <a:t>Example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236FF2-DF72-3382-E5BC-86872088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19430"/>
            <a:ext cx="7772400" cy="22191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8DAD9-B24F-448A-18F8-713851AF27F4}"/>
              </a:ext>
            </a:extLst>
          </p:cNvPr>
          <p:cNvSpPr txBox="1"/>
          <p:nvPr/>
        </p:nvSpPr>
        <p:spPr>
          <a:xfrm>
            <a:off x="496111" y="5282119"/>
            <a:ext cx="16920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Pros : - Faster</a:t>
            </a:r>
          </a:p>
          <a:p>
            <a:r>
              <a:rPr lang="en-FR" dirty="0"/>
              <a:t>             -Simplier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C40CD-07E1-7BD4-66C1-2A238306FF0A}"/>
              </a:ext>
            </a:extLst>
          </p:cNvPr>
          <p:cNvSpPr txBox="1"/>
          <p:nvPr/>
        </p:nvSpPr>
        <p:spPr>
          <a:xfrm>
            <a:off x="4474723" y="5420618"/>
            <a:ext cx="337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Cons : - Less Detailed Feedback</a:t>
            </a:r>
          </a:p>
          <a:p>
            <a:r>
              <a:rPr lang="en-FR" dirty="0"/>
              <a:t>               - More subjectivity</a:t>
            </a:r>
          </a:p>
        </p:txBody>
      </p:sp>
    </p:spTree>
    <p:extLst>
      <p:ext uri="{BB962C8B-B14F-4D97-AF65-F5344CB8AC3E}">
        <p14:creationId xmlns:p14="http://schemas.microsoft.com/office/powerpoint/2010/main" val="226769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21686-F02D-6D21-5D02-3DBC5B074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8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FR" sz="8800" dirty="0"/>
              <a:t>Papers</a:t>
            </a:r>
          </a:p>
        </p:txBody>
      </p:sp>
    </p:spTree>
    <p:extLst>
      <p:ext uri="{BB962C8B-B14F-4D97-AF65-F5344CB8AC3E}">
        <p14:creationId xmlns:p14="http://schemas.microsoft.com/office/powerpoint/2010/main" val="651508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6E0B-F1FC-083E-D981-A1EA3A870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96534"/>
            <a:ext cx="9144000" cy="2387600"/>
          </a:xfrm>
        </p:spPr>
        <p:txBody>
          <a:bodyPr>
            <a:normAutofit/>
          </a:bodyPr>
          <a:lstStyle/>
          <a:p>
            <a:r>
              <a:rPr lang="en-GB" sz="4400" i="1" dirty="0">
                <a:effectLst/>
                <a:latin typeface="Helvetica" pitchFamily="2" charset="0"/>
              </a:rPr>
              <a:t>Automated Evaluation of Written Discourse Coherence Using GPT-4</a:t>
            </a:r>
            <a:br>
              <a:rPr lang="en-GB" sz="4400" dirty="0">
                <a:effectLst/>
                <a:latin typeface="Helvetica" pitchFamily="2" charset="0"/>
              </a:rPr>
            </a:br>
            <a:endParaRPr lang="en-FR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5127D-7D2C-4F19-0432-E7849928A3AC}"/>
              </a:ext>
            </a:extLst>
          </p:cNvPr>
          <p:cNvSpPr txBox="1"/>
          <p:nvPr/>
        </p:nvSpPr>
        <p:spPr>
          <a:xfrm>
            <a:off x="304801" y="84635"/>
            <a:ext cx="15975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0E4A1-EFC2-FBF5-1DD0-AE4B82FB6554}"/>
              </a:ext>
            </a:extLst>
          </p:cNvPr>
          <p:cNvSpPr txBox="1"/>
          <p:nvPr/>
        </p:nvSpPr>
        <p:spPr>
          <a:xfrm>
            <a:off x="155912" y="2500787"/>
            <a:ext cx="118801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dirty="0">
                <a:latin typeface="Helvetica" pitchFamily="2" charset="0"/>
              </a:rPr>
              <a:t>500 responses : - 20 were doubled rated collaboratively for standardization</a:t>
            </a:r>
          </a:p>
          <a:p>
            <a:r>
              <a:rPr lang="en-FR" sz="2000" dirty="0">
                <a:latin typeface="Helvetica" pitchFamily="2" charset="0"/>
              </a:rPr>
              <a:t>	            - </a:t>
            </a:r>
            <a:r>
              <a:rPr lang="en-GB" sz="2000" dirty="0">
                <a:effectLst/>
                <a:latin typeface="Helvetica" pitchFamily="2" charset="0"/>
              </a:rPr>
              <a:t>80 were rated independently</a:t>
            </a:r>
            <a:r>
              <a:rPr lang="en-GB" sz="2000" dirty="0">
                <a:latin typeface="Helvetica" pitchFamily="2" charset="0"/>
              </a:rPr>
              <a:t> </a:t>
            </a:r>
            <a:r>
              <a:rPr lang="en-GB" sz="2000" dirty="0">
                <a:effectLst/>
                <a:latin typeface="Helvetica" pitchFamily="2" charset="0"/>
              </a:rPr>
              <a:t>by pairs of raters to assess interrater agreement (k=0.93)</a:t>
            </a:r>
          </a:p>
          <a:p>
            <a:r>
              <a:rPr lang="en-GB" sz="2000" dirty="0">
                <a:latin typeface="Helvetica" pitchFamily="2" charset="0"/>
              </a:rPr>
              <a:t>	            - </a:t>
            </a:r>
            <a:r>
              <a:rPr lang="en-GB" sz="2000" dirty="0">
                <a:effectLst/>
                <a:latin typeface="Helvetica" pitchFamily="2" charset="0"/>
              </a:rPr>
              <a:t>420 responses were rated by</a:t>
            </a:r>
            <a:r>
              <a:rPr lang="en-GB" sz="2000" dirty="0">
                <a:latin typeface="Helvetica" pitchFamily="2" charset="0"/>
              </a:rPr>
              <a:t> </a:t>
            </a:r>
            <a:r>
              <a:rPr lang="en-GB" sz="2000" dirty="0">
                <a:effectLst/>
                <a:latin typeface="Helvetica" pitchFamily="2" charset="0"/>
              </a:rPr>
              <a:t>a single rater each.</a:t>
            </a:r>
          </a:p>
          <a:p>
            <a:endParaRPr lang="en-GB" sz="2000" dirty="0">
              <a:effectLst/>
              <a:latin typeface="Helvetica" pitchFamily="2" charset="0"/>
            </a:endParaRPr>
          </a:p>
          <a:p>
            <a:endParaRPr lang="en-FR" sz="20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B20EF-279E-9002-9BE7-EE7F473C73D5}"/>
              </a:ext>
            </a:extLst>
          </p:cNvPr>
          <p:cNvSpPr txBox="1"/>
          <p:nvPr/>
        </p:nvSpPr>
        <p:spPr>
          <a:xfrm>
            <a:off x="155912" y="4132003"/>
            <a:ext cx="11247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latin typeface="Helvetica" pitchFamily="2" charset="0"/>
              </a:rPr>
              <a:t>They used holistics rubrics and </a:t>
            </a:r>
            <a:r>
              <a:rPr lang="en-GB" dirty="0">
                <a:latin typeface="Helvetica" pitchFamily="2" charset="0"/>
              </a:rPr>
              <a:t>a</a:t>
            </a:r>
            <a:r>
              <a:rPr lang="en-GB" dirty="0">
                <a:effectLst/>
                <a:latin typeface="Helvetica" pitchFamily="2" charset="0"/>
              </a:rPr>
              <a:t> rating of 0</a:t>
            </a:r>
            <a:r>
              <a:rPr lang="en-GB" dirty="0">
                <a:latin typeface="Helvetica" pitchFamily="2" charset="0"/>
              </a:rPr>
              <a:t> </a:t>
            </a:r>
            <a:r>
              <a:rPr lang="en-GB" dirty="0">
                <a:effectLst/>
                <a:latin typeface="Helvetica" pitchFamily="2" charset="0"/>
              </a:rPr>
              <a:t>was also given to blank or bad-faith responses in</a:t>
            </a:r>
            <a:r>
              <a:rPr lang="en-GB" dirty="0">
                <a:latin typeface="Helvetica" pitchFamily="2" charset="0"/>
              </a:rPr>
              <a:t> </a:t>
            </a:r>
            <a:r>
              <a:rPr lang="en-GB" dirty="0">
                <a:effectLst/>
                <a:latin typeface="Helvetica" pitchFamily="2" charset="0"/>
              </a:rPr>
              <a:t>which the test taker did not attempt to respond</a:t>
            </a:r>
            <a:r>
              <a:rPr lang="en-GB" dirty="0">
                <a:latin typeface="Helvetica" pitchFamily="2" charset="0"/>
              </a:rPr>
              <a:t> </a:t>
            </a:r>
            <a:r>
              <a:rPr lang="en-GB" dirty="0">
                <a:effectLst/>
                <a:latin typeface="Helvetica" pitchFamily="2" charset="0"/>
              </a:rPr>
              <a:t>to the prompt.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59080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6E0B-F1FC-083E-D981-A1EA3A870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4519"/>
            <a:ext cx="9144000" cy="2387600"/>
          </a:xfrm>
        </p:spPr>
        <p:txBody>
          <a:bodyPr>
            <a:noAutofit/>
          </a:bodyPr>
          <a:lstStyle/>
          <a:p>
            <a:br>
              <a:rPr lang="en-GB" sz="4400" dirty="0">
                <a:effectLst/>
                <a:latin typeface="Helvetica" pitchFamily="2" charset="0"/>
              </a:rPr>
            </a:br>
            <a:br>
              <a:rPr lang="en-GB" sz="4400" dirty="0">
                <a:effectLst/>
                <a:latin typeface="Helvetica" pitchFamily="2" charset="0"/>
              </a:rPr>
            </a:br>
            <a:r>
              <a:rPr lang="en-GB" sz="4400" dirty="0">
                <a:effectLst/>
                <a:latin typeface="Helvetica" pitchFamily="2" charset="0"/>
              </a:rPr>
              <a:t> Assessing the Quality of Multiple-Choice Questions Using GPT-4 and Rule-Based Methods </a:t>
            </a:r>
            <a:br>
              <a:rPr lang="en-GB" sz="4400" dirty="0">
                <a:effectLst/>
                <a:latin typeface="Helvetica" pitchFamily="2" charset="0"/>
              </a:rPr>
            </a:br>
            <a:br>
              <a:rPr lang="en-GB" sz="4400" dirty="0">
                <a:effectLst/>
                <a:latin typeface="Helvetica" pitchFamily="2" charset="0"/>
              </a:rPr>
            </a:br>
            <a:endParaRPr lang="en-FR" sz="4400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5127D-7D2C-4F19-0432-E7849928A3AC}"/>
              </a:ext>
            </a:extLst>
          </p:cNvPr>
          <p:cNvSpPr txBox="1"/>
          <p:nvPr/>
        </p:nvSpPr>
        <p:spPr>
          <a:xfrm>
            <a:off x="304801" y="84635"/>
            <a:ext cx="15975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000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7F0BE-DC26-F006-C467-BE90AA85BD3F}"/>
              </a:ext>
            </a:extLst>
          </p:cNvPr>
          <p:cNvSpPr txBox="1"/>
          <p:nvPr/>
        </p:nvSpPr>
        <p:spPr>
          <a:xfrm>
            <a:off x="707473" y="2655788"/>
            <a:ext cx="111717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200 answers evaluated twice by two different raters and the they compute the interrater agreement for each</a:t>
            </a:r>
          </a:p>
          <a:p>
            <a:r>
              <a:rPr lang="en-GB" dirty="0"/>
              <a:t>criteria</a:t>
            </a:r>
            <a:r>
              <a:rPr lang="en-FR" dirty="0"/>
              <a:t>  they evaluated. Kappa between 0.66 and 1 across all criteria. </a:t>
            </a:r>
          </a:p>
          <a:p>
            <a:endParaRPr lang="en-FR" dirty="0"/>
          </a:p>
          <a:p>
            <a:r>
              <a:rPr lang="en-FR" dirty="0"/>
              <a:t>They use a descriptive rubrics method describing whether or not the answers where having a certain flaw or not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31A74A-B787-6713-BC17-6B518EC09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358140"/>
            <a:ext cx="7772400" cy="137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54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6E0B-F1FC-083E-D981-A1EA3A870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4519"/>
            <a:ext cx="9144000" cy="2387600"/>
          </a:xfrm>
        </p:spPr>
        <p:txBody>
          <a:bodyPr>
            <a:noAutofit/>
          </a:bodyPr>
          <a:lstStyle/>
          <a:p>
            <a:br>
              <a:rPr lang="en-GB" sz="4400" dirty="0">
                <a:effectLst/>
                <a:latin typeface="Helvetica" pitchFamily="2" charset="0"/>
              </a:rPr>
            </a:br>
            <a:br>
              <a:rPr lang="en-GB" sz="4400" dirty="0">
                <a:effectLst/>
                <a:latin typeface="Helvetica" pitchFamily="2" charset="0"/>
              </a:rPr>
            </a:br>
            <a:r>
              <a:rPr lang="en-GB" sz="4400" dirty="0">
                <a:effectLst/>
                <a:latin typeface="Helvetica" pitchFamily="2" charset="0"/>
              </a:rPr>
              <a:t> </a:t>
            </a:r>
            <a:r>
              <a:rPr lang="en-GB" sz="4400" dirty="0"/>
              <a:t>Examining LLM Prompting Strategies for Automatic Evaluation of Learner-Created Computational Artifacts</a:t>
            </a:r>
            <a:br>
              <a:rPr lang="en-GB" sz="4400" dirty="0">
                <a:effectLst/>
                <a:latin typeface="Helvetica" pitchFamily="2" charset="0"/>
              </a:rPr>
            </a:br>
            <a:br>
              <a:rPr lang="en-GB" sz="4400" dirty="0">
                <a:effectLst/>
                <a:latin typeface="Helvetica" pitchFamily="2" charset="0"/>
              </a:rPr>
            </a:br>
            <a:endParaRPr lang="en-FR" sz="4400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5127D-7D2C-4F19-0432-E7849928A3AC}"/>
              </a:ext>
            </a:extLst>
          </p:cNvPr>
          <p:cNvSpPr txBox="1"/>
          <p:nvPr/>
        </p:nvSpPr>
        <p:spPr>
          <a:xfrm>
            <a:off x="304801" y="84635"/>
            <a:ext cx="15975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000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97F0BE-DC26-F006-C467-BE90AA85BD3F}"/>
              </a:ext>
            </a:extLst>
          </p:cNvPr>
          <p:cNvSpPr txBox="1"/>
          <p:nvPr/>
        </p:nvSpPr>
        <p:spPr>
          <a:xfrm>
            <a:off x="707473" y="2655788"/>
            <a:ext cx="462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75 results to assess, two raters, kappa = 0.82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80A73-D028-56B1-4BBC-93E9A74A8FC3}"/>
              </a:ext>
            </a:extLst>
          </p:cNvPr>
          <p:cNvSpPr txBox="1"/>
          <p:nvPr/>
        </p:nvSpPr>
        <p:spPr>
          <a:xfrm>
            <a:off x="707473" y="3186550"/>
            <a:ext cx="419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A descriptive rubric based on a 1-4 scale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77938-7B2B-7B74-8D84-B9476C7A96F8}"/>
              </a:ext>
            </a:extLst>
          </p:cNvPr>
          <p:cNvSpPr txBox="1"/>
          <p:nvPr/>
        </p:nvSpPr>
        <p:spPr>
          <a:xfrm>
            <a:off x="707473" y="3717312"/>
            <a:ext cx="6206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After resolving any discrepancies through discussion, one grader proceeded to grade the remaining artifacts. 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584211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6E0B-F1FC-083E-D981-A1EA3A870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587" y="291949"/>
            <a:ext cx="10363199" cy="2387600"/>
          </a:xfrm>
        </p:spPr>
        <p:txBody>
          <a:bodyPr>
            <a:noAutofit/>
          </a:bodyPr>
          <a:lstStyle/>
          <a:p>
            <a:br>
              <a:rPr lang="en-GB" sz="4400" dirty="0">
                <a:effectLst/>
                <a:latin typeface="Helvetica" pitchFamily="2" charset="0"/>
              </a:rPr>
            </a:br>
            <a:br>
              <a:rPr lang="en-GB" sz="4400" dirty="0">
                <a:effectLst/>
                <a:latin typeface="Helvetica" pitchFamily="2" charset="0"/>
              </a:rPr>
            </a:br>
            <a:r>
              <a:rPr lang="en-GB" sz="4400" dirty="0">
                <a:effectLst/>
                <a:latin typeface="Helvetica" pitchFamily="2" charset="0"/>
              </a:rPr>
              <a:t> </a:t>
            </a:r>
            <a:r>
              <a:rPr lang="en-GB" sz="4400" dirty="0"/>
              <a:t>A Confederacy of Models: a Comprehensive Evaluation of LLMs on Creative Writing</a:t>
            </a:r>
            <a:br>
              <a:rPr lang="en-GB" sz="4400" dirty="0">
                <a:effectLst/>
                <a:latin typeface="Helvetica" pitchFamily="2" charset="0"/>
              </a:rPr>
            </a:br>
            <a:br>
              <a:rPr lang="en-GB" sz="4400" dirty="0">
                <a:effectLst/>
                <a:latin typeface="Helvetica" pitchFamily="2" charset="0"/>
              </a:rPr>
            </a:br>
            <a:endParaRPr lang="en-FR" sz="4400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5127D-7D2C-4F19-0432-E7849928A3AC}"/>
              </a:ext>
            </a:extLst>
          </p:cNvPr>
          <p:cNvSpPr txBox="1"/>
          <p:nvPr/>
        </p:nvSpPr>
        <p:spPr>
          <a:xfrm>
            <a:off x="304801" y="84635"/>
            <a:ext cx="15975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000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4AE4B-9651-80CA-63D2-FBD0BD9F5286}"/>
              </a:ext>
            </a:extLst>
          </p:cNvPr>
          <p:cNvSpPr txBox="1"/>
          <p:nvPr/>
        </p:nvSpPr>
        <p:spPr>
          <a:xfrm>
            <a:off x="924128" y="2315183"/>
            <a:ext cx="851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Descriptive rubric based on 10 criterias from a university textbook on creative writing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96CBE-B7DA-45FB-7758-60042F36D627}"/>
              </a:ext>
            </a:extLst>
          </p:cNvPr>
          <p:cNvSpPr txBox="1"/>
          <p:nvPr/>
        </p:nvSpPr>
        <p:spPr>
          <a:xfrm>
            <a:off x="1001949" y="3083668"/>
            <a:ext cx="102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10 raters, evaluating the 65 answers, each raters had a batch and they made sure each answer was rated two times for the inter rater agreement (kappa = 0.48 : they describe it as moderate agreement) </a:t>
            </a:r>
          </a:p>
        </p:txBody>
      </p:sp>
    </p:spTree>
    <p:extLst>
      <p:ext uri="{BB962C8B-B14F-4D97-AF65-F5344CB8AC3E}">
        <p14:creationId xmlns:p14="http://schemas.microsoft.com/office/powerpoint/2010/main" val="74396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6E0B-F1FC-083E-D981-A1EA3A870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949" y="885336"/>
            <a:ext cx="10363199" cy="2387600"/>
          </a:xfrm>
        </p:spPr>
        <p:txBody>
          <a:bodyPr>
            <a:noAutofit/>
          </a:bodyPr>
          <a:lstStyle/>
          <a:p>
            <a:br>
              <a:rPr lang="en-GB" sz="4400" dirty="0">
                <a:effectLst/>
                <a:latin typeface="Helvetica" pitchFamily="2" charset="0"/>
              </a:rPr>
            </a:br>
            <a:br>
              <a:rPr lang="en-GB" sz="4400" dirty="0">
                <a:effectLst/>
                <a:latin typeface="Helvetica" pitchFamily="2" charset="0"/>
              </a:rPr>
            </a:br>
            <a:r>
              <a:rPr lang="en-GB" sz="4400" dirty="0">
                <a:effectLst/>
                <a:latin typeface="Helvetica" pitchFamily="2" charset="0"/>
              </a:rPr>
              <a:t> </a:t>
            </a:r>
            <a:r>
              <a:rPr lang="en-GB" sz="4400" dirty="0"/>
              <a:t>Automated Essay Scoring and Revising Based on Open-Source Large Language Models</a:t>
            </a:r>
            <a:br>
              <a:rPr lang="en-GB" sz="4400" dirty="0">
                <a:effectLst/>
                <a:latin typeface="Helvetica" pitchFamily="2" charset="0"/>
              </a:rPr>
            </a:br>
            <a:br>
              <a:rPr lang="en-GB" sz="4400" dirty="0">
                <a:effectLst/>
                <a:latin typeface="Helvetica" pitchFamily="2" charset="0"/>
              </a:rPr>
            </a:br>
            <a:endParaRPr lang="en-FR" sz="4400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5127D-7D2C-4F19-0432-E7849928A3AC}"/>
              </a:ext>
            </a:extLst>
          </p:cNvPr>
          <p:cNvSpPr txBox="1"/>
          <p:nvPr/>
        </p:nvSpPr>
        <p:spPr>
          <a:xfrm>
            <a:off x="304801" y="84635"/>
            <a:ext cx="15975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8000" dirty="0"/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4AE4B-9651-80CA-63D2-FBD0BD9F5286}"/>
              </a:ext>
            </a:extLst>
          </p:cNvPr>
          <p:cNvSpPr txBox="1"/>
          <p:nvPr/>
        </p:nvSpPr>
        <p:spPr>
          <a:xfrm>
            <a:off x="1232170" y="2218503"/>
            <a:ext cx="4951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Descriptive </a:t>
            </a:r>
            <a:r>
              <a:rPr lang="en-FR" dirty="0"/>
              <a:t>rubric, each score can be achieved according to certain criterias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3B6EFC-DEE5-89D4-0B48-B6B2D456B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769" y="2079136"/>
            <a:ext cx="4457700" cy="3352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E631E7-7991-F115-80AA-91F35A84C4AF}"/>
              </a:ext>
            </a:extLst>
          </p:cNvPr>
          <p:cNvSpPr txBox="1"/>
          <p:nvPr/>
        </p:nvSpPr>
        <p:spPr>
          <a:xfrm>
            <a:off x="1232170" y="4083365"/>
            <a:ext cx="4951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Kappa </a:t>
            </a:r>
            <a:r>
              <a:rPr lang="fr-FR" dirty="0" err="1"/>
              <a:t>between</a:t>
            </a:r>
            <a:r>
              <a:rPr lang="fr-FR" dirty="0"/>
              <a:t> 0.128 and 0.660 </a:t>
            </a:r>
            <a:r>
              <a:rPr lang="fr-FR" dirty="0" err="1"/>
              <a:t>according</a:t>
            </a:r>
            <a:r>
              <a:rPr lang="fr-FR" dirty="0"/>
              <a:t> to the </a:t>
            </a:r>
            <a:r>
              <a:rPr lang="fr-FR" dirty="0" err="1"/>
              <a:t>LLMs</a:t>
            </a:r>
            <a:r>
              <a:rPr lang="fr-FR" dirty="0"/>
              <a:t> </a:t>
            </a:r>
            <a:r>
              <a:rPr lang="fr-FR" dirty="0" err="1"/>
              <a:t>used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022553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356</Words>
  <Application>Microsoft Macintosh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Helvetica</vt:lpstr>
      <vt:lpstr>Office Theme</vt:lpstr>
      <vt:lpstr>Descriptive Rubrics </vt:lpstr>
      <vt:lpstr>Holistic Rubrics </vt:lpstr>
      <vt:lpstr>Papers</vt:lpstr>
      <vt:lpstr>Automated Evaluation of Written Discourse Coherence Using GPT-4 </vt:lpstr>
      <vt:lpstr>   Assessing the Quality of Multiple-Choice Questions Using GPT-4 and Rule-Based Methods   </vt:lpstr>
      <vt:lpstr>   Examining LLM Prompting Strategies for Automatic Evaluation of Learner-Created Computational Artifacts  </vt:lpstr>
      <vt:lpstr>   A Confederacy of Models: a Comprehensive Evaluation of LLMs on Creative Writing  </vt:lpstr>
      <vt:lpstr>   Automated Essay Scoring and Revising Based on Open-Source Large Language Models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 FLANDRE</dc:creator>
  <cp:lastModifiedBy>Noe FLANDRE</cp:lastModifiedBy>
  <cp:revision>2</cp:revision>
  <dcterms:created xsi:type="dcterms:W3CDTF">2024-07-01T18:07:32Z</dcterms:created>
  <dcterms:modified xsi:type="dcterms:W3CDTF">2024-07-02T15:11:04Z</dcterms:modified>
</cp:coreProperties>
</file>