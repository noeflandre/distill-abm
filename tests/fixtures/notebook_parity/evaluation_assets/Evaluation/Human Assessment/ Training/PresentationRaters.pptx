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7" r:id="rId3"/>
    <p:sldId id="302" r:id="rId4"/>
    <p:sldId id="257" r:id="rId5"/>
    <p:sldId id="258" r:id="rId6"/>
    <p:sldId id="259" r:id="rId7"/>
    <p:sldId id="303" r:id="rId8"/>
    <p:sldId id="271" r:id="rId9"/>
    <p:sldId id="260" r:id="rId10"/>
    <p:sldId id="269" r:id="rId11"/>
    <p:sldId id="291" r:id="rId12"/>
    <p:sldId id="292" r:id="rId13"/>
    <p:sldId id="293" r:id="rId14"/>
    <p:sldId id="270" r:id="rId15"/>
    <p:sldId id="275" r:id="rId16"/>
    <p:sldId id="274" r:id="rId17"/>
    <p:sldId id="294" r:id="rId18"/>
    <p:sldId id="295" r:id="rId19"/>
    <p:sldId id="296" r:id="rId20"/>
    <p:sldId id="273" r:id="rId21"/>
    <p:sldId id="272" r:id="rId22"/>
    <p:sldId id="277" r:id="rId23"/>
    <p:sldId id="297" r:id="rId24"/>
    <p:sldId id="298" r:id="rId25"/>
    <p:sldId id="299" r:id="rId26"/>
    <p:sldId id="276" r:id="rId27"/>
    <p:sldId id="278" r:id="rId28"/>
    <p:sldId id="279" r:id="rId29"/>
    <p:sldId id="300" r:id="rId30"/>
    <p:sldId id="301" r:id="rId31"/>
    <p:sldId id="263" r:id="rId32"/>
    <p:sldId id="305" r:id="rId33"/>
    <p:sldId id="306" r:id="rId34"/>
    <p:sldId id="304" r:id="rId35"/>
    <p:sldId id="281" r:id="rId36"/>
    <p:sldId id="308" r:id="rId37"/>
    <p:sldId id="285" r:id="rId38"/>
    <p:sldId id="284" r:id="rId39"/>
    <p:sldId id="309" r:id="rId40"/>
    <p:sldId id="282" r:id="rId41"/>
    <p:sldId id="283" r:id="rId42"/>
    <p:sldId id="310" r:id="rId43"/>
    <p:sldId id="286" r:id="rId44"/>
    <p:sldId id="287" r:id="rId45"/>
    <p:sldId id="288" r:id="rId46"/>
    <p:sldId id="289" r:id="rId47"/>
    <p:sldId id="311" r:id="rId48"/>
    <p:sldId id="290" r:id="rId49"/>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94"/>
  </p:normalViewPr>
  <p:slideViewPr>
    <p:cSldViewPr snapToGrid="0">
      <p:cViewPr varScale="1">
        <p:scale>
          <a:sx n="121" d="100"/>
          <a:sy n="121" d="100"/>
        </p:scale>
        <p:origin x="3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22.442"/>
    </inkml:context>
    <inkml:brush xml:id="br0">
      <inkml:brushProperty name="width" value="0.05" units="cm"/>
      <inkml:brushProperty name="height" value="0.05" units="cm"/>
      <inkml:brushProperty name="color" value="#F6630D"/>
    </inkml:brush>
  </inkml:definitions>
  <inkml:trace contextRef="#ctx0" brushRef="#br0">3968 139 24575,'-15'0'0,"-25"0"0,17 0 0,-22-4 0,12 3 0,4-8 0,-23 3 0,9 1 0,-18 0 0,7 5 0,-7 0 0,11 0 0,-24 0 0,23 0 0,-32 0 0,18 0 0,-12 0 0,-9 0 0,5 0 0,-14 0-374,43 0 0,-1 0 374,-1 0 0,-1 0 0,-7 0 0,-2 0 0,-4 0 0,0 0 0,2 0 0,3 0 0,10 0 0,2 0 0,-4 0 0,1 0 0,-29 0 0,-7 5 0,29 1 0,2 2 0,-20 6 0,23-1 0,0-1 0,-16 1 0,-13 11 0,6-11 0,-8 10 0,0-9 0,21 0 0,-2 1 0,19-5 0,0 1 0,-16 3 0,4 2 0,-10 7-11,3 0 11,6 4 0,-1-3 0,-5 9 0,19-10 0,-10 9 0,21-7 0,-8 7 0,7 11 0,-7 11 0,5 4 0,-1 19 0,15-26 0,-2 16 0,13-19 0,5 0 0,6-2 0,5-12 748,0-1-748,0-11 11,0 0-11,0-10 0,8 4 0,-3-3 0,11 3 0,-2 6 0,-1 0 0,5 11 0,-8-4 0,9 9 0,-4-3 0,6 18 0,5-4 0,3 19 0,13 4 0,3 11 0,-19-37 0,1 0 0,16 25 0,6 8 0,-14-28 0,9 7 0,-10-10 0,2-11 0,-11-7 0,2-7 0,-9-6 0,8 1 0,17 24 0,1-11 0,21 25 0,-2-9 0,4 8 0,7 7 0,-32-29 0,-1-2 0,21 18 0,17 6 0,-26-14 0,20 8 0,-15-9 0,22 9 0,-15-13-458,23 2 458,-9-3 0,7-9 0,-34-7 0,1 0-477,-4-2 0,1-1 477,11 5 0,2 0 0,1 1 0,-1-2 0,1-2 0,1 0 0,7 4 0,2-1 0,-5-5 0,0-1 0,1 2 0,-1 1 0,-1-3 0,0-1 0,0 1 0,0-1 0,1-3 0,1 0 0,-2 3 0,2-1 0,8-4 0,1-1 0,-9 6 0,1-1 0,13-4 0,1-1 0,-4 7 0,0-1 0,10-4 0,2-2-1220,0 4 0,0-1 1220,1-3 0,-2 0 0,-18 0 0,-2-1-395,1-3 1,-4 0 394,31 1 0,-46-4 0,-2-2 362,29 1-362,-13-4 810,-20-7-810,4-10 2497,-3-12-2497,7-7 0,10-14 53,9-2-53,-27 18 0,0 1 0,25-17 0,-21 14 0,-2 0 0,13-12 0,-24 17 0,1-2 0,28-25 0,-7 0 0,-6 2 0,-8 7 0,-8-2 0,-11 6 0,5-20 0,-11 18 0,7-16 0,-8 12 0,1 0 919,-4-13-919,2 12 0,-8-5 0,4 14 0,-6-17 0,-5 6 0,0-16 0,-5 11 0,0 9 0,0 1 0,0 6 0,-9-1 0,2 2 0,-12 6 0,4 0 0,-11-1 0,5 0 0,-10-2 0,10 3 0,-9 3 0,9-2 0,-23-6 0,1-7 0,-24-10-556,28 26 1,-2 0 555,-3-2 0,0 1 0,4 4 0,0-1-220,-2-2 1,1 2 219,-26-21 0,-2-7 0,3 7 0,13 3 0,10 18 0,1-2 0,13 16 0,-19-17 0,5 14 0,-1-8 0,-7 10 1085,15 2-1085,-16-8 465,10 6-465,-10-5 0,9 0 0,-10 3 0,10-3 0,-3 6 0,0 4 0,5-3 0,-12 7 0,12-7 0,-29 3 0,24 0 0,-18 1 0,30 2 0,-5 2 0,5-8 0,-6 4 0,0-1 0,-6-3 0,-2 2 0,-6 0 0,0 2 0,6 4 0,-4 1 0,10 4 0,-4 1 0,6 5 0,6 0 0,-5 0 0,11 0 0,-18 0 0,16 0 0,-10-4 0,13 3 0,4-7 0,-3 7 0,8-6 0,-9 6 0,5-3 0,-6 4 0,1 0 0,-6 0 0,16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41.965"/>
    </inkml:context>
    <inkml:brush xml:id="br0">
      <inkml:brushProperty name="width" value="0.05" units="cm"/>
      <inkml:brushProperty name="height" value="0.05" units="cm"/>
      <inkml:brushProperty name="color" value="#F6630D"/>
    </inkml:brush>
  </inkml:definitions>
  <inkml:trace contextRef="#ctx0" brushRef="#br0">0 7906 24575,'25'-8'0,"19"-15"0,4-3 0,14-9-848,2-1 0,1-1 848,10-7-2493,-11 4 1,12-8-1,-5 4 2493,-2 4 0,2-2 0,2-3 0,6-5 0,-7 4 391,-7 4 1,-6 3-392,-2 3 0,-1 0 0,6-4 0,1 0 0,-4 0 0,-1 0 0,-1 5 0,0-2 0,1-6 0,0 0 0,-6 7 0,0 1 0,6-8 0,2-1 0,2-1 0,2 0-698,4-1 1,2-2 697,5-6 0,3-2 0,2 3 0,1 0 0,-28 16 0,1-1 0,3-2 0,3-1 0,4-2 0,0-1 0,-2 2 0,4-2 0,-2 1 0,3-1-461,-4 4 0,4-3 0,0 2 0,-5 2 461,-1 2 0,-5 2 0,2 1 0,3-2 0,0-1 0,-1 2 1814,16-13 0,-2 1-1814,6-5 0,-1 0 0,-5 3 0,-1-2-632,-2-3 0,2-3 632,-6 6 0,4-1 0,-5 1 0,2-7 0,2-2 0,-13 13 0,6-4 0,1-1 0,-5 4-329,-3 2 1,-5 4 0,4-5 328,4-3 0,3-5 0,1-1 0,0 2-181,-5 4 1,-1 2 0,1-1 0,2-2 180,9-7 0,1-2 0,2-1 0,0 0-630,3-1 0,1 0 1,0 0-1,1-1 630,-12 13 0,0 0 0,0-1 0,1 1 0,1-1-256,2-3 1,0 0 0,1 0 0,0 1 0,-1 0 255,-2 4 0,-1 1 0,1 1 0,2-2 0,4-2 0,-4 4 0,5-3 0,3-2 0,0 0 0,0 2 0,-5 1 0,-5 5 0,11-7 0,-8 5 0,1 1 0,5-3 0,-5 5 0,6-2 0,3-1 0,0 0 0,-3 3 0,-5 3 0,6-3 0,-6 4 0,-1 2 0,2 1-65,3 2 0,2 2 0,-1 0 0,0 0 65,-4-1 0,0-2 0,-1 3 0,-1 3 0,13 2 0,0 5 0,1 2 0,10-1 0,2 1 0,0 1 0,-2 2 0,0 0 0,5 0 0,-7 1 0,5-1 0,-1 1 0,-8 2 0,-10 4 0,-7 1 0,4 0 0,16-2 0,3-1 0,1-1 0,-20 3 0,1 0 0,-1-1 0,-3 1 0,6-2 0,-4 0 0,4-1 115,2 0 1,6-1-1,-1-1 1,-8-1-116,-9-3 0,-6-1 0,2 0 413,14-1 0,3 0 0,-2-2-413,-6-4 0,-2-2 0,0 0 685,-4 4 0,-1 0 1,-2-1-686,22-14 0,-3-1 0,0 1 0,-1 0 0,-1 4 0,0 0 757,-5 2 1,0 0-758,3 3 0,-1 1 0,-4 0 0,-1 1 0,-5 3 0,0 0 0,0-2 0,-2 0 0,-2 6 0,-4 0 0,27-16 0,-33 18 0,-2 1 0,7-4 0,26-13 0,-17 11-1750,-6-2 1750,-3 9 1732,-6-2-1732,0 3 1575,-6 0-1575,-8-1 1414,-7 7-1414,-6-2 6784,-8 4-6784,-3 1 0,-8 3 0,-4 2 0,-1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43.792"/>
    </inkml:context>
    <inkml:brush xml:id="br0">
      <inkml:brushProperty name="width" value="0.05" units="cm"/>
      <inkml:brushProperty name="height" value="0.05" units="cm"/>
      <inkml:brushProperty name="color" value="#F6630D"/>
    </inkml:brush>
  </inkml:definitions>
  <inkml:trace contextRef="#ctx0" brushRef="#br0">0 52 24575,'11'0'0,"1"0"0,22 0 0,-3 0 0,21 0 0,2 0 0,17 0 0,16 0 0,2 0-299,-32 0 0,-1 0 299,20 0 0,-21 1 0,-1-2 0,13-4 0,12 4 0,-19-9 0,-18 8 0,-2-6 0,-18 3 0,0 0 0,-10-2 0,0 6 598,-5-3-598,1 4 0,-1 0 0,-3-3 0,2 2 0,-8 1 0,5 4 0,-10 4 0,3 3 0,-8 2 0,2 3 0,-6 6 0,-13 24 0,1-5 0,-7 17 0,10-22 0,0 4 0,5-11 0,-4 5 0,5-6 0,5-6 0,-3 4 0,4-8 0,-5 9 0,-6 2 0,-7 7 0,-16 21 0,7-10 0,-19 18 0,23-15 0,-16 9 0,19-15 0,-5 4 0,13-18 0,4 5 0,5-13 0,6 0 0,-2-10 0,4 4 0,4-7 0,-4 2 0,8-3 0,-4-1 0,1-3 0,2-4 0,-2-1 0,3-2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55.241"/>
    </inkml:context>
    <inkml:brush xml:id="br0">
      <inkml:brushProperty name="width" value="0.05" units="cm"/>
      <inkml:brushProperty name="height" value="0.05" units="cm"/>
      <inkml:brushProperty name="color" value="#5B2D90"/>
    </inkml:brush>
  </inkml:definitions>
  <inkml:trace contextRef="#ctx0" brushRef="#br0">2187 73 24575,'-16'0'0,"-25"0"0,3 0 0,-19 0 0,4 0 0,4 0 0,-12 0 0,0 0 0,-10 0 0,7 0 0,-12 0 0,14 0 0,-8 0 0,-7 0 0,5 0 0,2 0 0,-14 0 0,24 0 0,-31 0 0,-5 0 0,11 10 0,-8 3 0,32 9 0,12 4 0,-6 8 0,10 0 0,-11 10 0,17-11 0,-4 4 0,13-7 0,6-1 0,4 0 0,6 3 0,5-3 0,-6 16 0,4-3 0,-11 26 0,3 2 0,-1 7 0,-1 4 0,0 5-625,1-10 1,-1 5 0,1-1 624,4-4 0,1 0 0,2-3 0,-2 23 0,3-1 0,3-23 0,1 1 0,2-2 0,4 20 0,2-3 0,-4-7 0,0-2 0,4 5 0,0-4 0,0-23 0,0-3-212,0 6 0,0-1 212,0 37 0,0-26 0,0-21 0,4-9 0,5-18 1830,0-4-1830,11-2 467,-6-3-467,18 5 0,-1 6 0,11 8 0,15 9 0,3 11-552,-20-23 0,2 1 552,5 6 0,3 2 0,5 2 0,3-1 0,0 1 0,2 1 0,4 3 0,3-1 0,-2-9 0,0-1 0,-2 7 0,0-3 0,6-9 0,-3-3 0,22 21 0,-35-26 0,3-2 0,-6-1 0,1 0 0,4 1 0,1-2 0,2-1 0,0-2 0,-6-3 0,0-1 0,1 1 0,0 0 0,0-3 0,2 1 0,11 2 0,2 0 0,-8-3 0,-1 0 0,10 0 0,-2 0 0,-15-3 0,-3 0-129,3 0 1,-1-2 128,28-2 0,-24 0 0,1 0 0,29 0 0,-30-1 0,-1-3 0,10-12 0,6-14 0,-6-17 0,-17 6 0,17-17 0,-25 18 0,8-16 0,-9 0 0,10-17 0,-15-7 0,-8 36 0,-1-1 0,2-42 0,-8 40 0,1-2-421,-5-3 0,0-2 421,2-4 0,1-1-758,-2-14 1,-1-1 757,4 5 0,0-3 0,-4-4 0,-2-7 0,1 6 0,3-3 0,-1 2 0,-1-14 0,-1 3 0,-6 27 0,-1 6 376,6-21-376,-8 25 0,0 0 94,1-20-94,-5 3 0,0 22 0,0 0 795,-4 13-795,-11-11 1628,-2 9-1628,-9-10 665,1 5-665,4 0 160,-10-6-160,-4-10 0,0-6 0,-13-11 0,13 21 0,-11-9 0,7 17 0,-12-8 0,7 13 0,0 0 0,-16-12 0,14 15 0,1 0 0,-6-8 0,-1 5 0,-4-5 0,6 11 0,-23-14 0,21 19 0,-17-6 0,26 9 0,-4 4 0,6-3 0,1 5 0,5 4 0,2-2 0,6 8 0,-6-4 0,4 5 0,-9-1 0,-3 0 0,-1 0 0,-28-10 0,30 4 0,-23-9 0,35 6 0,-5 4 0,5-2 0,1 7 0,-13-4 0,-2 8 0,-19 2 0,-9 4 0,-18 0-471,-9 0 471,14 0 0,-1 0 0,22 0 0,5 0 0,14 0 0,16 3 0,18-2 0,2 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7536-60B9-0E49-F16C-C95DAA933F6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BDCC1B8D-0D0C-94A6-B1F0-87BA5CAA9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19EF9CD7-7F82-C704-8A70-A78F46B2F308}"/>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AD65ED58-B90A-B861-310B-7DB057C6AEDB}"/>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8F74B430-10FD-F091-8B4F-B6B100AAF8E4}"/>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2539456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06EF-98BA-7127-9329-246590A0D7E4}"/>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66F73DC9-CF8B-D063-BC57-8C9E8509792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88F35CCD-E9B5-55AC-50C2-E40EE15EAACD}"/>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A98A85BB-77FF-92EA-6DEB-72369BF8B3A5}"/>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679AC53-1B4D-C61D-FC57-25FE6450B412}"/>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210363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91A9F-4823-6F3B-01E8-933E8C7BA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A5C05BC0-68EA-B6AB-25CF-49750E580D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1332870-74D1-A594-7388-FF78198E61D3}"/>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36DF3E0F-BE7C-B01B-38CF-412B8CE5148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9710BA86-8C30-F524-96F0-4855513F6855}"/>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2968592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E7B8-32A2-32D7-F77C-2866CBCBC262}"/>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4A11A902-F75C-1714-B4E3-2D02D75132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24B1D92E-F33A-5E33-FF9C-D4269A96311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6039A851-C1BB-CFD1-119B-0DAA42BE9F22}"/>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6" name="Footer Placeholder 5">
            <a:extLst>
              <a:ext uri="{FF2B5EF4-FFF2-40B4-BE49-F238E27FC236}">
                <a16:creationId xmlns:a16="http://schemas.microsoft.com/office/drawing/2014/main" id="{9AE283EF-F14C-EA87-1406-BDAE85D0B231}"/>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A622C8AD-141A-9351-0666-C4791AC640E4}"/>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129667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AC539-F7FD-4153-573C-6BAF183E90C1}"/>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0E5C3A79-3EFA-A8B9-AAC6-79620119A1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42A3D7-26A9-C54F-26B7-F3FC3720D48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F75389ED-7D72-B8FD-F984-A986390657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E5965A-A2C3-144E-896F-57E2D723E90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0BF6F61B-6785-601C-0ADB-FEEB647B7187}"/>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8" name="Footer Placeholder 7">
            <a:extLst>
              <a:ext uri="{FF2B5EF4-FFF2-40B4-BE49-F238E27FC236}">
                <a16:creationId xmlns:a16="http://schemas.microsoft.com/office/drawing/2014/main" id="{4123D51E-6A03-E7B6-B789-CC9D659D91B2}"/>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585D6CE5-3E26-019C-B66D-C8CD89CCCBBC}"/>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19405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8928-52E4-FAAC-D3D1-333F358CB840}"/>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7DE6B323-EB27-A1CD-B905-9C9E1803741E}"/>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4" name="Footer Placeholder 3">
            <a:extLst>
              <a:ext uri="{FF2B5EF4-FFF2-40B4-BE49-F238E27FC236}">
                <a16:creationId xmlns:a16="http://schemas.microsoft.com/office/drawing/2014/main" id="{A3F4BB70-4786-B02B-97EE-F757E28949C6}"/>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D5AE4A3E-F251-2420-AAE2-A6A658D53DAE}"/>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65818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509987-DD4B-832B-4819-FA56A46253B2}"/>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3" name="Footer Placeholder 2">
            <a:extLst>
              <a:ext uri="{FF2B5EF4-FFF2-40B4-BE49-F238E27FC236}">
                <a16:creationId xmlns:a16="http://schemas.microsoft.com/office/drawing/2014/main" id="{BF7A8ECA-72B3-2F26-1027-4E5404B6059B}"/>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2272643C-32ED-DD03-23F9-52A498CDF892}"/>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831532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8F11-3E2C-2C80-DB78-DC2851A5F7D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98999200-9378-EEB5-3E65-11BB5EEBA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4C840F68-B682-6686-1EF9-CDCC74E57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FD78B9E-FAA6-3ACF-8EC7-652EB88F3666}"/>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6" name="Footer Placeholder 5">
            <a:extLst>
              <a:ext uri="{FF2B5EF4-FFF2-40B4-BE49-F238E27FC236}">
                <a16:creationId xmlns:a16="http://schemas.microsoft.com/office/drawing/2014/main" id="{2FA84B4B-3E45-CCA8-E8A1-F7FBF0B94149}"/>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200F3964-8AD3-B472-4049-2946D80532E7}"/>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692993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D733-0BEA-3FC2-5541-50A61EE8AB8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3D51591F-0E56-46F1-B3C8-2BEBF5E2F9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551C53D1-84C6-CFBA-EAAB-C9F259ABC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5CC5463-362C-1F19-B13D-69FEC42B7AB7}"/>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6" name="Footer Placeholder 5">
            <a:extLst>
              <a:ext uri="{FF2B5EF4-FFF2-40B4-BE49-F238E27FC236}">
                <a16:creationId xmlns:a16="http://schemas.microsoft.com/office/drawing/2014/main" id="{EDC1A8C2-A416-5F9D-9EBC-999B5F704D8C}"/>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86AF86D4-190D-A76C-3386-55D7E26C3C9F}"/>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4236403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6C83E-66C1-4C49-0A7A-93F1F95E0A47}"/>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C16EE89C-7CD6-70D8-8A9F-CB531940711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4177C447-23FC-6622-3A8B-4FF0586DC3F6}"/>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342CD609-4852-31DB-E24B-340ED0EF8C8E}"/>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4E59881-70F2-5028-903F-4F24720DD702}"/>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418523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6D74ED-46E8-BB52-EEEA-1C97614304C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B74B67D6-F215-E9F7-E9D7-64B188F633C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6B4158DA-752B-CFE7-C4A4-05561525D694}"/>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0F014A18-FDB2-A0A3-7508-EF2781F55D9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AE097077-AFC4-EB8D-1485-94936752D84D}"/>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512823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4321E-D9C9-E153-AB31-6570618CEF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0A9BE3F3-8A54-873A-4E11-15DCFC383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305F9B06-5E7F-CF84-1CE2-63A4E51578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DB5E99D8-8421-926C-2ACE-F14E754B1D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R"/>
          </a:p>
        </p:txBody>
      </p:sp>
      <p:sp>
        <p:nvSpPr>
          <p:cNvPr id="6" name="Slide Number Placeholder 5">
            <a:extLst>
              <a:ext uri="{FF2B5EF4-FFF2-40B4-BE49-F238E27FC236}">
                <a16:creationId xmlns:a16="http://schemas.microsoft.com/office/drawing/2014/main" id="{0CBCFBB2-FC1F-5EED-D0B0-02FB5ACEE2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524968-640E-4042-B2D4-606BFAADE2D6}" type="slidenum">
              <a:rPr lang="en-FR" smtClean="0"/>
              <a:t>‹#›</a:t>
            </a:fld>
            <a:endParaRPr lang="en-FR"/>
          </a:p>
        </p:txBody>
      </p:sp>
    </p:spTree>
    <p:extLst>
      <p:ext uri="{BB962C8B-B14F-4D97-AF65-F5344CB8AC3E}">
        <p14:creationId xmlns:p14="http://schemas.microsoft.com/office/powerpoint/2010/main" val="2225020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customXml" Target="../ink/ink3.xm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0675" y="473039"/>
            <a:ext cx="10163504" cy="651149"/>
          </a:xfrm>
        </p:spPr>
        <p:txBody>
          <a:bodyPr>
            <a:normAutofit fontScale="90000"/>
          </a:bodyPr>
          <a:lstStyle/>
          <a:p>
            <a:r>
              <a:rPr lang="en-FR" dirty="0">
                <a:latin typeface="Calibri" panose="020F0502020204030204" pitchFamily="34" charset="0"/>
                <a:cs typeface="Calibri" panose="020F0502020204030204" pitchFamily="34" charset="0"/>
              </a:rPr>
              <a:t>Goal of the presentation</a:t>
            </a:r>
          </a:p>
        </p:txBody>
      </p:sp>
      <p:sp>
        <p:nvSpPr>
          <p:cNvPr id="4" name="TextBox 3">
            <a:extLst>
              <a:ext uri="{FF2B5EF4-FFF2-40B4-BE49-F238E27FC236}">
                <a16:creationId xmlns:a16="http://schemas.microsoft.com/office/drawing/2014/main" id="{173F62C3-7218-EC8E-BCFD-E418E6B171AA}"/>
              </a:ext>
            </a:extLst>
          </p:cNvPr>
          <p:cNvSpPr txBox="1"/>
          <p:nvPr/>
        </p:nvSpPr>
        <p:spPr>
          <a:xfrm>
            <a:off x="1072055" y="1342588"/>
            <a:ext cx="9543392" cy="5262979"/>
          </a:xfrm>
          <a:prstGeom prst="rect">
            <a:avLst/>
          </a:prstGeom>
          <a:noFill/>
        </p:spPr>
        <p:txBody>
          <a:bodyPr wrap="square" rtlCol="0">
            <a:spAutoFit/>
          </a:bodyPr>
          <a:lstStyle/>
          <a:p>
            <a:r>
              <a:rPr lang="en-GB" sz="2800" dirty="0">
                <a:effectLst/>
                <a:latin typeface="Calibri" panose="020F0502020204030204" pitchFamily="34" charset="0"/>
                <a:cs typeface="Calibri" panose="020F0502020204030204" pitchFamily="34" charset="0"/>
              </a:rPr>
              <a:t>- Train you on performing Qualitative Assessment of my results</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 My results are reports generated by LLMs</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 You will see a model based on the same architecture but on an unrelated topic, you will not see it again</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 You should assess my results not for my own pleasure but by being objective </a:t>
            </a:r>
            <a:r>
              <a:rPr lang="en-GB" sz="2800" dirty="0">
                <a:latin typeface="Calibri" panose="020F0502020204030204" pitchFamily="34" charset="0"/>
                <a:cs typeface="Calibri" panose="020F0502020204030204" pitchFamily="34" charset="0"/>
              </a:rPr>
              <a:t>towards the</a:t>
            </a:r>
            <a:r>
              <a:rPr lang="en-GB" sz="2800" dirty="0">
                <a:effectLst/>
                <a:latin typeface="Calibri" panose="020F0502020204030204" pitchFamily="34" charset="0"/>
                <a:cs typeface="Calibri" panose="020F0502020204030204" pitchFamily="34" charset="0"/>
              </a:rPr>
              <a:t> real quality of the results, this is essential for my paper</a:t>
            </a:r>
          </a:p>
          <a:p>
            <a:pPr marL="457200" indent="-457200">
              <a:buFontTx/>
              <a:buChar char="-"/>
            </a:pPr>
            <a:endParaRPr lang="en-FR" sz="2800" dirty="0">
              <a:latin typeface="Calibri" panose="020F0502020204030204" pitchFamily="34" charset="0"/>
              <a:cs typeface="Calibri" panose="020F0502020204030204" pitchFamily="34" charset="0"/>
            </a:endParaRPr>
          </a:p>
          <a:p>
            <a:r>
              <a:rPr lang="en-FR" sz="2800" dirty="0">
                <a:latin typeface="Calibri" panose="020F0502020204030204" pitchFamily="34" charset="0"/>
                <a:cs typeface="Calibri" panose="020F0502020204030204" pitchFamily="34" charset="0"/>
              </a:rPr>
              <a:t>- Your results should be objective individually and collectively</a:t>
            </a:r>
          </a:p>
        </p:txBody>
      </p:sp>
    </p:spTree>
    <p:extLst>
      <p:ext uri="{BB962C8B-B14F-4D97-AF65-F5344CB8AC3E}">
        <p14:creationId xmlns:p14="http://schemas.microsoft.com/office/powerpoint/2010/main" val="1671335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30165" y="1208689"/>
            <a:ext cx="10163504" cy="651149"/>
          </a:xfrm>
        </p:spPr>
        <p:txBody>
          <a:bodyPr>
            <a:normAutofit fontScale="90000"/>
          </a:bodyPr>
          <a:lstStyle/>
          <a:p>
            <a:r>
              <a:rPr lang="en-FR" dirty="0">
                <a:latin typeface="Calibri" panose="020F0502020204030204" pitchFamily="34" charset="0"/>
                <a:cs typeface="Calibri" panose="020F0502020204030204" pitchFamily="34" charset="0"/>
              </a:rPr>
              <a:t>Context Prompt Architecture</a:t>
            </a:r>
          </a:p>
        </p:txBody>
      </p:sp>
      <p:sp>
        <p:nvSpPr>
          <p:cNvPr id="4" name="TextBox 3">
            <a:extLst>
              <a:ext uri="{FF2B5EF4-FFF2-40B4-BE49-F238E27FC236}">
                <a16:creationId xmlns:a16="http://schemas.microsoft.com/office/drawing/2014/main" id="{173F62C3-7218-EC8E-BCFD-E418E6B171AA}"/>
              </a:ext>
            </a:extLst>
          </p:cNvPr>
          <p:cNvSpPr txBox="1"/>
          <p:nvPr/>
        </p:nvSpPr>
        <p:spPr>
          <a:xfrm>
            <a:off x="930165" y="2498690"/>
            <a:ext cx="11729544" cy="3539430"/>
          </a:xfrm>
          <a:prstGeom prst="rect">
            <a:avLst/>
          </a:prstGeom>
          <a:noFill/>
        </p:spPr>
        <p:txBody>
          <a:bodyPr wrap="square" rtlCol="0">
            <a:spAutoFit/>
          </a:bodyPr>
          <a:lstStyle/>
          <a:p>
            <a:r>
              <a:rPr lang="en-GB" sz="2800" dirty="0">
                <a:effectLst/>
                <a:latin typeface="Calibri" panose="020F0502020204030204" pitchFamily="34" charset="0"/>
                <a:cs typeface="Calibri" panose="020F0502020204030204" pitchFamily="34" charset="0"/>
              </a:rPr>
              <a:t>Role</a:t>
            </a:r>
          </a:p>
          <a:p>
            <a:endParaRPr lang="en-GB" sz="2800" dirty="0">
              <a:effectLst/>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Goal &amp; Instructions</a:t>
            </a:r>
          </a:p>
          <a:p>
            <a:endParaRPr lang="en-GB" sz="2800" dirty="0">
              <a:effectLst/>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Parameters</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Documentation</a:t>
            </a:r>
          </a:p>
          <a:p>
            <a:endParaRPr lang="en-FR"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0469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546537"/>
            <a:ext cx="9144000" cy="651149"/>
          </a:xfrm>
        </p:spPr>
        <p:txBody>
          <a:bodyPr>
            <a:normAutofit fontScale="90000"/>
          </a:bodyPr>
          <a:lstStyle/>
          <a:p>
            <a:r>
              <a:rPr lang="en-FR" dirty="0">
                <a:latin typeface="Calibri" panose="020F0502020204030204" pitchFamily="34" charset="0"/>
                <a:cs typeface="Calibri" panose="020F0502020204030204" pitchFamily="34" charset="0"/>
              </a:rPr>
              <a:t>Context Prompt</a:t>
            </a:r>
          </a:p>
        </p:txBody>
      </p:sp>
      <p:sp>
        <p:nvSpPr>
          <p:cNvPr id="4" name="TextBox 3">
            <a:extLst>
              <a:ext uri="{FF2B5EF4-FFF2-40B4-BE49-F238E27FC236}">
                <a16:creationId xmlns:a16="http://schemas.microsoft.com/office/drawing/2014/main" id="{173F62C3-7218-EC8E-BCFD-E418E6B171AA}"/>
              </a:ext>
            </a:extLst>
          </p:cNvPr>
          <p:cNvSpPr txBox="1"/>
          <p:nvPr/>
        </p:nvSpPr>
        <p:spPr>
          <a:xfrm>
            <a:off x="94594" y="1593551"/>
            <a:ext cx="11729544" cy="5355312"/>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You are an expert in Urban Planning without any statistics background.</a:t>
            </a:r>
          </a:p>
          <a:p>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Your goal is to explain an agent-based model. Your explanation must include the context of the model, its goals, and key parameters. For each parameter, include the range of values (if provided) and the value that we have set. Do not write any summary or conclusion. We have 12 parameters:</a:t>
            </a:r>
          </a:p>
          <a:p>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traffic-density, from 0.1 to 1.0. We set it to 0.75.</a:t>
            </a:r>
          </a:p>
          <a:p>
            <a:r>
              <a:rPr lang="en-GB" dirty="0">
                <a:effectLst/>
                <a:latin typeface="Calibri" panose="020F0502020204030204" pitchFamily="34" charset="0"/>
                <a:cs typeface="Calibri" panose="020F0502020204030204" pitchFamily="34" charset="0"/>
              </a:rPr>
              <a:t>public-transport-usage, from 0.0 to 1.0. We set it to 0.45.</a:t>
            </a:r>
          </a:p>
          <a:p>
            <a:r>
              <a:rPr lang="en-GB" dirty="0">
                <a:effectLst/>
                <a:latin typeface="Calibri" panose="020F0502020204030204" pitchFamily="34" charset="0"/>
                <a:cs typeface="Calibri" panose="020F0502020204030204" pitchFamily="34" charset="0"/>
              </a:rPr>
              <a:t>walking-preference, from 0.0 to 1.0. We set it to 0.30.</a:t>
            </a:r>
          </a:p>
          <a:p>
            <a:r>
              <a:rPr lang="en-GB" dirty="0">
                <a:effectLst/>
                <a:latin typeface="Calibri" panose="020F0502020204030204" pitchFamily="34" charset="0"/>
                <a:cs typeface="Calibri" panose="020F0502020204030204" pitchFamily="34" charset="0"/>
              </a:rPr>
              <a:t>cycling-preference, from 0.0 to 1.0. We set it to 0.25.</a:t>
            </a:r>
          </a:p>
          <a:p>
            <a:r>
              <a:rPr lang="en-GB" dirty="0">
                <a:effectLst/>
                <a:latin typeface="Calibri" panose="020F0502020204030204" pitchFamily="34" charset="0"/>
                <a:cs typeface="Calibri" panose="020F0502020204030204" pitchFamily="34" charset="0"/>
              </a:rPr>
              <a:t>car-ownership, from 0.0 to 1.0. We set it to 0.65.</a:t>
            </a:r>
          </a:p>
          <a:p>
            <a:r>
              <a:rPr lang="en-GB" dirty="0">
                <a:effectLst/>
                <a:latin typeface="Calibri" panose="020F0502020204030204" pitchFamily="34" charset="0"/>
                <a:cs typeface="Calibri" panose="020F0502020204030204" pitchFamily="34" charset="0"/>
              </a:rPr>
              <a:t>green-space-availability, from 0.0 to 1.0. We set it to 0.5.</a:t>
            </a:r>
          </a:p>
          <a:p>
            <a:r>
              <a:rPr lang="en-GB" dirty="0">
                <a:effectLst/>
                <a:latin typeface="Calibri" panose="020F0502020204030204" pitchFamily="34" charset="0"/>
                <a:cs typeface="Calibri" panose="020F0502020204030204" pitchFamily="34" charset="0"/>
              </a:rPr>
              <a:t>pollution-awareness, from 0.0 to 1.0. We set it to 0.6.</a:t>
            </a:r>
          </a:p>
          <a:p>
            <a:r>
              <a:rPr lang="en-GB" dirty="0">
                <a:effectLst/>
                <a:latin typeface="Calibri" panose="020F0502020204030204" pitchFamily="34" charset="0"/>
                <a:cs typeface="Calibri" panose="020F0502020204030204" pitchFamily="34" charset="0"/>
              </a:rPr>
              <a:t>social-interaction-rate, from 0.0 to 1.0. We set it to 0.4.</a:t>
            </a:r>
          </a:p>
          <a:p>
            <a:r>
              <a:rPr lang="en-GB" dirty="0">
                <a:effectLst/>
                <a:latin typeface="Calibri" panose="020F0502020204030204" pitchFamily="34" charset="0"/>
                <a:cs typeface="Calibri" panose="020F0502020204030204" pitchFamily="34" charset="0"/>
              </a:rPr>
              <a:t>urban-density, from 0.0 to 1.0. We set it to 0.8.</a:t>
            </a:r>
          </a:p>
          <a:p>
            <a:r>
              <a:rPr lang="en-GB" dirty="0">
                <a:effectLst/>
                <a:latin typeface="Calibri" panose="020F0502020204030204" pitchFamily="34" charset="0"/>
                <a:cs typeface="Calibri" panose="020F0502020204030204" pitchFamily="34" charset="0"/>
              </a:rPr>
              <a:t>employment-rate, from 0.0 to 1.0. We set it to 0.7.</a:t>
            </a:r>
          </a:p>
          <a:p>
            <a:r>
              <a:rPr lang="en-GB" dirty="0">
                <a:effectLst/>
                <a:latin typeface="Calibri" panose="020F0502020204030204" pitchFamily="34" charset="0"/>
                <a:cs typeface="Calibri" panose="020F0502020204030204" pitchFamily="34" charset="0"/>
              </a:rPr>
              <a:t>leisure-facilities-access, from 0.0 to 1.0. We set it to 0.5.</a:t>
            </a:r>
          </a:p>
          <a:p>
            <a:r>
              <a:rPr lang="en-GB" dirty="0">
                <a:effectLst/>
                <a:latin typeface="Calibri" panose="020F0502020204030204" pitchFamily="34" charset="0"/>
                <a:cs typeface="Calibri" panose="020F0502020204030204" pitchFamily="34" charset="0"/>
              </a:rPr>
              <a:t>number-of-agents. We set it to 500.</a:t>
            </a:r>
          </a:p>
          <a:p>
            <a:endParaRPr lang="en-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0850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187668" y="1008992"/>
            <a:ext cx="9144000" cy="651149"/>
          </a:xfrm>
        </p:spPr>
        <p:txBody>
          <a:bodyPr>
            <a:normAutofit fontScale="90000"/>
          </a:bodyPr>
          <a:lstStyle/>
          <a:p>
            <a:r>
              <a:rPr lang="en-FR" dirty="0">
                <a:latin typeface="Calibri" panose="020F0502020204030204" pitchFamily="34" charset="0"/>
                <a:cs typeface="Calibri" panose="020F0502020204030204" pitchFamily="34" charset="0"/>
              </a:rPr>
              <a:t>Context Prompt</a:t>
            </a:r>
          </a:p>
        </p:txBody>
      </p:sp>
      <p:sp>
        <p:nvSpPr>
          <p:cNvPr id="3" name="TextBox 2">
            <a:extLst>
              <a:ext uri="{FF2B5EF4-FFF2-40B4-BE49-F238E27FC236}">
                <a16:creationId xmlns:a16="http://schemas.microsoft.com/office/drawing/2014/main" id="{0BF119BF-EF54-D7C9-FF65-7A2E9EB4C1FB}"/>
              </a:ext>
            </a:extLst>
          </p:cNvPr>
          <p:cNvSpPr txBox="1"/>
          <p:nvPr/>
        </p:nvSpPr>
        <p:spPr>
          <a:xfrm>
            <a:off x="483475" y="2333685"/>
            <a:ext cx="10552387" cy="4524315"/>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The context and goals of the model are as follows. The overall objective of the agent-based model is to simulate urban mobility patterns and the use of various modes of transportation by the population of a mid-sized city. Specifically, the goal of the model is to explore the influence of transportation preferences, availability of public and private transport options, and urban infrastructure on the daily movement and interaction of city residents. The model aims to replicate the changes in transportation </a:t>
            </a:r>
            <a:r>
              <a:rPr lang="en-GB" dirty="0" err="1">
                <a:effectLst/>
                <a:latin typeface="Calibri" panose="020F0502020204030204" pitchFamily="34" charset="0"/>
                <a:cs typeface="Calibri" panose="020F0502020204030204" pitchFamily="34" charset="0"/>
              </a:rPr>
              <a:t>behaviors</a:t>
            </a:r>
            <a:r>
              <a:rPr lang="en-GB" dirty="0">
                <a:effectLst/>
                <a:latin typeface="Calibri" panose="020F0502020204030204" pitchFamily="34" charset="0"/>
                <a:cs typeface="Calibri" panose="020F0502020204030204" pitchFamily="34" charset="0"/>
              </a:rPr>
              <a:t> and the usage patterns of different mobility options over time.</a:t>
            </a:r>
          </a:p>
          <a:p>
            <a:br>
              <a:rPr lang="en-GB" dirty="0">
                <a:effectLst/>
                <a:latin typeface="Calibri" panose="020F0502020204030204" pitchFamily="34" charset="0"/>
                <a:cs typeface="Calibri" panose="020F0502020204030204" pitchFamily="34" charset="0"/>
              </a:rPr>
            </a:br>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The study conducts an experiment to compare the performance of two model variants in simulating urban mobility patterns. These variants present different mechanisms for how agents choose their modes of transportation, representing a preference-based approach and an availability-based approach. Decision-making follows a basic structure of: agent perception of transportation options, the triggering, or not, of disposition to consider alternatives, a set of scored choice functions made up of the perceived characteristics and modulated by personal preferences and social influence, and finally, choice evaluation where agents consider the impact of their choices and may adjust their future decisions.</a:t>
            </a:r>
          </a:p>
          <a:p>
            <a:endParaRPr lang="en-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5182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97876" y="651640"/>
            <a:ext cx="9144000" cy="651149"/>
          </a:xfrm>
        </p:spPr>
        <p:txBody>
          <a:bodyPr>
            <a:normAutofit fontScale="90000"/>
          </a:bodyPr>
          <a:lstStyle/>
          <a:p>
            <a:r>
              <a:rPr lang="en-FR" dirty="0">
                <a:latin typeface="Calibri" panose="020F0502020204030204" pitchFamily="34" charset="0"/>
                <a:cs typeface="Calibri" panose="020F0502020204030204" pitchFamily="34" charset="0"/>
              </a:rPr>
              <a:t>Context Prompt</a:t>
            </a:r>
          </a:p>
        </p:txBody>
      </p:sp>
      <p:sp>
        <p:nvSpPr>
          <p:cNvPr id="3" name="TextBox 2">
            <a:extLst>
              <a:ext uri="{FF2B5EF4-FFF2-40B4-BE49-F238E27FC236}">
                <a16:creationId xmlns:a16="http://schemas.microsoft.com/office/drawing/2014/main" id="{59CE99D8-7E43-0496-F869-5C36A62F6F09}"/>
              </a:ext>
            </a:extLst>
          </p:cNvPr>
          <p:cNvSpPr txBox="1"/>
          <p:nvPr/>
        </p:nvSpPr>
        <p:spPr>
          <a:xfrm>
            <a:off x="246992" y="1639120"/>
            <a:ext cx="11719035" cy="4801314"/>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The agents in the model represent urban residents who occupy a random position in the city. Each agent has a disposition to consider alternative transportation modes. Two disposition mechanisms are tested in the model, a preference-based approach, and an availability-based approach. Each agent makes a choice of transportation based on a function for each alternative, made up of the perceived convenience and environmental impact of each choice. These are computed at the initialization of the simulation and then calculated at each time step. An agent's transportation choice function is modified by personal preferences, social influence, and evaluation of previous choices. Agents ascribe different relative importance to each constituent part of the choice function (convenience and environmental impact). If the disposition requirement has been met, the usage of each transportation mode is split proportionately by the size of each choice function, modulated by the other influences. If not, agents keep their existing choice.</a:t>
            </a:r>
          </a:p>
          <a:p>
            <a:br>
              <a:rPr lang="en-GB" dirty="0">
                <a:effectLst/>
                <a:latin typeface="Calibri" panose="020F0502020204030204" pitchFamily="34" charset="0"/>
                <a:cs typeface="Calibri" panose="020F0502020204030204" pitchFamily="34" charset="0"/>
              </a:rPr>
            </a:br>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Agents (n=500) start with an existing choice based on the dominant mode of transportation in the city at the start year of the data. All agents are part of a social network. Each agent in the network can sense and be influenced by the choice function of each transportation alternative for other agents in their network. Links between agents are unidirectional, and influence occurs as a function of interaction probability, with the degree of influence characterized by agent susceptibility. Social norms are globally perceived by agents and impact the weightings of the choice function.</a:t>
            </a:r>
          </a:p>
          <a:p>
            <a:endParaRPr lang="en-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1413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051035" y="759872"/>
            <a:ext cx="10321158" cy="651149"/>
          </a:xfrm>
        </p:spPr>
        <p:txBody>
          <a:bodyPr>
            <a:normAutofit fontScale="90000"/>
          </a:bodyPr>
          <a:lstStyle/>
          <a:p>
            <a:r>
              <a:rPr lang="en-FR" dirty="0">
                <a:latin typeface="Calibri" panose="020F0502020204030204" pitchFamily="34" charset="0"/>
                <a:cs typeface="Calibri" panose="020F0502020204030204" pitchFamily="34" charset="0"/>
              </a:rPr>
              <a:t>Trend Analysis Prompt Architecture</a:t>
            </a:r>
          </a:p>
        </p:txBody>
      </p:sp>
      <p:sp>
        <p:nvSpPr>
          <p:cNvPr id="3" name="TextBox 2">
            <a:extLst>
              <a:ext uri="{FF2B5EF4-FFF2-40B4-BE49-F238E27FC236}">
                <a16:creationId xmlns:a16="http://schemas.microsoft.com/office/drawing/2014/main" id="{B3919420-2086-1D1E-C5DA-93A6D161C178}"/>
              </a:ext>
            </a:extLst>
          </p:cNvPr>
          <p:cNvSpPr txBox="1"/>
          <p:nvPr/>
        </p:nvSpPr>
        <p:spPr>
          <a:xfrm>
            <a:off x="1303281" y="2140066"/>
            <a:ext cx="10783615" cy="3539430"/>
          </a:xfrm>
          <a:prstGeom prst="rect">
            <a:avLst/>
          </a:prstGeom>
          <a:noFill/>
        </p:spPr>
        <p:txBody>
          <a:bodyPr wrap="square" rtlCol="0">
            <a:spAutoFit/>
          </a:bodyPr>
          <a:lstStyle/>
          <a:p>
            <a:r>
              <a:rPr lang="en-GB" sz="2800" dirty="0">
                <a:effectLst/>
                <a:latin typeface="Calibri" panose="020F0502020204030204" pitchFamily="34" charset="0"/>
                <a:cs typeface="Calibri" panose="020F0502020204030204" pitchFamily="34" charset="0"/>
              </a:rPr>
              <a:t>Role</a:t>
            </a:r>
          </a:p>
          <a:p>
            <a:endParaRPr lang="en-GB" sz="2800" dirty="0">
              <a:solidFill>
                <a:srgbClr val="000000"/>
              </a:solidFill>
              <a:effectLst/>
              <a:latin typeface="Calibri" panose="020F0502020204030204" pitchFamily="34" charset="0"/>
              <a:cs typeface="Calibri" panose="020F0502020204030204" pitchFamily="34" charset="0"/>
            </a:endParaRPr>
          </a:p>
          <a:p>
            <a:endParaRPr lang="en-GB" sz="2800" dirty="0">
              <a:solidFill>
                <a:srgbClr val="000000"/>
              </a:solidFill>
              <a:effectLst/>
              <a:latin typeface="Calibri" panose="020F0502020204030204" pitchFamily="34" charset="0"/>
              <a:cs typeface="Calibri" panose="020F0502020204030204" pitchFamily="34" charset="0"/>
            </a:endParaRPr>
          </a:p>
          <a:p>
            <a:r>
              <a:rPr lang="en-GB" sz="2800" dirty="0">
                <a:solidFill>
                  <a:srgbClr val="000000"/>
                </a:solidFill>
                <a:effectLst/>
                <a:latin typeface="Calibri" panose="020F0502020204030204" pitchFamily="34" charset="0"/>
                <a:cs typeface="Calibri" panose="020F0502020204030204" pitchFamily="34" charset="0"/>
              </a:rPr>
              <a:t>Goal </a:t>
            </a:r>
            <a:r>
              <a:rPr lang="en-GB" sz="2800" dirty="0">
                <a:solidFill>
                  <a:srgbClr val="000000"/>
                </a:solidFill>
                <a:latin typeface="Calibri" panose="020F0502020204030204" pitchFamily="34" charset="0"/>
                <a:cs typeface="Calibri" panose="020F0502020204030204" pitchFamily="34" charset="0"/>
              </a:rPr>
              <a:t>&amp; Instructions</a:t>
            </a:r>
            <a:endParaRPr lang="en-GB" sz="2800" dirty="0">
              <a:solidFill>
                <a:srgbClr val="000000"/>
              </a:solidFill>
              <a:effectLst/>
              <a:latin typeface="Calibri" panose="020F0502020204030204" pitchFamily="34" charset="0"/>
              <a:cs typeface="Calibri" panose="020F0502020204030204" pitchFamily="34" charset="0"/>
            </a:endParaRPr>
          </a:p>
          <a:p>
            <a:br>
              <a:rPr lang="en-GB" sz="2800" dirty="0">
                <a:solidFill>
                  <a:srgbClr val="000000"/>
                </a:solidFill>
                <a:effectLst/>
                <a:latin typeface="Calibri" panose="020F0502020204030204" pitchFamily="34" charset="0"/>
                <a:cs typeface="Calibri" panose="020F0502020204030204" pitchFamily="34" charset="0"/>
              </a:rPr>
            </a:br>
            <a:endParaRPr lang="en-GB" sz="2800" dirty="0">
              <a:solidFill>
                <a:srgbClr val="000000"/>
              </a:solidFill>
              <a:effectLst/>
              <a:latin typeface="Calibri" panose="020F0502020204030204" pitchFamily="34" charset="0"/>
              <a:cs typeface="Calibri" panose="020F0502020204030204" pitchFamily="34" charset="0"/>
            </a:endParaRPr>
          </a:p>
          <a:p>
            <a:r>
              <a:rPr lang="en-GB" sz="2800" dirty="0">
                <a:solidFill>
                  <a:srgbClr val="000000"/>
                </a:solidFill>
                <a:effectLst/>
                <a:latin typeface="Calibri" panose="020F0502020204030204" pitchFamily="34" charset="0"/>
                <a:cs typeface="Calibri" panose="020F0502020204030204" pitchFamily="34" charset="0"/>
              </a:rPr>
              <a:t>Plot</a:t>
            </a:r>
          </a:p>
          <a:p>
            <a:endParaRPr lang="en-FR"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393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408386" y="662150"/>
            <a:ext cx="9144000" cy="651149"/>
          </a:xfrm>
        </p:spPr>
        <p:txBody>
          <a:bodyPr>
            <a:normAutofit fontScale="90000"/>
          </a:bodyPr>
          <a:lstStyle/>
          <a:p>
            <a:r>
              <a:rPr lang="en-FR" dirty="0">
                <a:latin typeface="Calibri" panose="020F0502020204030204" pitchFamily="34" charset="0"/>
                <a:cs typeface="Calibri" panose="020F0502020204030204" pitchFamily="34" charset="0"/>
              </a:rPr>
              <a:t>Trend Analysis Prompt</a:t>
            </a:r>
          </a:p>
        </p:txBody>
      </p:sp>
      <p:sp>
        <p:nvSpPr>
          <p:cNvPr id="3" name="TextBox 2">
            <a:extLst>
              <a:ext uri="{FF2B5EF4-FFF2-40B4-BE49-F238E27FC236}">
                <a16:creationId xmlns:a16="http://schemas.microsoft.com/office/drawing/2014/main" id="{B3919420-2086-1D1E-C5DA-93A6D161C178}"/>
              </a:ext>
            </a:extLst>
          </p:cNvPr>
          <p:cNvSpPr txBox="1"/>
          <p:nvPr/>
        </p:nvSpPr>
        <p:spPr>
          <a:xfrm>
            <a:off x="588578" y="1887818"/>
            <a:ext cx="10783615" cy="3416320"/>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You are an expert in Urban Planning with a statistics background.</a:t>
            </a:r>
          </a:p>
          <a:p>
            <a:endParaRPr lang="en-GB" dirty="0">
              <a:solidFill>
                <a:srgbClr val="000000"/>
              </a:solidFill>
              <a:effectLst/>
              <a:latin typeface="Calibri" panose="020F0502020204030204" pitchFamily="34" charset="0"/>
              <a:cs typeface="Calibri" panose="020F0502020204030204" pitchFamily="34" charset="0"/>
            </a:endParaRPr>
          </a:p>
          <a:p>
            <a:endParaRPr lang="en-GB" dirty="0">
              <a:solidFill>
                <a:srgbClr val="000000"/>
              </a:solidFill>
              <a:effectLst/>
              <a:latin typeface="Calibri" panose="020F0502020204030204" pitchFamily="34" charset="0"/>
              <a:cs typeface="Calibri" panose="020F0502020204030204" pitchFamily="34" charset="0"/>
            </a:endParaRPr>
          </a:p>
          <a:p>
            <a:r>
              <a:rPr lang="en-GB" dirty="0">
                <a:solidFill>
                  <a:srgbClr val="000000"/>
                </a:solidFill>
                <a:effectLst/>
                <a:latin typeface="Calibri" panose="020F0502020204030204" pitchFamily="34" charset="0"/>
                <a:cs typeface="Calibri" panose="020F0502020204030204" pitchFamily="34" charset="0"/>
              </a:rPr>
              <a:t>We have a plot from repeated simulations of an agent based model. Your goal is to describe the trends in details from the plot, mentioning key time steps and values taken by the metric in the plot, and interpreting them based on the context of the model. The report must objectively describe the trends in the data without addressing the quality of the simulation. Do not refer to the plot or any visual in your description. If a plot has very simple dynamics, simply state them without expanding.</a:t>
            </a:r>
          </a:p>
          <a:p>
            <a:br>
              <a:rPr lang="en-GB" dirty="0">
                <a:solidFill>
                  <a:srgbClr val="000000"/>
                </a:solidFill>
                <a:effectLst/>
                <a:latin typeface="Calibri" panose="020F0502020204030204" pitchFamily="34" charset="0"/>
                <a:cs typeface="Calibri" panose="020F0502020204030204" pitchFamily="34" charset="0"/>
              </a:rPr>
            </a:br>
            <a:endParaRPr lang="en-GB" dirty="0">
              <a:solidFill>
                <a:srgbClr val="000000"/>
              </a:solidFill>
              <a:effectLst/>
              <a:latin typeface="Calibri" panose="020F0502020204030204" pitchFamily="34" charset="0"/>
              <a:cs typeface="Calibri" panose="020F0502020204030204" pitchFamily="34" charset="0"/>
            </a:endParaRPr>
          </a:p>
          <a:p>
            <a:r>
              <a:rPr lang="en-GB" dirty="0">
                <a:solidFill>
                  <a:srgbClr val="000000"/>
                </a:solidFill>
                <a:effectLst/>
                <a:latin typeface="Calibri" panose="020F0502020204030204" pitchFamily="34" charset="0"/>
                <a:cs typeface="Calibri" panose="020F0502020204030204" pitchFamily="34" charset="0"/>
              </a:rPr>
              <a:t>The attachment is the plot representing the {metric}.</a:t>
            </a:r>
          </a:p>
          <a:p>
            <a:endParaRPr lang="en-FR"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FC383FA-8B9F-6218-957E-817EC824F8B9}"/>
              </a:ext>
            </a:extLst>
          </p:cNvPr>
          <p:cNvSpPr txBox="1"/>
          <p:nvPr/>
        </p:nvSpPr>
        <p:spPr>
          <a:xfrm>
            <a:off x="588578" y="6106509"/>
            <a:ext cx="5500993" cy="369332"/>
          </a:xfrm>
          <a:prstGeom prst="rect">
            <a:avLst/>
          </a:prstGeom>
          <a:noFill/>
        </p:spPr>
        <p:txBody>
          <a:bodyPr wrap="none" rtlCol="0">
            <a:spAutoFit/>
          </a:bodyPr>
          <a:lstStyle/>
          <a:p>
            <a:r>
              <a:rPr lang="en-FR" dirty="0">
                <a:solidFill>
                  <a:schemeClr val="accent3"/>
                </a:solidFill>
                <a:latin typeface="Calibri" panose="020F0502020204030204" pitchFamily="34" charset="0"/>
                <a:cs typeface="Calibri" panose="020F0502020204030204" pitchFamily="34" charset="0"/>
              </a:rPr>
              <a:t>Example of metric : {mean usage of private transportion}</a:t>
            </a:r>
          </a:p>
        </p:txBody>
      </p:sp>
    </p:spTree>
    <p:extLst>
      <p:ext uri="{BB962C8B-B14F-4D97-AF65-F5344CB8AC3E}">
        <p14:creationId xmlns:p14="http://schemas.microsoft.com/office/powerpoint/2010/main" val="106821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026" name="Picture 2">
            <a:extLst>
              <a:ext uri="{FF2B5EF4-FFF2-40B4-BE49-F238E27FC236}">
                <a16:creationId xmlns:a16="http://schemas.microsoft.com/office/drawing/2014/main" id="{E25DEB2A-2C0D-502F-8EAD-2083CAC49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655" y="885296"/>
            <a:ext cx="8182690" cy="5610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692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2050" name="Picture 2">
            <a:extLst>
              <a:ext uri="{FF2B5EF4-FFF2-40B4-BE49-F238E27FC236}">
                <a16:creationId xmlns:a16="http://schemas.microsoft.com/office/drawing/2014/main" id="{51A101EF-BA56-BB63-EBA5-50A21D64DB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584" y="798293"/>
            <a:ext cx="8294832" cy="5691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3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3074" name="Picture 2">
            <a:extLst>
              <a:ext uri="{FF2B5EF4-FFF2-40B4-BE49-F238E27FC236}">
                <a16:creationId xmlns:a16="http://schemas.microsoft.com/office/drawing/2014/main" id="{9788E39B-41CF-E612-2CB4-50F6B59C7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382" y="964704"/>
            <a:ext cx="8381134" cy="5746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005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How is the mean private car usage evolving ?</a:t>
            </a:r>
          </a:p>
          <a:p>
            <a:endParaRPr lang="en-FR" dirty="0"/>
          </a:p>
          <a:p>
            <a:r>
              <a:rPr lang="en-FR" dirty="0"/>
              <a:t>A) Overall Increasing</a:t>
            </a:r>
          </a:p>
          <a:p>
            <a:r>
              <a:rPr lang="en-FR" dirty="0"/>
              <a:t>B)Overall Decreasing</a:t>
            </a:r>
          </a:p>
          <a:p>
            <a:r>
              <a:rPr lang="en-FR" dirty="0"/>
              <a:t>C)Overall not changing</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4060739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What is the approximate final value for the total private car choices made?</a:t>
            </a:r>
          </a:p>
          <a:p>
            <a:endParaRPr lang="en-FR" dirty="0"/>
          </a:p>
          <a:p>
            <a:r>
              <a:rPr lang="en-FR" dirty="0"/>
              <a:t>A) 2400</a:t>
            </a:r>
          </a:p>
          <a:p>
            <a:r>
              <a:rPr lang="en-FR" dirty="0"/>
              <a:t>B)20000</a:t>
            </a:r>
          </a:p>
          <a:p>
            <a:r>
              <a:rPr lang="en-FR" dirty="0"/>
              <a:t>C)3500</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359938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Public Transport Usage is :</a:t>
            </a:r>
          </a:p>
          <a:p>
            <a:endParaRPr lang="en-FR" dirty="0"/>
          </a:p>
          <a:p>
            <a:r>
              <a:rPr lang="en-FR" dirty="0"/>
              <a:t>A) Increasing linearly </a:t>
            </a:r>
          </a:p>
          <a:p>
            <a:r>
              <a:rPr lang="en-FR" dirty="0"/>
              <a:t>B)Increases slowly and then sharply rises</a:t>
            </a:r>
          </a:p>
          <a:p>
            <a:r>
              <a:rPr lang="en-FR" dirty="0"/>
              <a:t>C) Increases sharply and then slowly rises</a:t>
            </a:r>
          </a:p>
          <a:p>
            <a:endParaRPr lang="en-FR" dirty="0"/>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033338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4098" name="Picture 2">
            <a:extLst>
              <a:ext uri="{FF2B5EF4-FFF2-40B4-BE49-F238E27FC236}">
                <a16:creationId xmlns:a16="http://schemas.microsoft.com/office/drawing/2014/main" id="{63299695-ABE0-7A90-A71A-7D36D940B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794" y="818861"/>
            <a:ext cx="8648411" cy="5891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477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5122" name="Picture 2">
            <a:extLst>
              <a:ext uri="{FF2B5EF4-FFF2-40B4-BE49-F238E27FC236}">
                <a16:creationId xmlns:a16="http://schemas.microsoft.com/office/drawing/2014/main" id="{F363CCCF-4D4E-025B-2ADC-F63630D87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8961" y="928255"/>
            <a:ext cx="8114078" cy="5527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659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6146" name="Picture 2">
            <a:extLst>
              <a:ext uri="{FF2B5EF4-FFF2-40B4-BE49-F238E27FC236}">
                <a16:creationId xmlns:a16="http://schemas.microsoft.com/office/drawing/2014/main" id="{B5B0AAB8-EF27-3BE8-0350-6FE5D029E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178" y="935255"/>
            <a:ext cx="7951643" cy="5451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034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Distance Traveled by Private Car is :</a:t>
            </a:r>
          </a:p>
          <a:p>
            <a:endParaRPr lang="en-FR" dirty="0"/>
          </a:p>
          <a:p>
            <a:r>
              <a:rPr lang="en-FR" dirty="0"/>
              <a:t>A) Increasing linearly </a:t>
            </a:r>
          </a:p>
          <a:p>
            <a:r>
              <a:rPr lang="en-FR" dirty="0"/>
              <a:t>B) Decreasing</a:t>
            </a:r>
          </a:p>
          <a:p>
            <a:r>
              <a:rPr lang="en-FR" dirty="0"/>
              <a:t>C) Increases sharply</a:t>
            </a:r>
          </a:p>
          <a:p>
            <a:r>
              <a:rPr lang="en-FR" dirty="0"/>
              <a:t>D)Not changing</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324022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Total Choices Made is reaching:</a:t>
            </a:r>
          </a:p>
          <a:p>
            <a:endParaRPr lang="en-FR" dirty="0"/>
          </a:p>
          <a:p>
            <a:r>
              <a:rPr lang="en-FR" dirty="0"/>
              <a:t>A) 40000</a:t>
            </a:r>
          </a:p>
          <a:p>
            <a:r>
              <a:rPr lang="en-FR" dirty="0"/>
              <a:t>B) 30000</a:t>
            </a:r>
          </a:p>
          <a:p>
            <a:r>
              <a:rPr lang="en-FR" dirty="0"/>
              <a:t>C) 20000</a:t>
            </a:r>
          </a:p>
          <a:p>
            <a:r>
              <a:rPr lang="en-FR" dirty="0"/>
              <a:t>D) 10000</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4277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Total Public Transport Choices starts at:</a:t>
            </a:r>
          </a:p>
          <a:p>
            <a:endParaRPr lang="en-FR" dirty="0"/>
          </a:p>
          <a:p>
            <a:r>
              <a:rPr lang="en-FR" dirty="0"/>
              <a:t>A) 1000</a:t>
            </a:r>
          </a:p>
          <a:p>
            <a:r>
              <a:rPr lang="en-FR" dirty="0"/>
              <a:t>B) 100</a:t>
            </a:r>
          </a:p>
          <a:p>
            <a:r>
              <a:rPr lang="en-FR" dirty="0"/>
              <a:t>C) 0</a:t>
            </a:r>
          </a:p>
          <a:p>
            <a:r>
              <a:rPr lang="en-FR" dirty="0"/>
              <a:t>D) 500</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680638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7170" name="Picture 2">
            <a:extLst>
              <a:ext uri="{FF2B5EF4-FFF2-40B4-BE49-F238E27FC236}">
                <a16:creationId xmlns:a16="http://schemas.microsoft.com/office/drawing/2014/main" id="{1337A147-EBD9-9E9E-E9D7-591EFD904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129" y="1010265"/>
            <a:ext cx="8017741" cy="5501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342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8194" name="Picture 2">
            <a:extLst>
              <a:ext uri="{FF2B5EF4-FFF2-40B4-BE49-F238E27FC236}">
                <a16:creationId xmlns:a16="http://schemas.microsoft.com/office/drawing/2014/main" id="{E0D2D482-5B31-0E38-81EB-E43D1A813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604" y="916057"/>
            <a:ext cx="8036791" cy="5492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517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0242" name="Picture 2">
            <a:extLst>
              <a:ext uri="{FF2B5EF4-FFF2-40B4-BE49-F238E27FC236}">
                <a16:creationId xmlns:a16="http://schemas.microsoft.com/office/drawing/2014/main" id="{42BBBC6D-C159-C3B6-F8A7-DED76D00D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031423"/>
            <a:ext cx="7678521" cy="5286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574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Habit Factor for Public Transport is reaching :</a:t>
            </a:r>
          </a:p>
          <a:p>
            <a:endParaRPr lang="en-FR" dirty="0"/>
          </a:p>
          <a:p>
            <a:r>
              <a:rPr lang="en-FR" dirty="0"/>
              <a:t>A) 1.60</a:t>
            </a:r>
          </a:p>
          <a:p>
            <a:r>
              <a:rPr lang="en-FR" dirty="0"/>
              <a:t>B) 160</a:t>
            </a:r>
          </a:p>
          <a:p>
            <a:r>
              <a:rPr lang="en-FR" dirty="0"/>
              <a:t>C) 16</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481479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Habit Factor for Private Car Usage is reaching :</a:t>
            </a:r>
          </a:p>
          <a:p>
            <a:endParaRPr lang="en-FR" dirty="0"/>
          </a:p>
          <a:p>
            <a:r>
              <a:rPr lang="en-FR" dirty="0"/>
              <a:t>A) 1.05</a:t>
            </a:r>
          </a:p>
          <a:p>
            <a:r>
              <a:rPr lang="en-FR" dirty="0"/>
              <a:t>B) 15</a:t>
            </a:r>
          </a:p>
          <a:p>
            <a:r>
              <a:rPr lang="en-FR" dirty="0"/>
              <a:t>C) 1.5</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140656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Distance Traveled by Public Transport is :</a:t>
            </a:r>
          </a:p>
          <a:p>
            <a:endParaRPr lang="en-FR" dirty="0"/>
          </a:p>
          <a:p>
            <a:r>
              <a:rPr lang="en-FR" dirty="0"/>
              <a:t>A) Overall increasing</a:t>
            </a:r>
          </a:p>
          <a:p>
            <a:r>
              <a:rPr lang="en-FR" dirty="0"/>
              <a:t>B) Overall decreasing</a:t>
            </a:r>
          </a:p>
          <a:p>
            <a:r>
              <a:rPr lang="en-FR" dirty="0"/>
              <a:t>C) Overall the same</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1546084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1266" name="Picture 2">
            <a:extLst>
              <a:ext uri="{FF2B5EF4-FFF2-40B4-BE49-F238E27FC236}">
                <a16:creationId xmlns:a16="http://schemas.microsoft.com/office/drawing/2014/main" id="{78283928-8A41-C27E-6C32-49A7ED2A5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558" y="798293"/>
            <a:ext cx="8738883" cy="6059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035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2290" name="Picture 2">
            <a:extLst>
              <a:ext uri="{FF2B5EF4-FFF2-40B4-BE49-F238E27FC236}">
                <a16:creationId xmlns:a16="http://schemas.microsoft.com/office/drawing/2014/main" id="{C9EF1E26-CAAA-254C-1BEB-BB2A7F0FD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063" y="911964"/>
            <a:ext cx="8574954" cy="5946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509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3314" name="Picture 2">
            <a:extLst>
              <a:ext uri="{FF2B5EF4-FFF2-40B4-BE49-F238E27FC236}">
                <a16:creationId xmlns:a16="http://schemas.microsoft.com/office/drawing/2014/main" id="{F76BC799-EB91-841C-8D38-934C7E28C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798293"/>
            <a:ext cx="8226570" cy="5722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541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Social Influence Deviation is showing us that the population is:</a:t>
            </a:r>
          </a:p>
          <a:p>
            <a:endParaRPr lang="en-FR" dirty="0"/>
          </a:p>
          <a:p>
            <a:r>
              <a:rPr lang="en-FR" dirty="0"/>
              <a:t>A) Overall in accordance with their social values</a:t>
            </a:r>
          </a:p>
          <a:p>
            <a:r>
              <a:rPr lang="en-FR" dirty="0"/>
              <a:t>B) Overall not in accordance with their social values</a:t>
            </a:r>
          </a:p>
          <a:p>
            <a:endParaRPr lang="en-FR" dirty="0"/>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4152983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Value Environmental Deviation is showing us that the population :</a:t>
            </a:r>
          </a:p>
          <a:p>
            <a:endParaRPr lang="en-FR" dirty="0"/>
          </a:p>
          <a:p>
            <a:r>
              <a:rPr lang="en-FR" dirty="0"/>
              <a:t>A) Have a strong interest in environement values</a:t>
            </a:r>
          </a:p>
          <a:p>
            <a:r>
              <a:rPr lang="en-FR" dirty="0"/>
              <a:t>B) Don’t consider environmental stakes</a:t>
            </a:r>
          </a:p>
          <a:p>
            <a:r>
              <a:rPr lang="en-FR" dirty="0"/>
              <a:t>C) Make choices that are not in accordance with their environmental values</a:t>
            </a:r>
          </a:p>
          <a:p>
            <a:endParaRPr lang="en-FR" dirty="0"/>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20758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5932" y="725064"/>
            <a:ext cx="9743090" cy="651149"/>
          </a:xfrm>
        </p:spPr>
        <p:txBody>
          <a:bodyPr>
            <a:normAutofit fontScale="90000"/>
          </a:bodyPr>
          <a:lstStyle/>
          <a:p>
            <a:r>
              <a:rPr lang="en-FR" dirty="0">
                <a:latin typeface="Calibri" panose="020F0502020204030204" pitchFamily="34" charset="0"/>
                <a:cs typeface="Calibri" panose="020F0502020204030204" pitchFamily="34" charset="0"/>
              </a:rPr>
              <a:t>Response Architecture</a:t>
            </a:r>
          </a:p>
        </p:txBody>
      </p:sp>
      <p:sp>
        <p:nvSpPr>
          <p:cNvPr id="4" name="TextBox 3">
            <a:extLst>
              <a:ext uri="{FF2B5EF4-FFF2-40B4-BE49-F238E27FC236}">
                <a16:creationId xmlns:a16="http://schemas.microsoft.com/office/drawing/2014/main" id="{C91BDD83-623C-F477-288E-9E966D77D040}"/>
              </a:ext>
            </a:extLst>
          </p:cNvPr>
          <p:cNvSpPr txBox="1"/>
          <p:nvPr/>
        </p:nvSpPr>
        <p:spPr>
          <a:xfrm>
            <a:off x="819808" y="2327390"/>
            <a:ext cx="12076386" cy="353943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Context Paragraph</a:t>
            </a:r>
          </a:p>
          <a:p>
            <a:endParaRPr lang="en-GB" sz="2800" dirty="0">
              <a:latin typeface="Calibri" panose="020F0502020204030204" pitchFamily="34" charset="0"/>
              <a:cs typeface="Calibri" panose="020F0502020204030204" pitchFamily="34" charset="0"/>
            </a:endParaRPr>
          </a:p>
          <a:p>
            <a:r>
              <a:rPr lang="en-GB" sz="2800" dirty="0">
                <a:latin typeface="Calibri" panose="020F0502020204030204" pitchFamily="34" charset="0"/>
                <a:cs typeface="Calibri" panose="020F0502020204030204" pitchFamily="34" charset="0"/>
              </a:rPr>
              <a:t>Trend Analysis Paragraph 1</a:t>
            </a:r>
          </a:p>
          <a:p>
            <a:endParaRPr lang="en-GB" sz="2800" dirty="0">
              <a:latin typeface="Calibri" panose="020F0502020204030204" pitchFamily="34" charset="0"/>
              <a:cs typeface="Calibri" panose="020F0502020204030204" pitchFamily="34" charset="0"/>
            </a:endParaRPr>
          </a:p>
          <a:p>
            <a:r>
              <a:rPr lang="en-GB" sz="2800" dirty="0">
                <a:latin typeface="Calibri" panose="020F0502020204030204" pitchFamily="34" charset="0"/>
                <a:cs typeface="Calibri" panose="020F0502020204030204" pitchFamily="34" charset="0"/>
              </a:rPr>
              <a:t>Trend Analysis Paragraph 2</a:t>
            </a:r>
          </a:p>
          <a:p>
            <a:endParaRPr lang="en-GB" sz="2800" dirty="0">
              <a:latin typeface="Calibri" panose="020F0502020204030204" pitchFamily="34" charset="0"/>
              <a:cs typeface="Calibri" panose="020F0502020204030204" pitchFamily="34" charset="0"/>
            </a:endParaRPr>
          </a:p>
          <a:p>
            <a:r>
              <a:rPr lang="en-GB" sz="2800" dirty="0">
                <a:latin typeface="Calibri" panose="020F0502020204030204" pitchFamily="34" charset="0"/>
                <a:cs typeface="Calibri" panose="020F0502020204030204" pitchFamily="34" charset="0"/>
              </a:rPr>
              <a:t>Trend Analysis Paragraph 3</a:t>
            </a:r>
          </a:p>
          <a:p>
            <a:endParaRPr lang="en-GB"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4734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5932" y="725064"/>
            <a:ext cx="9743090" cy="651149"/>
          </a:xfrm>
        </p:spPr>
        <p:txBody>
          <a:bodyPr>
            <a:normAutofit fontScale="90000"/>
          </a:bodyPr>
          <a:lstStyle/>
          <a:p>
            <a:r>
              <a:rPr lang="en-FR" dirty="0">
                <a:latin typeface="Calibri" panose="020F0502020204030204" pitchFamily="34" charset="0"/>
                <a:cs typeface="Calibri" panose="020F0502020204030204" pitchFamily="34" charset="0"/>
              </a:rPr>
              <a:t>Faithfulness</a:t>
            </a:r>
          </a:p>
        </p:txBody>
      </p:sp>
      <p:sp>
        <p:nvSpPr>
          <p:cNvPr id="5" name="TextBox 4">
            <a:extLst>
              <a:ext uri="{FF2B5EF4-FFF2-40B4-BE49-F238E27FC236}">
                <a16:creationId xmlns:a16="http://schemas.microsoft.com/office/drawing/2014/main" id="{33DD1608-A6EC-8DA4-BF62-82BC1AC0DE06}"/>
              </a:ext>
            </a:extLst>
          </p:cNvPr>
          <p:cNvSpPr txBox="1"/>
          <p:nvPr/>
        </p:nvSpPr>
        <p:spPr>
          <a:xfrm>
            <a:off x="1573924" y="1668632"/>
            <a:ext cx="8665778" cy="3970318"/>
          </a:xfrm>
          <a:prstGeom prst="rect">
            <a:avLst/>
          </a:prstGeom>
          <a:noFill/>
        </p:spPr>
        <p:txBody>
          <a:bodyPr wrap="square">
            <a:spAutoFit/>
          </a:bodyPr>
          <a:lstStyle/>
          <a:p>
            <a:pPr marL="285750" indent="-285750">
              <a:buFontTx/>
              <a:buChar char="-"/>
            </a:pPr>
            <a:r>
              <a:rPr lang="en-GB" sz="2800" dirty="0">
                <a:latin typeface="Calibri" panose="020F0502020204030204" pitchFamily="34" charset="0"/>
                <a:cs typeface="Calibri" panose="020F0502020204030204" pitchFamily="34" charset="0"/>
              </a:rPr>
              <a:t>Scale : 1 to 5</a:t>
            </a:r>
          </a:p>
          <a:p>
            <a:pPr marL="285750" indent="-285750">
              <a:buFontTx/>
              <a:buChar char="-"/>
            </a:pPr>
            <a:endParaRPr lang="en-GB" sz="2800" dirty="0">
              <a:latin typeface="Calibri" panose="020F0502020204030204" pitchFamily="34" charset="0"/>
              <a:cs typeface="Calibri" panose="020F0502020204030204" pitchFamily="34" charset="0"/>
            </a:endParaRPr>
          </a:p>
          <a:p>
            <a:pPr marL="285750" indent="-285750">
              <a:buFontTx/>
              <a:buChar char="-"/>
            </a:pPr>
            <a:r>
              <a:rPr lang="en-FR" sz="2800" dirty="0">
                <a:effectLst/>
                <a:latin typeface="Calibri" panose="020F0502020204030204" pitchFamily="34" charset="0"/>
                <a:ea typeface="Aptos" panose="020B0004020202020204" pitchFamily="34" charset="0"/>
                <a:cs typeface="Calibri" panose="020F0502020204030204" pitchFamily="34" charset="0"/>
              </a:rPr>
              <a:t>The proportion of the content in the output that accurately reflects the content present in the input. High faithfulness means that most or all of the original ideas from the input are correctly represented in the output.</a:t>
            </a:r>
            <a:r>
              <a:rPr lang="en-FR" sz="2800" dirty="0">
                <a:effectLst/>
                <a:latin typeface="Calibri" panose="020F0502020204030204" pitchFamily="34" charset="0"/>
                <a:cs typeface="Calibri" panose="020F0502020204030204" pitchFamily="34" charset="0"/>
              </a:rPr>
              <a:t> </a:t>
            </a:r>
            <a:endParaRPr lang="en-GB" sz="2800" dirty="0">
              <a:latin typeface="Calibri" panose="020F0502020204030204" pitchFamily="34" charset="0"/>
              <a:cs typeface="Calibri" panose="020F0502020204030204" pitchFamily="34" charset="0"/>
            </a:endParaRPr>
          </a:p>
          <a:p>
            <a:pPr marL="285750" indent="-285750">
              <a:buFontTx/>
              <a:buChar char="-"/>
            </a:pPr>
            <a:endParaRPr lang="en-GB" sz="2800" dirty="0">
              <a:latin typeface="Calibri" panose="020F0502020204030204" pitchFamily="34" charset="0"/>
              <a:cs typeface="Calibri" panose="020F0502020204030204" pitchFamily="34" charset="0"/>
            </a:endParaRPr>
          </a:p>
          <a:p>
            <a:pPr marL="285750" indent="-285750">
              <a:buFontTx/>
              <a:buChar char="-"/>
            </a:pPr>
            <a:endParaRPr lang="en-GB" sz="2800" dirty="0">
              <a:latin typeface="Calibri" panose="020F0502020204030204" pitchFamily="34" charset="0"/>
              <a:cs typeface="Calibri" panose="020F0502020204030204" pitchFamily="34" charset="0"/>
            </a:endParaRPr>
          </a:p>
          <a:p>
            <a:pPr marL="285750" indent="-285750">
              <a:buFontTx/>
              <a:buChar char="-"/>
            </a:pPr>
            <a:endParaRPr lang="en-GB"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0044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5932" y="725064"/>
            <a:ext cx="9743090" cy="651149"/>
          </a:xfrm>
        </p:spPr>
        <p:txBody>
          <a:bodyPr>
            <a:normAutofit fontScale="90000"/>
          </a:bodyPr>
          <a:lstStyle/>
          <a:p>
            <a:r>
              <a:rPr lang="en-FR" dirty="0">
                <a:latin typeface="Calibri" panose="020F0502020204030204" pitchFamily="34" charset="0"/>
                <a:cs typeface="Calibri" panose="020F0502020204030204" pitchFamily="34" charset="0"/>
              </a:rPr>
              <a:t>Coverage</a:t>
            </a:r>
          </a:p>
        </p:txBody>
      </p:sp>
      <p:sp>
        <p:nvSpPr>
          <p:cNvPr id="4" name="TextBox 3">
            <a:extLst>
              <a:ext uri="{FF2B5EF4-FFF2-40B4-BE49-F238E27FC236}">
                <a16:creationId xmlns:a16="http://schemas.microsoft.com/office/drawing/2014/main" id="{AE0177FE-D0E3-C115-8205-17E4A630E9CC}"/>
              </a:ext>
            </a:extLst>
          </p:cNvPr>
          <p:cNvSpPr txBox="1"/>
          <p:nvPr/>
        </p:nvSpPr>
        <p:spPr>
          <a:xfrm>
            <a:off x="1631329" y="1642315"/>
            <a:ext cx="8929342" cy="3108543"/>
          </a:xfrm>
          <a:prstGeom prst="rect">
            <a:avLst/>
          </a:prstGeom>
          <a:noFill/>
        </p:spPr>
        <p:txBody>
          <a:bodyPr wrap="square" rtlCol="0">
            <a:spAutoFit/>
          </a:bodyPr>
          <a:lstStyle/>
          <a:p>
            <a:r>
              <a:rPr lang="en-FR" sz="2800" kern="100" dirty="0">
                <a:effectLst/>
                <a:latin typeface="Calibri" panose="020F0502020204030204" pitchFamily="34" charset="0"/>
                <a:ea typeface="Aptos" panose="020B0004020202020204" pitchFamily="34" charset="0"/>
                <a:cs typeface="Calibri" panose="020F0502020204030204" pitchFamily="34" charset="0"/>
              </a:rPr>
              <a:t>- Scale 1 to 5</a:t>
            </a:r>
          </a:p>
          <a:p>
            <a:endParaRPr lang="en-FR" sz="2800" kern="100" dirty="0">
              <a:latin typeface="Calibri" panose="020F0502020204030204" pitchFamily="34" charset="0"/>
              <a:ea typeface="Aptos" panose="020B0004020202020204" pitchFamily="34" charset="0"/>
              <a:cs typeface="Calibri" panose="020F0502020204030204" pitchFamily="34" charset="0"/>
            </a:endParaRPr>
          </a:p>
          <a:p>
            <a:r>
              <a:rPr lang="en-FR" sz="2800" kern="100" dirty="0">
                <a:effectLst/>
                <a:latin typeface="Calibri" panose="020F0502020204030204" pitchFamily="34" charset="0"/>
                <a:ea typeface="Aptos" panose="020B0004020202020204" pitchFamily="34" charset="0"/>
                <a:cs typeface="Calibri" panose="020F0502020204030204" pitchFamily="34" charset="0"/>
              </a:rPr>
              <a:t>-The extent to which the output includes all relevant and important information from the input without introducing new, unverified ideas (hallucinations). Good coverage means all critical points from the input are present in the output.</a:t>
            </a:r>
          </a:p>
          <a:p>
            <a:endParaRPr lang="en-FR" sz="28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BFC986A-75CF-CD4E-AF44-CF462007BCF3}"/>
              </a:ext>
            </a:extLst>
          </p:cNvPr>
          <p:cNvSpPr txBox="1"/>
          <p:nvPr/>
        </p:nvSpPr>
        <p:spPr>
          <a:xfrm>
            <a:off x="1500415" y="4615520"/>
            <a:ext cx="9743090" cy="1631216"/>
          </a:xfrm>
          <a:prstGeom prst="rect">
            <a:avLst/>
          </a:prstGeom>
          <a:noFill/>
        </p:spPr>
        <p:txBody>
          <a:bodyPr wrap="square" rtlCol="0">
            <a:spAutoFit/>
          </a:bodyPr>
          <a:lstStyle/>
          <a:p>
            <a:r>
              <a:rPr lang="en-FR" sz="2000" b="1" dirty="0">
                <a:solidFill>
                  <a:srgbClr val="C00000"/>
                </a:solidFill>
                <a:latin typeface="Calibri" panose="020F0502020204030204" pitchFamily="34" charset="0"/>
                <a:cs typeface="Calibri" panose="020F0502020204030204" pitchFamily="34" charset="0"/>
              </a:rPr>
              <a:t> WARNING : An information added in the output but absent in the input is making the coverage worse  whether the information is relevant or not. </a:t>
            </a:r>
          </a:p>
          <a:p>
            <a:endParaRPr lang="en-FR" sz="2000" b="1" dirty="0">
              <a:solidFill>
                <a:srgbClr val="C00000"/>
              </a:solidFill>
              <a:latin typeface="Calibri" panose="020F0502020204030204" pitchFamily="34" charset="0"/>
              <a:cs typeface="Calibri" panose="020F0502020204030204" pitchFamily="34" charset="0"/>
            </a:endParaRPr>
          </a:p>
          <a:p>
            <a:r>
              <a:rPr lang="en-FR" sz="2000" b="1" dirty="0">
                <a:solidFill>
                  <a:schemeClr val="accent6"/>
                </a:solidFill>
                <a:latin typeface="Calibri" panose="020F0502020204030204" pitchFamily="34" charset="0"/>
                <a:cs typeface="Calibri" panose="020F0502020204030204" pitchFamily="34" charset="0"/>
              </a:rPr>
              <a:t>Exemple : Noé is Russian is as bad as Noé is French if this information wasn’t in the input originally </a:t>
            </a:r>
          </a:p>
        </p:txBody>
      </p:sp>
    </p:spTree>
    <p:extLst>
      <p:ext uri="{BB962C8B-B14F-4D97-AF65-F5344CB8AC3E}">
        <p14:creationId xmlns:p14="http://schemas.microsoft.com/office/powerpoint/2010/main" val="2433005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837043"/>
            <a:ext cx="12076386" cy="3970318"/>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Each agent has a disposition to consider alternative transportation modes, determined by either a preference-based or an availability-based approach. 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2700 units 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The total number of private car choices made by agents starts low and exhibits a consistent linear increase over the simulation steps until 2700 units, suggesting a stable upward trend. The total number of public transport choices made by agents increases steadily throughout the simulation, to finally reach 27000 units, reflecting changing preferences towards public transport.</a:t>
            </a:r>
          </a:p>
        </p:txBody>
      </p:sp>
    </p:spTree>
    <p:extLst>
      <p:ext uri="{BB962C8B-B14F-4D97-AF65-F5344CB8AC3E}">
        <p14:creationId xmlns:p14="http://schemas.microsoft.com/office/powerpoint/2010/main" val="261453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837042"/>
            <a:ext cx="12076386" cy="3970318"/>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The mean habit factor for public transport usage starts at around 1.0 and exhibits a gradual but consistent upward trend reaching 1.6 unit by the end of the simulation, reflecting a strengthening habit formation among consumers as they repeatedly use public transport. The mean value social deviation starts low and increases rapidly, indicating a divergence in agents' understanding of the social implications of their transportation choices. Similarly the mean value environmental deviation starts around zero to rapidly stabilize around 13 units, indicating an important gap between agents choices and their environmental values.</a:t>
            </a:r>
          </a:p>
        </p:txBody>
      </p:sp>
    </p:spTree>
    <p:extLst>
      <p:ext uri="{BB962C8B-B14F-4D97-AF65-F5344CB8AC3E}">
        <p14:creationId xmlns:p14="http://schemas.microsoft.com/office/powerpoint/2010/main" val="338620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54D4485-E0DA-66AB-938C-54EB81EC3007}"/>
              </a:ext>
            </a:extLst>
          </p:cNvPr>
          <p:cNvSpPr>
            <a:spLocks noGrp="1"/>
          </p:cNvSpPr>
          <p:nvPr>
            <p:ph type="title"/>
          </p:nvPr>
        </p:nvSpPr>
        <p:spPr>
          <a:xfrm>
            <a:off x="2036380" y="2766218"/>
            <a:ext cx="10515600" cy="1325563"/>
          </a:xfrm>
        </p:spPr>
        <p:txBody>
          <a:bodyPr>
            <a:normAutofit/>
          </a:bodyPr>
          <a:lstStyle/>
          <a:p>
            <a:r>
              <a:rPr lang="en-FR" sz="5400" dirty="0">
                <a:latin typeface="Calibri" panose="020F0502020204030204" pitchFamily="34" charset="0"/>
                <a:cs typeface="Calibri" panose="020F0502020204030204" pitchFamily="34" charset="0"/>
              </a:rPr>
              <a:t>Faithfulness : 5, Coverage 5</a:t>
            </a:r>
          </a:p>
        </p:txBody>
      </p:sp>
    </p:spTree>
    <p:extLst>
      <p:ext uri="{BB962C8B-B14F-4D97-AF65-F5344CB8AC3E}">
        <p14:creationId xmlns:p14="http://schemas.microsoft.com/office/powerpoint/2010/main" val="18840763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931636"/>
            <a:ext cx="12076386" cy="4247317"/>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Each agent has a disposition to consider alternative transportation modes, determined by either a preference-based or an availability-based approach. 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 </a:t>
            </a:r>
            <a:r>
              <a:rPr lang="en-GB" dirty="0">
                <a:solidFill>
                  <a:schemeClr val="accent5"/>
                </a:solidFill>
                <a:latin typeface="Calibri" panose="020F0502020204030204" pitchFamily="34" charset="0"/>
                <a:cs typeface="Calibri" panose="020F0502020204030204" pitchFamily="34" charset="0"/>
              </a:rPr>
              <a:t>The final goal of this simulation is to promote the RATP.</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2700 units 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The total number of private car choices made by agents starts low and exhibits a consistent linear increase over the simulation steps until 2700 units, suggesting a stable upward trend</a:t>
            </a:r>
            <a:r>
              <a:rPr lang="en-GB" strike="sngStrike" dirty="0">
                <a:solidFill>
                  <a:schemeClr val="accent2"/>
                </a:solidFill>
                <a:latin typeface="Calibri" panose="020F0502020204030204" pitchFamily="34" charset="0"/>
                <a:cs typeface="Calibri" panose="020F0502020204030204" pitchFamily="34" charset="0"/>
              </a:rPr>
              <a:t>. The total number of public transport choices made by agents increases steadily throughout the simulation, to finally reach 27000 units, reflecting changing preferences towards public transport.</a:t>
            </a:r>
          </a:p>
        </p:txBody>
      </p:sp>
    </p:spTree>
    <p:extLst>
      <p:ext uri="{BB962C8B-B14F-4D97-AF65-F5344CB8AC3E}">
        <p14:creationId xmlns:p14="http://schemas.microsoft.com/office/powerpoint/2010/main" val="3693982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889594"/>
            <a:ext cx="12076386" cy="4247317"/>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 </a:t>
            </a:r>
            <a:r>
              <a:rPr lang="en-GB" dirty="0">
                <a:solidFill>
                  <a:schemeClr val="accent5"/>
                </a:solidFill>
                <a:latin typeface="Calibri" panose="020F0502020204030204" pitchFamily="34" charset="0"/>
                <a:cs typeface="Calibri" panose="020F0502020204030204" pitchFamily="34" charset="0"/>
              </a:rPr>
              <a:t>and especially the adoption of tramway </a:t>
            </a:r>
            <a:r>
              <a:rPr lang="en-GB" dirty="0">
                <a:latin typeface="Calibri" panose="020F0502020204030204" pitchFamily="34" charset="0"/>
                <a:cs typeface="Calibri" panose="020F0502020204030204" pitchFamily="34" charset="0"/>
              </a:rPr>
              <a:t>.</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a:t>
            </a:r>
            <a:r>
              <a:rPr lang="en-GB" strike="sngStrike" dirty="0">
                <a:solidFill>
                  <a:schemeClr val="accent2"/>
                </a:solidFill>
                <a:latin typeface="Calibri" panose="020F0502020204030204" pitchFamily="34" charset="0"/>
                <a:cs typeface="Calibri" panose="020F0502020204030204" pitchFamily="34" charset="0"/>
              </a:rPr>
              <a:t>The mean habit factor for public transport usage starts at around 1.0 and exhibits a gradual but consistent upward trend reaching 1.6 unit by the end of the simulation, reflecting a strengthening habit formation among consumers as they repeatedly use public transport. </a:t>
            </a:r>
            <a:r>
              <a:rPr lang="en-GB" dirty="0">
                <a:latin typeface="Calibri" panose="020F0502020204030204" pitchFamily="34" charset="0"/>
                <a:cs typeface="Calibri" panose="020F0502020204030204" pitchFamily="34" charset="0"/>
              </a:rPr>
              <a:t>The mean value social deviation starts low and increases rapidly, indicating a divergence in agents' understanding of the social implications of their transportation choices. Similarly the mean value environmental deviation starts around zero to rapidly stabilize around 13 units, indicating an important gap between agents choices and their environmental values.</a:t>
            </a:r>
          </a:p>
        </p:txBody>
      </p:sp>
    </p:spTree>
    <p:extLst>
      <p:ext uri="{BB962C8B-B14F-4D97-AF65-F5344CB8AC3E}">
        <p14:creationId xmlns:p14="http://schemas.microsoft.com/office/powerpoint/2010/main" val="2965155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16BED-75B0-8D88-90E7-D913E143FBCF}"/>
              </a:ext>
            </a:extLst>
          </p:cNvPr>
          <p:cNvSpPr>
            <a:spLocks noGrp="1"/>
          </p:cNvSpPr>
          <p:nvPr>
            <p:ph type="title"/>
          </p:nvPr>
        </p:nvSpPr>
        <p:spPr>
          <a:xfrm>
            <a:off x="2194034" y="2766218"/>
            <a:ext cx="10515600" cy="1325563"/>
          </a:xfrm>
        </p:spPr>
        <p:txBody>
          <a:bodyPr>
            <a:normAutofit/>
          </a:bodyPr>
          <a:lstStyle/>
          <a:p>
            <a:r>
              <a:rPr lang="en-FR" sz="5400" dirty="0">
                <a:solidFill>
                  <a:schemeClr val="accent2"/>
                </a:solidFill>
                <a:latin typeface="Calibri" panose="020F0502020204030204" pitchFamily="34" charset="0"/>
                <a:cs typeface="Calibri" panose="020F0502020204030204" pitchFamily="34" charset="0"/>
              </a:rPr>
              <a:t>Faithfulness : 3, </a:t>
            </a:r>
            <a:r>
              <a:rPr lang="en-FR" sz="5400" dirty="0">
                <a:solidFill>
                  <a:schemeClr val="accent5"/>
                </a:solidFill>
                <a:latin typeface="Calibri" panose="020F0502020204030204" pitchFamily="34" charset="0"/>
                <a:cs typeface="Calibri" panose="020F0502020204030204" pitchFamily="34" charset="0"/>
              </a:rPr>
              <a:t>Coverage : 3</a:t>
            </a:r>
            <a:endParaRPr lang="en-FR" sz="5400" dirty="0"/>
          </a:p>
        </p:txBody>
      </p:sp>
    </p:spTree>
    <p:extLst>
      <p:ext uri="{BB962C8B-B14F-4D97-AF65-F5344CB8AC3E}">
        <p14:creationId xmlns:p14="http://schemas.microsoft.com/office/powerpoint/2010/main" val="4294448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385098"/>
            <a:ext cx="12076386" cy="590931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a:t>
            </a:r>
            <a:r>
              <a:rPr lang="en-GB" strike="sngStrike" dirty="0">
                <a:solidFill>
                  <a:schemeClr val="accent2"/>
                </a:solidFill>
                <a:latin typeface="Calibri" panose="020F0502020204030204" pitchFamily="34" charset="0"/>
                <a:cs typeface="Calibri" panose="020F0502020204030204" pitchFamily="34" charset="0"/>
              </a:rPr>
              <a:t>Each agent has a disposition to consider alternative transportation modes, determined by either a preference-based or an availability-based approach. </a:t>
            </a:r>
            <a:r>
              <a:rPr lang="en-GB" dirty="0">
                <a:solidFill>
                  <a:schemeClr val="accent5"/>
                </a:solidFill>
                <a:latin typeface="Calibri" panose="020F0502020204030204" pitchFamily="34" charset="0"/>
                <a:cs typeface="Calibri" panose="020F0502020204030204" pitchFamily="34" charset="0"/>
              </a:rPr>
              <a:t> Each agent can only take the tramway or the bus as public transportation. </a:t>
            </a:r>
            <a:r>
              <a:rPr lang="en-GB" dirty="0">
                <a:latin typeface="Calibri" panose="020F0502020204030204" pitchFamily="34" charset="0"/>
                <a:cs typeface="Calibri" panose="020F0502020204030204" pitchFamily="34" charset="0"/>
              </a:rPr>
              <a:t>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a:t>
            </a:r>
            <a:r>
              <a:rPr lang="en-GB" dirty="0">
                <a:solidFill>
                  <a:schemeClr val="accent2"/>
                </a:solidFill>
                <a:latin typeface="Calibri" panose="020F0502020204030204" pitchFamily="34" charset="0"/>
                <a:cs typeface="Calibri" panose="020F0502020204030204" pitchFamily="34" charset="0"/>
              </a:rPr>
              <a:t>4000 units </a:t>
            </a:r>
            <a:r>
              <a:rPr lang="en-GB" dirty="0">
                <a:latin typeface="Calibri" panose="020F0502020204030204" pitchFamily="34" charset="0"/>
                <a:cs typeface="Calibri" panose="020F0502020204030204" pitchFamily="34" charset="0"/>
              </a:rPr>
              <a:t>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a:t>
            </a:r>
            <a:r>
              <a:rPr lang="en-GB" strike="sngStrike" dirty="0">
                <a:solidFill>
                  <a:schemeClr val="accent2"/>
                </a:solidFill>
                <a:latin typeface="Calibri" panose="020F0502020204030204" pitchFamily="34" charset="0"/>
                <a:cs typeface="Calibri" panose="020F0502020204030204" pitchFamily="34" charset="0"/>
              </a:rPr>
              <a:t>The total number of private car choices made by agents starts low and exhibits a consistent linear increase over the simulation steps until 2700 units, suggesting a stable upward trend. The total number of public transport choices made by agents increases steadily throughout the simulation, to finally reach 27000 units, reflecting changing preferences towards public transport.</a:t>
            </a:r>
          </a:p>
          <a:p>
            <a:r>
              <a:rPr lang="en-GB" dirty="0">
                <a:solidFill>
                  <a:schemeClr val="accent5"/>
                </a:solidFill>
                <a:latin typeface="Calibri" panose="020F0502020204030204" pitchFamily="34" charset="0"/>
                <a:cs typeface="Calibri" panose="020F0502020204030204" pitchFamily="34" charset="0"/>
              </a:rPr>
              <a:t>Mean cycling usage starts at around 500 units and shows a gradual increase over the first 10 time steps, stabilizing at around 1200 units. This indicates a growing acceptance and adoption of cycling as a viable mode of transport among agents. Walking usage, on the other hand, starts at 700 units and remains relatively stable throughout the simulation, suggesting that walking preferences are less influenced by the changes in the simulation environment. </a:t>
            </a:r>
            <a:endParaRPr lang="en-GB" strike="sngStrike" dirty="0">
              <a:solidFill>
                <a:schemeClr val="accent5"/>
              </a:solidFill>
              <a:latin typeface="Calibri" panose="020F0502020204030204" pitchFamily="34" charset="0"/>
              <a:cs typeface="Calibri" panose="020F0502020204030204" pitchFamily="34" charset="0"/>
            </a:endParaRPr>
          </a:p>
          <a:p>
            <a:endParaRPr lang="en-GB" dirty="0">
              <a:solidFill>
                <a:schemeClr val="accent5"/>
              </a:solidFill>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09503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239930"/>
            <a:ext cx="12076386" cy="5355312"/>
          </a:xfrm>
          <a:prstGeom prst="rect">
            <a:avLst/>
          </a:prstGeom>
          <a:noFill/>
        </p:spPr>
        <p:txBody>
          <a:bodyPr wrap="square">
            <a:spAutoFit/>
          </a:bodyPr>
          <a:lstStyle/>
          <a:p>
            <a:r>
              <a:rPr lang="en-GB" dirty="0">
                <a:solidFill>
                  <a:schemeClr val="accent5"/>
                </a:solidFill>
                <a:latin typeface="Calibri" panose="020F0502020204030204" pitchFamily="34" charset="0"/>
                <a:cs typeface="Calibri" panose="020F0502020204030204" pitchFamily="34" charset="0"/>
              </a:rPr>
              <a:t>The mean distance </a:t>
            </a:r>
            <a:r>
              <a:rPr lang="en-GB" dirty="0" err="1">
                <a:solidFill>
                  <a:schemeClr val="accent5"/>
                </a:solidFill>
                <a:latin typeface="Calibri" panose="020F0502020204030204" pitchFamily="34" charset="0"/>
                <a:cs typeface="Calibri" panose="020F0502020204030204" pitchFamily="34" charset="0"/>
              </a:rPr>
              <a:t>traveled</a:t>
            </a:r>
            <a:r>
              <a:rPr lang="en-GB" dirty="0">
                <a:solidFill>
                  <a:schemeClr val="accent5"/>
                </a:solidFill>
                <a:latin typeface="Calibri" panose="020F0502020204030204" pitchFamily="34" charset="0"/>
                <a:cs typeface="Calibri" panose="020F0502020204030204" pitchFamily="34" charset="0"/>
              </a:rPr>
              <a:t> by bicycle starts at around 300 units and steadily increases to 900 units by the final time step, indicating a rising preference for cycling. The mean distance walked by agents begins at 500 units and remains relatively constant throughout the simulation, suggesting consistent walking </a:t>
            </a:r>
            <a:r>
              <a:rPr lang="en-GB" dirty="0" err="1">
                <a:solidFill>
                  <a:schemeClr val="accent5"/>
                </a:solidFill>
                <a:latin typeface="Calibri" panose="020F0502020204030204" pitchFamily="34" charset="0"/>
                <a:cs typeface="Calibri" panose="020F0502020204030204" pitchFamily="34" charset="0"/>
              </a:rPr>
              <a:t>behavior</a:t>
            </a:r>
            <a:r>
              <a:rPr lang="en-GB" dirty="0">
                <a:solidFill>
                  <a:schemeClr val="accent5"/>
                </a:solidFill>
                <a:latin typeface="Calibri" panose="020F0502020204030204" pitchFamily="34" charset="0"/>
                <a:cs typeface="Calibri" panose="020F0502020204030204" pitchFamily="34" charset="0"/>
              </a:rPr>
              <a:t>. The total number of bicycle choices made by agents exhibits a steady rise, reaching 12,000 by the final time step, while the total number of walking choices remains stable at around 8,000 choices. </a:t>
            </a:r>
            <a:r>
              <a:rPr lang="en-GB" strike="sngStrike" dirty="0">
                <a:solidFill>
                  <a:schemeClr val="accent2"/>
                </a:solidFill>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strike="sngStrike" dirty="0" err="1">
                <a:solidFill>
                  <a:schemeClr val="accent2"/>
                </a:solidFill>
                <a:latin typeface="Calibri" panose="020F0502020204030204" pitchFamily="34" charset="0"/>
                <a:cs typeface="Calibri" panose="020F0502020204030204" pitchFamily="34" charset="0"/>
              </a:rPr>
              <a:t>traveled</a:t>
            </a:r>
            <a:r>
              <a:rPr lang="en-GB" strike="sngStrike" dirty="0">
                <a:solidFill>
                  <a:schemeClr val="accent2"/>
                </a:solidFill>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strike="sngStrike" dirty="0" err="1">
                <a:solidFill>
                  <a:schemeClr val="accent2"/>
                </a:solidFill>
                <a:latin typeface="Calibri" panose="020F0502020204030204" pitchFamily="34" charset="0"/>
                <a:cs typeface="Calibri" panose="020F0502020204030204" pitchFamily="34" charset="0"/>
              </a:rPr>
              <a:t>traveled</a:t>
            </a:r>
            <a:r>
              <a:rPr lang="en-GB" strike="sngStrike" dirty="0">
                <a:solidFill>
                  <a:schemeClr val="accent2"/>
                </a:solidFill>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a:t>
            </a:r>
            <a:endParaRPr lang="en-GB" dirty="0">
              <a:solidFill>
                <a:schemeClr val="accent5"/>
              </a:solidFill>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The mean habit factor for public transport usage starts at around 1.0 and exhibits a gradual but consistent upward trend reaching 1.6 unit by the end of the simulation, reflecting a strengthening habit formation among consumers as they repeatedly use public transport. The mean value social deviation starts </a:t>
            </a:r>
            <a:r>
              <a:rPr lang="en-GB" dirty="0">
                <a:solidFill>
                  <a:schemeClr val="accent2"/>
                </a:solidFill>
                <a:latin typeface="Calibri" panose="020F0502020204030204" pitchFamily="34" charset="0"/>
                <a:cs typeface="Calibri" panose="020F0502020204030204" pitchFamily="34" charset="0"/>
              </a:rPr>
              <a:t>high</a:t>
            </a:r>
            <a:r>
              <a:rPr lang="en-GB" dirty="0">
                <a:latin typeface="Calibri" panose="020F0502020204030204" pitchFamily="34" charset="0"/>
                <a:cs typeface="Calibri" panose="020F0502020204030204" pitchFamily="34" charset="0"/>
              </a:rPr>
              <a:t> and </a:t>
            </a:r>
            <a:r>
              <a:rPr lang="en-GB" dirty="0">
                <a:solidFill>
                  <a:schemeClr val="accent2"/>
                </a:solidFill>
                <a:latin typeface="Calibri" panose="020F0502020204030204" pitchFamily="34" charset="0"/>
                <a:cs typeface="Calibri" panose="020F0502020204030204" pitchFamily="34" charset="0"/>
              </a:rPr>
              <a:t>decreases</a:t>
            </a:r>
            <a:r>
              <a:rPr lang="en-GB" dirty="0">
                <a:latin typeface="Calibri" panose="020F0502020204030204" pitchFamily="34" charset="0"/>
                <a:cs typeface="Calibri" panose="020F0502020204030204" pitchFamily="34" charset="0"/>
              </a:rPr>
              <a:t> rapidly, indicating a divergence in agents' understanding of the social implications of their transportation choices. Similarly the mean value environmental deviation starts around zero to rapidly stabilize around 13 units, indicating an important gap between agents choices and their environmental values.</a:t>
            </a:r>
          </a:p>
        </p:txBody>
      </p:sp>
    </p:spTree>
    <p:extLst>
      <p:ext uri="{BB962C8B-B14F-4D97-AF65-F5344CB8AC3E}">
        <p14:creationId xmlns:p14="http://schemas.microsoft.com/office/powerpoint/2010/main" val="2492330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47CF-55CE-0872-9142-4DBA2E6A79C8}"/>
              </a:ext>
            </a:extLst>
          </p:cNvPr>
          <p:cNvSpPr>
            <a:spLocks noGrp="1"/>
          </p:cNvSpPr>
          <p:nvPr>
            <p:ph type="title"/>
          </p:nvPr>
        </p:nvSpPr>
        <p:spPr>
          <a:xfrm>
            <a:off x="2204545" y="2687912"/>
            <a:ext cx="10515600" cy="1325563"/>
          </a:xfrm>
        </p:spPr>
        <p:txBody>
          <a:bodyPr>
            <a:normAutofit/>
          </a:bodyPr>
          <a:lstStyle/>
          <a:p>
            <a:r>
              <a:rPr lang="en-FR" sz="5400" dirty="0">
                <a:solidFill>
                  <a:schemeClr val="accent2"/>
                </a:solidFill>
                <a:latin typeface="Calibri" panose="020F0502020204030204" pitchFamily="34" charset="0"/>
                <a:cs typeface="Calibri" panose="020F0502020204030204" pitchFamily="34" charset="0"/>
              </a:rPr>
              <a:t>Faithfulness : 1</a:t>
            </a:r>
            <a:r>
              <a:rPr lang="en-FR" sz="5400" dirty="0">
                <a:solidFill>
                  <a:schemeClr val="accent5"/>
                </a:solidFill>
                <a:latin typeface="Calibri" panose="020F0502020204030204" pitchFamily="34" charset="0"/>
                <a:cs typeface="Calibri" panose="020F0502020204030204" pitchFamily="34" charset="0"/>
              </a:rPr>
              <a:t>,</a:t>
            </a:r>
            <a:r>
              <a:rPr lang="en-FR" sz="5400" dirty="0">
                <a:solidFill>
                  <a:srgbClr val="FF0000"/>
                </a:solidFill>
                <a:latin typeface="Calibri" panose="020F0502020204030204" pitchFamily="34" charset="0"/>
                <a:cs typeface="Calibri" panose="020F0502020204030204" pitchFamily="34" charset="0"/>
              </a:rPr>
              <a:t> </a:t>
            </a:r>
            <a:r>
              <a:rPr lang="en-FR" sz="5400" dirty="0">
                <a:solidFill>
                  <a:schemeClr val="accent5"/>
                </a:solidFill>
                <a:latin typeface="Calibri" panose="020F0502020204030204" pitchFamily="34" charset="0"/>
                <a:cs typeface="Calibri" panose="020F0502020204030204" pitchFamily="34" charset="0"/>
              </a:rPr>
              <a:t>Coverage : 1</a:t>
            </a:r>
            <a:endParaRPr lang="en-FR" sz="5400" dirty="0"/>
          </a:p>
        </p:txBody>
      </p:sp>
    </p:spTree>
    <p:extLst>
      <p:ext uri="{BB962C8B-B14F-4D97-AF65-F5344CB8AC3E}">
        <p14:creationId xmlns:p14="http://schemas.microsoft.com/office/powerpoint/2010/main" val="924163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026" name="Picture 2">
            <a:extLst>
              <a:ext uri="{FF2B5EF4-FFF2-40B4-BE49-F238E27FC236}">
                <a16:creationId xmlns:a16="http://schemas.microsoft.com/office/drawing/2014/main" id="{E25DEB2A-2C0D-502F-8EAD-2083CAC49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655" y="885296"/>
            <a:ext cx="8182690" cy="56100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62852F8-02CF-79F1-D67F-F1F4F6767AA2}"/>
                  </a:ext>
                </a:extLst>
              </p14:cNvPr>
              <p14:cNvContentPartPr/>
              <p14:nvPr/>
            </p14:nvContentPartPr>
            <p14:xfrm>
              <a:off x="1724967" y="841150"/>
              <a:ext cx="2335320" cy="1303920"/>
            </p14:xfrm>
          </p:contentPart>
        </mc:Choice>
        <mc:Fallback xmlns="">
          <p:pic>
            <p:nvPicPr>
              <p:cNvPr id="3" name="Ink 2">
                <a:extLst>
                  <a:ext uri="{FF2B5EF4-FFF2-40B4-BE49-F238E27FC236}">
                    <a16:creationId xmlns:a16="http://schemas.microsoft.com/office/drawing/2014/main" id="{062852F8-02CF-79F1-D67F-F1F4F6767AA2}"/>
                  </a:ext>
                </a:extLst>
              </p:cNvPr>
              <p:cNvPicPr/>
              <p:nvPr/>
            </p:nvPicPr>
            <p:blipFill>
              <a:blip r:embed="rId4"/>
              <a:stretch>
                <a:fillRect/>
              </a:stretch>
            </p:blipFill>
            <p:spPr>
              <a:xfrm>
                <a:off x="1715967" y="832510"/>
                <a:ext cx="2352960" cy="1321560"/>
              </a:xfrm>
              <a:prstGeom prst="rect">
                <a:avLst/>
              </a:prstGeom>
            </p:spPr>
          </p:pic>
        </mc:Fallback>
      </mc:AlternateContent>
    </p:spTree>
    <p:extLst>
      <p:ext uri="{BB962C8B-B14F-4D97-AF65-F5344CB8AC3E}">
        <p14:creationId xmlns:p14="http://schemas.microsoft.com/office/powerpoint/2010/main" val="248235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2290" name="Picture 2">
            <a:extLst>
              <a:ext uri="{FF2B5EF4-FFF2-40B4-BE49-F238E27FC236}">
                <a16:creationId xmlns:a16="http://schemas.microsoft.com/office/drawing/2014/main" id="{C9EF1E26-CAAA-254C-1BEB-BB2A7F0FD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063" y="911964"/>
            <a:ext cx="8574954" cy="5946036"/>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81FCA264-6365-4CD7-22CC-344169612639}"/>
              </a:ext>
            </a:extLst>
          </p:cNvPr>
          <p:cNvGrpSpPr/>
          <p:nvPr/>
        </p:nvGrpSpPr>
        <p:grpSpPr>
          <a:xfrm>
            <a:off x="3245967" y="3232630"/>
            <a:ext cx="5844960" cy="3033000"/>
            <a:chOff x="3245967" y="3232630"/>
            <a:chExt cx="5844960" cy="303300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69499F64-59C8-F3E0-EEB2-BE098FC631B7}"/>
                    </a:ext>
                  </a:extLst>
                </p14:cNvPr>
                <p14:cNvContentPartPr/>
                <p14:nvPr/>
              </p14:nvContentPartPr>
              <p14:xfrm>
                <a:off x="3245967" y="3419110"/>
                <a:ext cx="5374080" cy="2846520"/>
              </p14:xfrm>
            </p:contentPart>
          </mc:Choice>
          <mc:Fallback xmlns="">
            <p:pic>
              <p:nvPicPr>
                <p:cNvPr id="4" name="Ink 3">
                  <a:extLst>
                    <a:ext uri="{FF2B5EF4-FFF2-40B4-BE49-F238E27FC236}">
                      <a16:creationId xmlns:a16="http://schemas.microsoft.com/office/drawing/2014/main" id="{69499F64-59C8-F3E0-EEB2-BE098FC631B7}"/>
                    </a:ext>
                  </a:extLst>
                </p:cNvPr>
                <p:cNvPicPr/>
                <p:nvPr/>
              </p:nvPicPr>
              <p:blipFill>
                <a:blip r:embed="rId4"/>
                <a:stretch>
                  <a:fillRect/>
                </a:stretch>
              </p:blipFill>
              <p:spPr>
                <a:xfrm>
                  <a:off x="3236967" y="3410110"/>
                  <a:ext cx="5391720" cy="2864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ED98F14-B8CB-932B-748A-5845EBAE562E}"/>
                    </a:ext>
                  </a:extLst>
                </p14:cNvPr>
                <p14:cNvContentPartPr/>
                <p14:nvPr/>
              </p14:nvContentPartPr>
              <p14:xfrm>
                <a:off x="8684487" y="3232630"/>
                <a:ext cx="406440" cy="392760"/>
              </p14:xfrm>
            </p:contentPart>
          </mc:Choice>
          <mc:Fallback xmlns="">
            <p:pic>
              <p:nvPicPr>
                <p:cNvPr id="5" name="Ink 4">
                  <a:extLst>
                    <a:ext uri="{FF2B5EF4-FFF2-40B4-BE49-F238E27FC236}">
                      <a16:creationId xmlns:a16="http://schemas.microsoft.com/office/drawing/2014/main" id="{BED98F14-B8CB-932B-748A-5845EBAE562E}"/>
                    </a:ext>
                  </a:extLst>
                </p:cNvPr>
                <p:cNvPicPr/>
                <p:nvPr/>
              </p:nvPicPr>
              <p:blipFill>
                <a:blip r:embed="rId6"/>
                <a:stretch>
                  <a:fillRect/>
                </a:stretch>
              </p:blipFill>
              <p:spPr>
                <a:xfrm>
                  <a:off x="8675487" y="3223630"/>
                  <a:ext cx="424080" cy="410400"/>
                </a:xfrm>
                <a:prstGeom prst="rect">
                  <a:avLst/>
                </a:prstGeom>
              </p:spPr>
            </p:pic>
          </mc:Fallback>
        </mc:AlternateContent>
      </p:grpSp>
    </p:spTree>
    <p:extLst>
      <p:ext uri="{BB962C8B-B14F-4D97-AF65-F5344CB8AC3E}">
        <p14:creationId xmlns:p14="http://schemas.microsoft.com/office/powerpoint/2010/main" val="3199112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343057"/>
            <a:ext cx="12076386" cy="5355312"/>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Each agent has a disposition to consider alternative transportation modes, determined by either a preference-based or an availability-based approach. 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 </a:t>
            </a:r>
            <a:r>
              <a:rPr lang="en-GB" dirty="0">
                <a:solidFill>
                  <a:schemeClr val="accent5"/>
                </a:solidFill>
                <a:latin typeface="Calibri" panose="020F0502020204030204" pitchFamily="34" charset="0"/>
                <a:cs typeface="Calibri" panose="020F0502020204030204" pitchFamily="34" charset="0"/>
              </a:rPr>
              <a:t>This model was requested by the city of Paris in a way to reduce the number of cars.</a:t>
            </a:r>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2700 units 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The total number of private car choices made by agents starts low and exhibits a consistent linear increase over the simulation steps until 2700 units, suggesting a stable upward trend. The total number of public transport choices made by agents increases steadily throughout the simulation, to finally reach 27000 units, reflecting changing preferences towards public transport.</a:t>
            </a:r>
          </a:p>
          <a:p>
            <a:endParaRPr lang="en-GB" dirty="0">
              <a:latin typeface="Calibri" panose="020F0502020204030204" pitchFamily="34" charset="0"/>
              <a:cs typeface="Calibri" panose="020F0502020204030204" pitchFamily="34" charset="0"/>
            </a:endParaRPr>
          </a:p>
          <a:p>
            <a:r>
              <a:rPr lang="en-GB" dirty="0">
                <a:solidFill>
                  <a:schemeClr val="accent5"/>
                </a:solidFill>
                <a:latin typeface="Calibri" panose="020F0502020204030204" pitchFamily="34" charset="0"/>
                <a:cs typeface="Calibri" panose="020F0502020204030204" pitchFamily="34" charset="0"/>
              </a:rPr>
              <a:t>The mean distance </a:t>
            </a:r>
            <a:r>
              <a:rPr lang="en-GB" dirty="0" err="1">
                <a:solidFill>
                  <a:schemeClr val="accent5"/>
                </a:solidFill>
                <a:latin typeface="Calibri" panose="020F0502020204030204" pitchFamily="34" charset="0"/>
                <a:cs typeface="Calibri" panose="020F0502020204030204" pitchFamily="34" charset="0"/>
              </a:rPr>
              <a:t>traveled</a:t>
            </a:r>
            <a:r>
              <a:rPr lang="en-GB" dirty="0">
                <a:solidFill>
                  <a:schemeClr val="accent5"/>
                </a:solidFill>
                <a:latin typeface="Calibri" panose="020F0502020204030204" pitchFamily="34" charset="0"/>
                <a:cs typeface="Calibri" panose="020F0502020204030204" pitchFamily="34" charset="0"/>
              </a:rPr>
              <a:t> by bicycle starts at around 300 units and steadily increases to 900 units by the final time step, indicating a rising preference for cycling. The mean distance walked by agents begins at 500 units and remains relatively constant throughout the simulation, suggesting consistent walking </a:t>
            </a:r>
            <a:r>
              <a:rPr lang="en-GB" dirty="0" err="1">
                <a:solidFill>
                  <a:schemeClr val="accent5"/>
                </a:solidFill>
                <a:latin typeface="Calibri" panose="020F0502020204030204" pitchFamily="34" charset="0"/>
                <a:cs typeface="Calibri" panose="020F0502020204030204" pitchFamily="34" charset="0"/>
              </a:rPr>
              <a:t>behavior</a:t>
            </a:r>
            <a:r>
              <a:rPr lang="en-GB" dirty="0">
                <a:solidFill>
                  <a:schemeClr val="accent5"/>
                </a:solidFill>
                <a:latin typeface="Calibri" panose="020F0502020204030204" pitchFamily="34" charset="0"/>
                <a:cs typeface="Calibri" panose="020F0502020204030204" pitchFamily="34" charset="0"/>
              </a:rPr>
              <a:t>. </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25098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793928"/>
            <a:ext cx="12076386" cy="4801314"/>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 </a:t>
            </a:r>
            <a:r>
              <a:rPr lang="en-GB" dirty="0">
                <a:solidFill>
                  <a:schemeClr val="accent5"/>
                </a:solidFill>
                <a:latin typeface="Calibri" panose="020F0502020204030204" pitchFamily="34" charset="0"/>
                <a:cs typeface="Calibri" panose="020F0502020204030204" pitchFamily="34" charset="0"/>
              </a:rPr>
              <a:t>Mean cycling usage starts at around 500 units and shows a gradual increase over the first 10 time steps, stabilizing at around 1200 units. This indicates a growing acceptance and adoption of cycling as a viable mode of transport among agents. </a:t>
            </a:r>
          </a:p>
          <a:p>
            <a:endParaRPr lang="en-GB" dirty="0">
              <a:solidFill>
                <a:schemeClr val="accent5"/>
              </a:solidFill>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The mean habit factor for public transport usage starts at around 1.0 and exhibits a gradual but consistent upward trend reaching 1.6 unit by the end of the simulation, reflecting a strengthening habit formation among consumers as they repeatedly use public transport. The mean value social deviation starts low and increases rapidly, indicating a divergence in agents' understanding of the social implications of their transportation choices. Similarly the mean value environmental deviation starts around zero to rapidly stabilize around 13 units </a:t>
            </a:r>
            <a:r>
              <a:rPr lang="en-GB" dirty="0">
                <a:solidFill>
                  <a:schemeClr val="accent5"/>
                </a:solidFill>
                <a:latin typeface="Calibri" panose="020F0502020204030204" pitchFamily="34" charset="0"/>
                <a:cs typeface="Calibri" panose="020F0502020204030204" pitchFamily="34" charset="0"/>
              </a:rPr>
              <a:t>but suddenly drops to zero at the very end of the simulation indicating awareness among the population for environmental concerns.</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48070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43C57-F81C-7509-4BF8-6550BDD43243}"/>
              </a:ext>
            </a:extLst>
          </p:cNvPr>
          <p:cNvSpPr>
            <a:spLocks noGrp="1"/>
          </p:cNvSpPr>
          <p:nvPr>
            <p:ph type="title"/>
          </p:nvPr>
        </p:nvSpPr>
        <p:spPr>
          <a:xfrm>
            <a:off x="2435773" y="2766218"/>
            <a:ext cx="10515600" cy="1325563"/>
          </a:xfrm>
        </p:spPr>
        <p:txBody>
          <a:bodyPr>
            <a:normAutofit/>
          </a:bodyPr>
          <a:lstStyle/>
          <a:p>
            <a:r>
              <a:rPr lang="en-FR" sz="5400" dirty="0">
                <a:latin typeface="Calibri" panose="020F0502020204030204" pitchFamily="34" charset="0"/>
                <a:cs typeface="Calibri" panose="020F0502020204030204" pitchFamily="34" charset="0"/>
              </a:rPr>
              <a:t>Faithfulness : 5, </a:t>
            </a:r>
            <a:r>
              <a:rPr lang="en-FR" sz="5400" dirty="0">
                <a:solidFill>
                  <a:schemeClr val="accent5"/>
                </a:solidFill>
                <a:latin typeface="Calibri" panose="020F0502020204030204" pitchFamily="34" charset="0"/>
                <a:cs typeface="Calibri" panose="020F0502020204030204" pitchFamily="34" charset="0"/>
              </a:rPr>
              <a:t>Coverage 2</a:t>
            </a:r>
            <a:endParaRPr lang="en-FR" sz="5400" dirty="0"/>
          </a:p>
        </p:txBody>
      </p:sp>
    </p:spTree>
    <p:extLst>
      <p:ext uri="{BB962C8B-B14F-4D97-AF65-F5344CB8AC3E}">
        <p14:creationId xmlns:p14="http://schemas.microsoft.com/office/powerpoint/2010/main" val="1733331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3314" name="Picture 2">
            <a:extLst>
              <a:ext uri="{FF2B5EF4-FFF2-40B4-BE49-F238E27FC236}">
                <a16:creationId xmlns:a16="http://schemas.microsoft.com/office/drawing/2014/main" id="{F76BC799-EB91-841C-8D38-934C7E28C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798293"/>
            <a:ext cx="8226570" cy="57228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193239A-79DC-A12F-C99F-FAA0179EBB64}"/>
                  </a:ext>
                </a:extLst>
              </p14:cNvPr>
              <p14:cNvContentPartPr/>
              <p14:nvPr/>
            </p14:nvContentPartPr>
            <p14:xfrm>
              <a:off x="9109287" y="932950"/>
              <a:ext cx="1410480" cy="1407960"/>
            </p14:xfrm>
          </p:contentPart>
        </mc:Choice>
        <mc:Fallback xmlns="">
          <p:pic>
            <p:nvPicPr>
              <p:cNvPr id="3" name="Ink 2">
                <a:extLst>
                  <a:ext uri="{FF2B5EF4-FFF2-40B4-BE49-F238E27FC236}">
                    <a16:creationId xmlns:a16="http://schemas.microsoft.com/office/drawing/2014/main" id="{F193239A-79DC-A12F-C99F-FAA0179EBB64}"/>
                  </a:ext>
                </a:extLst>
              </p:cNvPr>
              <p:cNvPicPr/>
              <p:nvPr/>
            </p:nvPicPr>
            <p:blipFill>
              <a:blip r:embed="rId4"/>
              <a:stretch>
                <a:fillRect/>
              </a:stretch>
            </p:blipFill>
            <p:spPr>
              <a:xfrm>
                <a:off x="9100647" y="924310"/>
                <a:ext cx="1428120" cy="1425600"/>
              </a:xfrm>
              <a:prstGeom prst="rect">
                <a:avLst/>
              </a:prstGeom>
            </p:spPr>
          </p:pic>
        </mc:Fallback>
      </mc:AlternateContent>
    </p:spTree>
    <p:extLst>
      <p:ext uri="{BB962C8B-B14F-4D97-AF65-F5344CB8AC3E}">
        <p14:creationId xmlns:p14="http://schemas.microsoft.com/office/powerpoint/2010/main" val="545258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1158</TotalTime>
  <Words>3888</Words>
  <Application>Microsoft Macintosh PowerPoint</Application>
  <PresentationFormat>Widescreen</PresentationFormat>
  <Paragraphs>192</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Aptos Display</vt:lpstr>
      <vt:lpstr>Arial</vt:lpstr>
      <vt:lpstr>Calibri</vt:lpstr>
      <vt:lpstr>Office Theme</vt:lpstr>
      <vt:lpstr>Goal of the presentation</vt:lpstr>
      <vt:lpstr>Context Prompt Architecture</vt:lpstr>
      <vt:lpstr>Context Prompt</vt:lpstr>
      <vt:lpstr>Context Prompt</vt:lpstr>
      <vt:lpstr>Context Prompt</vt:lpstr>
      <vt:lpstr>Trend Analysis Prompt Architecture</vt:lpstr>
      <vt:lpstr>Trend Analysis Prompt</vt:lpstr>
      <vt:lpstr>Plots</vt:lpstr>
      <vt:lpstr>Plots</vt:lpstr>
      <vt:lpstr>Plots</vt:lpstr>
      <vt:lpstr>PowerPoint Presentation</vt:lpstr>
      <vt:lpstr>PowerPoint Presentation</vt:lpstr>
      <vt:lpstr>PowerPoint Presentation</vt:lpstr>
      <vt:lpstr>Plots</vt:lpstr>
      <vt:lpstr>Plots</vt:lpstr>
      <vt:lpstr>Plots</vt:lpstr>
      <vt:lpstr>PowerPoint Presentation</vt:lpstr>
      <vt:lpstr>PowerPoint Presentation</vt:lpstr>
      <vt:lpstr>PowerPoint Presentation</vt:lpstr>
      <vt:lpstr>Plots</vt:lpstr>
      <vt:lpstr>Plots</vt:lpstr>
      <vt:lpstr>Plots</vt:lpstr>
      <vt:lpstr>PowerPoint Presentation</vt:lpstr>
      <vt:lpstr>PowerPoint Presentation</vt:lpstr>
      <vt:lpstr>PowerPoint Presentation</vt:lpstr>
      <vt:lpstr>Plots</vt:lpstr>
      <vt:lpstr>Plots</vt:lpstr>
      <vt:lpstr>Plots</vt:lpstr>
      <vt:lpstr>PowerPoint Presentation</vt:lpstr>
      <vt:lpstr>PowerPoint Presentation</vt:lpstr>
      <vt:lpstr>Response Architecture</vt:lpstr>
      <vt:lpstr>Faithfulness</vt:lpstr>
      <vt:lpstr>Coverage</vt:lpstr>
      <vt:lpstr>PowerPoint Presentation</vt:lpstr>
      <vt:lpstr>PowerPoint Presentation</vt:lpstr>
      <vt:lpstr>Faithfulness : 5, Coverage 5</vt:lpstr>
      <vt:lpstr>PowerPoint Presentation</vt:lpstr>
      <vt:lpstr>PowerPoint Presentation</vt:lpstr>
      <vt:lpstr>Faithfulness : 3, Coverage : 3</vt:lpstr>
      <vt:lpstr>PowerPoint Presentation</vt:lpstr>
      <vt:lpstr>PowerPoint Presentation</vt:lpstr>
      <vt:lpstr>Faithfulness : 1, Coverage : 1</vt:lpstr>
      <vt:lpstr>Plots</vt:lpstr>
      <vt:lpstr>Plots</vt:lpstr>
      <vt:lpstr>PowerPoint Presentation</vt:lpstr>
      <vt:lpstr>PowerPoint Presentation</vt:lpstr>
      <vt:lpstr>Faithfulness : 5, Coverage 2</vt:lpstr>
      <vt:lpstr>Plots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Noe FLANDRE</dc:creator>
  <cp:lastModifiedBy>Noe FLANDRE</cp:lastModifiedBy>
  <cp:revision>6</cp:revision>
  <dcterms:created xsi:type="dcterms:W3CDTF">2024-06-23T13:55:51Z</dcterms:created>
  <dcterms:modified xsi:type="dcterms:W3CDTF">2024-06-26T16:23:58Z</dcterms:modified>
</cp:coreProperties>
</file>